
<file path=[Content_Types].xml><?xml version="1.0" encoding="utf-8"?>
<Types xmlns="http://schemas.openxmlformats.org/package/2006/content-types">
  <Default Extension="emf" ContentType="image/x-emf"/>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 id="2147483660" r:id="rId2"/>
  </p:sldMasterIdLst>
  <p:notesMasterIdLst>
    <p:notesMasterId r:id="rId67"/>
  </p:notesMasterIdLst>
  <p:sldIdLst>
    <p:sldId id="256" r:id="rId3"/>
    <p:sldId id="257" r:id="rId4"/>
    <p:sldId id="263" r:id="rId5"/>
    <p:sldId id="258" r:id="rId6"/>
    <p:sldId id="262" r:id="rId7"/>
    <p:sldId id="264" r:id="rId8"/>
    <p:sldId id="265" r:id="rId9"/>
    <p:sldId id="261" r:id="rId10"/>
    <p:sldId id="266" r:id="rId11"/>
    <p:sldId id="267" r:id="rId12"/>
    <p:sldId id="268" r:id="rId13"/>
    <p:sldId id="270" r:id="rId14"/>
    <p:sldId id="271" r:id="rId15"/>
    <p:sldId id="269" r:id="rId16"/>
    <p:sldId id="273" r:id="rId17"/>
    <p:sldId id="274" r:id="rId18"/>
    <p:sldId id="277" r:id="rId19"/>
    <p:sldId id="278" r:id="rId20"/>
    <p:sldId id="275" r:id="rId21"/>
    <p:sldId id="276" r:id="rId22"/>
    <p:sldId id="279" r:id="rId23"/>
    <p:sldId id="280" r:id="rId24"/>
    <p:sldId id="281" r:id="rId25"/>
    <p:sldId id="282" r:id="rId26"/>
    <p:sldId id="283" r:id="rId27"/>
    <p:sldId id="284" r:id="rId28"/>
    <p:sldId id="285" r:id="rId29"/>
    <p:sldId id="286" r:id="rId30"/>
    <p:sldId id="287" r:id="rId31"/>
    <p:sldId id="288" r:id="rId32"/>
    <p:sldId id="289" r:id="rId33"/>
    <p:sldId id="291" r:id="rId34"/>
    <p:sldId id="290" r:id="rId35"/>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11" r:id="rId55"/>
    <p:sldId id="323" r:id="rId56"/>
    <p:sldId id="313" r:id="rId57"/>
    <p:sldId id="314" r:id="rId58"/>
    <p:sldId id="315" r:id="rId59"/>
    <p:sldId id="316" r:id="rId60"/>
    <p:sldId id="317" r:id="rId61"/>
    <p:sldId id="318" r:id="rId62"/>
    <p:sldId id="319" r:id="rId63"/>
    <p:sldId id="320" r:id="rId64"/>
    <p:sldId id="321" r:id="rId65"/>
    <p:sldId id="322" r:id="rId66"/>
  </p:sldIdLst>
  <p:sldSz cx="12192000" cy="6858000"/>
  <p:notesSz cx="6858000" cy="9144000"/>
  <p:embeddedFontLst>
    <p:embeddedFont>
      <p:font typeface="Bookman Old Style" panose="02050604050505020204" pitchFamily="18" charset="0"/>
      <p:regular r:id="rId68"/>
      <p:bold r:id="rId69"/>
      <p:italic r:id="rId70"/>
      <p:boldItalic r:id="rId71"/>
    </p:embeddedFont>
    <p:embeddedFont>
      <p:font typeface="Playfair Display" panose="00000500000000000000" pitchFamily="2" charset="0"/>
      <p:regular r:id="rId72"/>
      <p:bold r:id="rId73"/>
      <p:italic r:id="rId74"/>
      <p:boldItalic r:id="rId7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196" autoAdjust="0"/>
  </p:normalViewPr>
  <p:slideViewPr>
    <p:cSldViewPr snapToGrid="0">
      <p:cViewPr varScale="1">
        <p:scale>
          <a:sx n="78" d="100"/>
          <a:sy n="78" d="100"/>
        </p:scale>
        <p:origin x="77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font" Target="fonts/font1.fntdata"/><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font" Target="fonts/font7.fntdata"/><Relationship Id="rId79"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font" Target="fonts/font2.fntdata"/><Relationship Id="rId77"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font" Target="fonts/font5.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font" Target="fonts/font3.fntdata"/><Relationship Id="rId75"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font" Target="fonts/font6.fntdata"/><Relationship Id="rId78"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font" Target="fonts/font4.fntdata"/><Relationship Id="rId2" Type="http://schemas.openxmlformats.org/officeDocument/2006/relationships/slideMaster" Target="slideMasters/slideMaster2.xml"/><Relationship Id="rId29"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2" name="Google Shape;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7B0FB2B-B5BE-BA01-00D1-A3CEF43DF9F2}"/>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B74874B1-7FE6-D6CF-1E98-CC1460DB0A5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4A359BBD-D0F2-3DBC-0A53-FD3ED45722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26323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1E6F8028-B8C9-FF11-287C-A3669B885370}"/>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74216578-BF14-5529-FD33-0DA03F6C889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AD8E9EA3-A2FC-C097-9428-291D104AE1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8391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C5C8144-FD58-DFB7-C370-16E1E2A195CD}"/>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53241219-77EA-D180-1C81-6CC558A40ED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0C2AE80F-DE71-052F-5397-5882FD00F35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172646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78BEEE5-488A-7C43-EF6C-AC1D81C5A83E}"/>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7F76D310-44D9-794A-7D19-26983C4A121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9C1E354F-B3BA-ED57-5D34-6203E20D824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1068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942E40A-F6E7-07C4-8A4A-0A2E12A18DBB}"/>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DEF4F34E-FBA4-F6E1-EFB2-8F0A6EF1BDA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B6019E0C-70ED-0D78-B7F5-DF935DBF5B9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9409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F4264DBC-D653-DF53-9ACA-42CF92341EDB}"/>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996EC83E-B5DE-6F21-7FC8-BE8845D9E59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66C9B407-E64B-AF26-5407-50FCBA9A9A3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64480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360135CA-5C87-43FF-98C2-4ED3BA9B59AF}"/>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2C8A85BF-5752-94B5-0490-E5FF9AD08CF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EC687C5E-07FA-7420-1162-7E6EBD370D7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549010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7A633BD1-FD59-235C-1E8A-D38BABC3F56F}"/>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392D89E4-4AE6-9DE4-E959-7CACA52F439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2" name="Google Shape;92;p2:notes">
            <a:extLst>
              <a:ext uri="{FF2B5EF4-FFF2-40B4-BE49-F238E27FC236}">
                <a16:creationId xmlns:a16="http://schemas.microsoft.com/office/drawing/2014/main" id="{7265CC7C-6AF6-0B7A-015E-E803010B41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272867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B02B4C13-9C1E-D87C-FB17-5F5B4C234523}"/>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2A7B7B8F-3114-DC2E-5959-BDD36EDBEAA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the line differentiating soft and near real-time becomes blurry, at times disappears, is very subjective, and may often depend on the consumer of the data.</a:t>
            </a:r>
            <a:endParaRPr dirty="0"/>
          </a:p>
        </p:txBody>
      </p:sp>
      <p:sp>
        <p:nvSpPr>
          <p:cNvPr id="92" name="Google Shape;92;p2:notes">
            <a:extLst>
              <a:ext uri="{FF2B5EF4-FFF2-40B4-BE49-F238E27FC236}">
                <a16:creationId xmlns:a16="http://schemas.microsoft.com/office/drawing/2014/main" id="{DCCD564F-A3A2-D916-51C5-ED35BEBD4E5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55888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CE9668D4-FAF9-69A5-AA86-6E41FBA02511}"/>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D2622F4A-CAFE-6CE6-C1B9-C3440915783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the line differentiating soft and near real-time becomes blurry, at times disappears, is very subjective, and may often depend on the consumer of the data.</a:t>
            </a:r>
            <a:endParaRPr dirty="0"/>
          </a:p>
        </p:txBody>
      </p:sp>
      <p:sp>
        <p:nvSpPr>
          <p:cNvPr id="92" name="Google Shape;92;p2:notes">
            <a:extLst>
              <a:ext uri="{FF2B5EF4-FFF2-40B4-BE49-F238E27FC236}">
                <a16:creationId xmlns:a16="http://schemas.microsoft.com/office/drawing/2014/main" id="{62642E23-9DE9-B781-F7D8-588450934F7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870744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A0DFA357-F7DA-405C-7CB1-2DD7E927AD1B}"/>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077B6112-4A48-D8D5-50F3-68F813AFE22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the line differentiating soft and near real-time becomes blurry, at times disappears, is very subjective, and may often depend on the consumer of the data.</a:t>
            </a:r>
            <a:endParaRPr dirty="0"/>
          </a:p>
        </p:txBody>
      </p:sp>
      <p:sp>
        <p:nvSpPr>
          <p:cNvPr id="92" name="Google Shape;92;p2:notes">
            <a:extLst>
              <a:ext uri="{FF2B5EF4-FFF2-40B4-BE49-F238E27FC236}">
                <a16:creationId xmlns:a16="http://schemas.microsoft.com/office/drawing/2014/main" id="{C3E79EA1-9D0A-EBAC-77C7-827ADD42523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796039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71A705CB-30FE-3220-1EEB-4F22CDB27996}"/>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C5EDA9C7-DEF1-6A72-B72A-D52B4DF5EE2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28487B2E-0836-AD62-71A9-E78F8B79862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604054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C0192D35-8C64-11BC-F4FD-5E5BFCF75C00}"/>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EDE8786A-CA3A-0464-CD28-5501B1AABCF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4F503C0B-5671-30DA-9161-FE8665F1386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55379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430916C1-7850-2217-5566-3EFFC44185DA}"/>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341FF5AA-C26D-532F-B15A-DC16BFA8327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3F3846C3-FECC-C771-FADC-991AE518E4A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761485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1FA2A81D-F28D-6EBE-D316-D071B48919B1}"/>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9E5F779D-2B87-635F-0D48-C75E448862A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4EBFF779-F613-716F-DE6B-61CC878E46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55766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525CCAB0-7D93-A9F3-C4B9-D074CDF08A08}"/>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C7CFE666-1CAA-66AD-4F8F-736D7430990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4CAFF273-1B57-402B-D552-0BCE9AF004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82201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F1ED99CF-863D-C8C7-DC7D-C3676194BDAB}"/>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2B85C5E4-68E9-D74D-DC69-C97E3D99FB2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9913CEFB-3735-419F-781B-8C1D1780118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13294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3595400-53D2-ACAB-148D-37877CA9D72B}"/>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00169222-05EB-D77A-5D47-DC8B1B37FB7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CED67886-BDE2-E9CA-9438-4E70D47A103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49691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F9B5B07A-C243-032E-B032-89F89AF17EB3}"/>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2CF669B9-F140-6B60-B121-9877D33D6B3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5BF1DB9C-4CDF-C39D-95FE-EEB5B8235FA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76631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1EF26777-1116-7307-5147-F4FA692BFBBB}"/>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0E781C2B-C72A-EB21-75DE-39B8D9E38F0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AEF8ACF7-96D3-0CC8-279C-DCFD03A5B9E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14079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BA898CC0-5AFC-DF8F-B331-A879B9F33BB1}"/>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8180247C-5C6F-2DAE-E178-5B620E8A23C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A50262E3-F2D2-00BF-4B83-90610B6BCF8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23006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2632D436-AD16-4435-6E23-DE6DE78793D2}"/>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8F3DB423-9946-E2ED-860D-0CEA2CA55EB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8EB39EE7-7CB2-BEB0-B424-68665FB5B63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5611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017A2BA3-EFA6-378A-8E8C-C95DEA82E8B2}"/>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6A6A9EA4-4B48-67E5-7481-FEC7DC86511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BAE8657B-7B96-EC1D-18D4-A287A1EFC38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884978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2F4AF8F6-759A-8ED7-BAB6-FB70A936D1DE}"/>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692A15B1-2862-FB0B-4032-1E22EBD72BB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8F0CC1A5-8DB3-B050-A515-88D4DDCCDE3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583393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AAE2C398-3659-A46C-F93D-4D878C409469}"/>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2B36D5B9-EABD-5279-74C0-1218FE01AC0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10A3A76B-F37E-FCF3-BB46-19609DDD70C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32379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2B69EC4E-2642-41B0-9135-E641388B6A11}"/>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2D468657-6225-61BB-6A6A-0FB1D78C949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8492BFF9-E225-1BA9-E60D-3DA7B38B29C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07492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3AF994C3-056E-C5B8-E942-A7CB3890CA26}"/>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A2C4C66A-0A45-D84D-CA99-7A596162401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B6E31CBE-13D1-21D1-0362-D1504529215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975284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570067A2-BAB8-5595-E1BF-6A0F1D4CD729}"/>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BC5F8AB5-E25D-1648-56C4-E2A565E2D2F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11052CCF-B36C-D329-258D-2ACA810C4D2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76642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3B3D960A-C0A9-8246-AD50-4E9B1594B724}"/>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5261CB7E-A966-CB4D-85EF-D026F724B86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8C83F21A-C279-B3CF-6032-BF10998540C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961419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BA781C92-AD81-77A5-03F2-C71400D065A7}"/>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F3533E00-E63F-AD71-2A60-46C2F34C587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E8A6A69D-F499-B2AA-A826-3949EC2C55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29957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775A0034-ACAB-48AF-5A71-DB10695C4F4B}"/>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6A78DFD4-E3C3-D1C4-06DA-7C833A4D3F32}"/>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FCFD0CF1-BFBA-BF67-4162-3D77ADEF52E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724320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82714252-F2F0-68DA-69DF-54FE08DB7C83}"/>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4B9FA246-80AA-0720-8021-E66ECDE12A7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4977DA00-0358-A8CD-93C0-07385A2482C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70706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23AF8E36-0873-1B27-6B26-9989EC0AC635}"/>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CF06C272-5413-FE0D-1FCB-92091F95A77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92120715-EBDA-DA9A-5482-F3983875C0E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115088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9862A45E-6AAE-D836-9A93-B66715A8FC1A}"/>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B5DC3A99-24FD-1003-AA87-D3C4011926C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B88F6F0F-BBE7-5ECF-02CE-E97D0B333F8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12304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618ECDE5-8178-67CD-C899-3FF55FCE15B6}"/>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8A27DD06-3995-0430-BAA3-09B35362C3E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9EFC9DD0-5282-BAC2-75DA-AB4AA6104DA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322104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0612534-3A8D-2F3B-155E-A218B9536FA0}"/>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1BE83CD8-570D-1567-6BC4-7F622261027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18322E36-F97D-31FD-D53D-2F1A524C8A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11367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E0EEC33B-360D-DDAB-0C5D-6544B4FB1D49}"/>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17976249-1DBB-78AE-AD70-001A9D918FE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2EA1818C-1155-22DF-5620-50B6FA23728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218501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7EBE074F-7C25-066B-448A-A2720E0621BE}"/>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21604F80-A7C8-85D6-3341-21AF1201ED6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478FFF46-80FB-5729-FFA5-88E0A4EEE48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63717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98CD0BF7-7B92-4831-99E1-25EB9CBEB7CB}"/>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3932531C-EA74-F815-8A92-ED91D0AEBC7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7321C534-FB4D-82E2-70AB-40F65F52154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527897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50EBBBCB-3B22-CCA3-71C7-B5AF7644D2B5}"/>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065DF811-BB08-040D-EF3E-9136DC806DDB}"/>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08AB2808-9600-7EE2-E0A3-9FFDC1E7B4E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1186207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5322A01B-9AE4-8A84-1FBF-DD41481AA565}"/>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4E947C6F-804F-1D0D-86AF-80E909E9893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8E9362F6-00B7-6110-F85B-ED803D942E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199034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823C49F9-3671-3DA5-387B-A282A57E19F0}"/>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13A5B95E-CA13-B6C2-6B39-242A276F277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6F668B71-148C-B27B-8188-89F76AB17E9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4962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F558594B-1027-6F83-FFF3-E06F40117991}"/>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FB50F91E-3C7C-F705-CEAE-8DC97FEE5E7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B08BEF33-ABB0-B706-29FE-D89C044798D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5019353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FE370C00-9DB1-F931-6307-8BAA33E33BB1}"/>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E342E552-F770-7553-14AD-E04CDCD833C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7BBA5CE5-E8B1-5107-C77A-4A95CA39524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76316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BE48F7B4-A9DD-13B2-1891-C28266A2BE17}"/>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C414E829-73FB-9051-AEE5-05CFED5D99C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55401BD2-89D5-A4E4-EC43-50C613B8A8E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536052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A6D238E6-587F-EAE6-ECAF-3185D142FEE1}"/>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FBD039DE-529C-91C4-F999-95BFF192F51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CAE3245D-6C83-6F1B-56AE-447B9825BB3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73006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26796B97-BEA2-3643-D3C2-DD46C5C69025}"/>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B346A9B0-9C90-6AAB-7E12-DC337A7F432E}"/>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E561C6C5-E0BE-BBCB-28D1-FF1DF661558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6609711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EEC800D8-73BC-946A-A4FD-55510DAADE44}"/>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4E235B0B-7463-D49F-F743-0D41D21949C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336FC68F-B3EE-1A4A-0D85-EA5FE082FFC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46895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8C0A6CE5-C297-B7F1-7B95-5CB1EF8C1BF3}"/>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D4A4DCA1-E7AB-6D47-F32E-01E44371774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B82A9E05-8124-908E-0680-89CAA2E49FB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56181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3EA1891D-22BC-DB4D-7319-DB3D08CEB19B}"/>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A9B6B3EF-2FD2-00CC-1A2F-BE61E69563D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31454EF5-CD3A-B6F0-AA90-7625B40901A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893184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93260925-2E7E-9939-B072-7110DD2773C3}"/>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26690556-4BC0-266E-75FB-7D342A195C3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188D76B4-56BD-408B-4A15-E50D11EE97C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937149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F33F3904-30BA-7705-F62E-1B72E9B7CD86}"/>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448203AC-6CEA-BDA8-BEF3-60321934F00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a:extLst>
              <a:ext uri="{FF2B5EF4-FFF2-40B4-BE49-F238E27FC236}">
                <a16:creationId xmlns:a16="http://schemas.microsoft.com/office/drawing/2014/main" id="{C7EA9A55-8171-D008-7530-A9A4F38E7B6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34373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BE8D36B7-16B4-0E7E-36AC-51FD8C2366D0}"/>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A1560446-96AC-2956-B423-35628190C3E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dirty="0">
                <a:solidFill>
                  <a:schemeClr val="tx1"/>
                </a:solidFill>
                <a:latin typeface="Bookman Old Style" panose="02050604050505020204" pitchFamily="18" charset="0"/>
                <a:ea typeface="Calibri"/>
                <a:cs typeface="Calibri"/>
              </a:rPr>
              <a:t>A snapshot is taken of the document as you are editing it, and if the application crashes, you can recover to the last check point. If you’re like many people, you’ve seen checkpointing and potential data loss in action when your word processing program crashed and your most recent edits were not saved.</a:t>
            </a:r>
          </a:p>
          <a:p>
            <a:pPr marL="0" lvl="0" indent="0" algn="l" rtl="0">
              <a:spcBef>
                <a:spcPts val="0"/>
              </a:spcBef>
              <a:spcAft>
                <a:spcPts val="0"/>
              </a:spcAft>
              <a:buNone/>
            </a:pPr>
            <a:endParaRPr dirty="0"/>
          </a:p>
        </p:txBody>
      </p:sp>
      <p:sp>
        <p:nvSpPr>
          <p:cNvPr id="92" name="Google Shape;92;p2:notes">
            <a:extLst>
              <a:ext uri="{FF2B5EF4-FFF2-40B4-BE49-F238E27FC236}">
                <a16:creationId xmlns:a16="http://schemas.microsoft.com/office/drawing/2014/main" id="{960CDD15-E293-FA14-ADCB-B72A2FE8311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2851252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91552160-281C-4FD2-44DE-B1C97FF24367}"/>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02204664-C81F-966D-83AE-CDC134B85B9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dirty="0">
                <a:solidFill>
                  <a:schemeClr val="tx1"/>
                </a:solidFill>
                <a:latin typeface="Bookman Old Style" panose="02050604050505020204" pitchFamily="18" charset="0"/>
                <a:ea typeface="Calibri"/>
                <a:cs typeface="Calibri"/>
              </a:rPr>
              <a:t>A snapshot is taken of the document as you are editing it, and if the application crashes, you can recover to the last check point. If you’re like many people, you’ve seen checkpointing and potential data loss in action when your word processing program crashed and your most recent edits were not saved.</a:t>
            </a:r>
          </a:p>
          <a:p>
            <a:pPr marL="0" lvl="0" indent="0" algn="l" rtl="0">
              <a:spcBef>
                <a:spcPts val="0"/>
              </a:spcBef>
              <a:spcAft>
                <a:spcPts val="0"/>
              </a:spcAft>
              <a:buNone/>
            </a:pPr>
            <a:endParaRPr dirty="0"/>
          </a:p>
        </p:txBody>
      </p:sp>
      <p:sp>
        <p:nvSpPr>
          <p:cNvPr id="92" name="Google Shape;92;p2:notes">
            <a:extLst>
              <a:ext uri="{FF2B5EF4-FFF2-40B4-BE49-F238E27FC236}">
                <a16:creationId xmlns:a16="http://schemas.microsoft.com/office/drawing/2014/main" id="{2D037EF6-C832-C76D-AE6D-A91D8C52DA8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0810151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A7D684D3-B682-F312-F44C-513E14A6542D}"/>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CCD3308F-D0D5-5214-F0ED-524E31CA49E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dirty="0">
                <a:solidFill>
                  <a:schemeClr val="tx1"/>
                </a:solidFill>
                <a:latin typeface="Bookman Old Style" panose="02050604050505020204" pitchFamily="18" charset="0"/>
                <a:ea typeface="Calibri"/>
                <a:cs typeface="Calibri"/>
              </a:rPr>
              <a:t>A snapshot is taken of the document as you are editing it, and if the application crashes, you can recover to the last check point. If you’re like many people, you’ve seen checkpointing and potential data loss in action when your word processing program crashed and your most recent edits were not saved.</a:t>
            </a:r>
          </a:p>
          <a:p>
            <a:pPr marL="0" lvl="0" indent="0" algn="l" rtl="0">
              <a:spcBef>
                <a:spcPts val="0"/>
              </a:spcBef>
              <a:spcAft>
                <a:spcPts val="0"/>
              </a:spcAft>
              <a:buNone/>
            </a:pPr>
            <a:endParaRPr dirty="0"/>
          </a:p>
        </p:txBody>
      </p:sp>
      <p:sp>
        <p:nvSpPr>
          <p:cNvPr id="92" name="Google Shape;92;p2:notes">
            <a:extLst>
              <a:ext uri="{FF2B5EF4-FFF2-40B4-BE49-F238E27FC236}">
                <a16:creationId xmlns:a16="http://schemas.microsoft.com/office/drawing/2014/main" id="{C367FD91-E8A7-93AC-4901-85E212C07A0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8880631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B841D2ED-9BD9-B2A5-3B08-5A9FB694F6B0}"/>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C52CD077-E1D1-6F0A-AAEF-6D1D4E14BCED}"/>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dirty="0">
                <a:solidFill>
                  <a:schemeClr val="tx1"/>
                </a:solidFill>
                <a:latin typeface="Bookman Old Style" panose="02050604050505020204" pitchFamily="18" charset="0"/>
                <a:ea typeface="Calibri"/>
                <a:cs typeface="Calibri"/>
              </a:rPr>
              <a:t>A snapshot is taken of the document as you are editing it, and if the application crashes, you can recover to the last check point. If you’re like many people, you’ve seen checkpointing and potential data loss in action when your word processing program crashed and your most recent edits were not saved.</a:t>
            </a:r>
          </a:p>
          <a:p>
            <a:pPr marL="0" lvl="0" indent="0" algn="l" rtl="0">
              <a:spcBef>
                <a:spcPts val="0"/>
              </a:spcBef>
              <a:spcAft>
                <a:spcPts val="0"/>
              </a:spcAft>
              <a:buNone/>
            </a:pPr>
            <a:endParaRPr dirty="0"/>
          </a:p>
        </p:txBody>
      </p:sp>
      <p:sp>
        <p:nvSpPr>
          <p:cNvPr id="92" name="Google Shape;92;p2:notes">
            <a:extLst>
              <a:ext uri="{FF2B5EF4-FFF2-40B4-BE49-F238E27FC236}">
                <a16:creationId xmlns:a16="http://schemas.microsoft.com/office/drawing/2014/main" id="{6D4EF253-EEF2-ADF4-6E7E-82964BF982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45344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05AB6F31-B241-61C4-DE11-CCB642D6EE77}"/>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42D13530-5EE6-F0A1-A43F-944AB1DE4605}"/>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r>
              <a:rPr lang="en-US" sz="1200" dirty="0">
                <a:solidFill>
                  <a:schemeClr val="tx1"/>
                </a:solidFill>
                <a:latin typeface="Bookman Old Style" panose="02050604050505020204" pitchFamily="18" charset="0"/>
                <a:ea typeface="Calibri"/>
                <a:cs typeface="Calibri"/>
              </a:rPr>
              <a:t>A snapshot is taken of the document as you are editing it, and if the application crashes, you can recover to the last check point. If you’re like many people, you’ve seen checkpointing and potential data loss in action when your word processing program crashed and your most recent edits were not saved.</a:t>
            </a:r>
          </a:p>
          <a:p>
            <a:pPr marL="0" lvl="0" indent="0" algn="l" rtl="0">
              <a:spcBef>
                <a:spcPts val="0"/>
              </a:spcBef>
              <a:spcAft>
                <a:spcPts val="0"/>
              </a:spcAft>
              <a:buNone/>
            </a:pPr>
            <a:endParaRPr dirty="0"/>
          </a:p>
        </p:txBody>
      </p:sp>
      <p:sp>
        <p:nvSpPr>
          <p:cNvPr id="92" name="Google Shape;92;p2:notes">
            <a:extLst>
              <a:ext uri="{FF2B5EF4-FFF2-40B4-BE49-F238E27FC236}">
                <a16:creationId xmlns:a16="http://schemas.microsoft.com/office/drawing/2014/main" id="{26E401E8-6BC6-E44A-2ED0-42F99DFD127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638265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F9375E40-4B54-AD94-6206-1D196B5C05AF}"/>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E2A00BEE-A819-0567-49D4-49E043CD2B2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2" name="Google Shape;92;p2:notes">
            <a:extLst>
              <a:ext uri="{FF2B5EF4-FFF2-40B4-BE49-F238E27FC236}">
                <a16:creationId xmlns:a16="http://schemas.microsoft.com/office/drawing/2014/main" id="{F68C990E-C898-1FCE-EABE-5E259627860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104658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18E5EB61-17C9-5981-75BF-4E8AFAAF557E}"/>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942D49ED-5C70-4177-9516-6BBA28A2EEE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2" name="Google Shape;92;p2:notes">
            <a:extLst>
              <a:ext uri="{FF2B5EF4-FFF2-40B4-BE49-F238E27FC236}">
                <a16:creationId xmlns:a16="http://schemas.microsoft.com/office/drawing/2014/main" id="{DD8FFB6F-983F-EF18-93BA-5BEC0C4A696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7259710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85C1CDA2-C314-F5EC-C032-03290EB282A2}"/>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E16A7F1F-001C-AA40-936E-CE3A8DA34CC0}"/>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2" name="Google Shape;92;p2:notes">
            <a:extLst>
              <a:ext uri="{FF2B5EF4-FFF2-40B4-BE49-F238E27FC236}">
                <a16:creationId xmlns:a16="http://schemas.microsoft.com/office/drawing/2014/main" id="{8A7B30DB-9498-F3D8-FAE0-CB319D2D3B2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158554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DE806946-3203-1CF4-9F0B-4E187EBCB0C5}"/>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A8A122D9-9112-33E1-C585-0016FAC8BBB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2" name="Google Shape;92;p2:notes">
            <a:extLst>
              <a:ext uri="{FF2B5EF4-FFF2-40B4-BE49-F238E27FC236}">
                <a16:creationId xmlns:a16="http://schemas.microsoft.com/office/drawing/2014/main" id="{F01F9A6F-EFB8-0A53-FBEF-5CA4736731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0790276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a:extLst>
            <a:ext uri="{FF2B5EF4-FFF2-40B4-BE49-F238E27FC236}">
              <a16:creationId xmlns:a16="http://schemas.microsoft.com/office/drawing/2014/main" id="{8D82EADD-EF75-55DE-4AD3-E9EF3D02BC40}"/>
            </a:ext>
          </a:extLst>
        </p:cNvPr>
        <p:cNvGrpSpPr/>
        <p:nvPr/>
      </p:nvGrpSpPr>
      <p:grpSpPr>
        <a:xfrm>
          <a:off x="0" y="0"/>
          <a:ext cx="0" cy="0"/>
          <a:chOff x="0" y="0"/>
          <a:chExt cx="0" cy="0"/>
        </a:xfrm>
      </p:grpSpPr>
      <p:sp>
        <p:nvSpPr>
          <p:cNvPr id="91" name="Google Shape;91;p2:notes">
            <a:extLst>
              <a:ext uri="{FF2B5EF4-FFF2-40B4-BE49-F238E27FC236}">
                <a16:creationId xmlns:a16="http://schemas.microsoft.com/office/drawing/2014/main" id="{B55F0472-CB08-0594-5413-3F32858F3E6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2" name="Google Shape;92;p2:notes">
            <a:extLst>
              <a:ext uri="{FF2B5EF4-FFF2-40B4-BE49-F238E27FC236}">
                <a16:creationId xmlns:a16="http://schemas.microsoft.com/office/drawing/2014/main" id="{18EC6650-D3BB-EDA2-FCF3-5994B810646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00714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Department of AI and ML</a:t>
            </a:r>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
        <p:nvSpPr>
          <p:cNvPr id="2" name="object 7">
            <a:extLst>
              <a:ext uri="{FF2B5EF4-FFF2-40B4-BE49-F238E27FC236}">
                <a16:creationId xmlns:a16="http://schemas.microsoft.com/office/drawing/2014/main" id="{B6F5DA05-94CB-FD39-AC44-7F7F2BEEAF1D}"/>
              </a:ext>
            </a:extLst>
          </p:cNvPr>
          <p:cNvSpPr txBox="1"/>
          <p:nvPr userDrawn="1"/>
        </p:nvSpPr>
        <p:spPr>
          <a:xfrm>
            <a:off x="10668000" y="37780"/>
            <a:ext cx="2487127" cy="197490"/>
          </a:xfrm>
          <a:prstGeom prst="rect">
            <a:avLst/>
          </a:prstGeom>
        </p:spPr>
        <p:txBody>
          <a:bodyPr wrap="square" lIns="0" tIns="12700" rIns="0" bIns="0">
            <a:spAutoFit/>
          </a:bodyPr>
          <a:lstStyle/>
          <a:p>
            <a:pPr marL="12700" eaLnBrk="1" hangingPunct="1">
              <a:spcBef>
                <a:spcPts val="100"/>
              </a:spcBef>
              <a:defRPr/>
            </a:pPr>
            <a:r>
              <a:rPr sz="1200" i="1" spc="-5" dirty="0">
                <a:solidFill>
                  <a:schemeClr val="tx1"/>
                </a:solidFill>
                <a:latin typeface="Playfair Display"/>
                <a:ea typeface="ＭＳ Ｐゴシック" charset="0"/>
                <a:cs typeface="Playfair Display"/>
              </a:rPr>
              <a:t>Go, change </a:t>
            </a:r>
            <a:r>
              <a:rPr sz="1200" i="1" dirty="0">
                <a:solidFill>
                  <a:schemeClr val="tx1"/>
                </a:solidFill>
                <a:latin typeface="Playfair Display"/>
                <a:ea typeface="ＭＳ Ｐゴシック" charset="0"/>
                <a:cs typeface="Playfair Display"/>
              </a:rPr>
              <a:t>the</a:t>
            </a:r>
            <a:r>
              <a:rPr sz="1200" i="1" spc="-80" dirty="0">
                <a:solidFill>
                  <a:schemeClr val="tx1"/>
                </a:solidFill>
                <a:latin typeface="Playfair Display"/>
                <a:ea typeface="ＭＳ Ｐゴシック" charset="0"/>
                <a:cs typeface="Playfair Display"/>
              </a:rPr>
              <a:t> </a:t>
            </a:r>
            <a:r>
              <a:rPr sz="1200" i="1" spc="-5" dirty="0">
                <a:solidFill>
                  <a:schemeClr val="tx1"/>
                </a:solidFill>
                <a:latin typeface="Playfair Display"/>
                <a:ea typeface="ＭＳ Ｐゴシック" charset="0"/>
                <a:cs typeface="Playfair Display"/>
              </a:rPr>
              <a:t>world</a:t>
            </a:r>
            <a:endParaRPr sz="1200" dirty="0">
              <a:solidFill>
                <a:schemeClr val="tx1"/>
              </a:solidFill>
              <a:latin typeface="Playfair Display"/>
              <a:ea typeface="ＭＳ Ｐゴシック" charset="0"/>
              <a:cs typeface="Playfair Display"/>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787445" y="85280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dirty="0"/>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ookman Old Style" panose="02050604050505020204" pitchFamily="18"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D029227-DFC5-48FA-AC26-C9BC7FFCF049}" type="slidenum">
              <a:rPr lang="en-IN" smtClean="0"/>
              <a:pPr/>
              <a:t>‹#›</a:t>
            </a:fld>
            <a:endParaRPr lang="en-IN" dirty="0"/>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Department of AI and ML</a:t>
            </a:r>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Bookman Old Style" panose="02050604050505020204" pitchFamily="18" charset="0"/>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4" name="Google Shape;34;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Bookman Old Style" panose="02050604050505020204" pitchFamily="18" charset="0"/>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C57EE2B2-5FCA-4BE3-9DED-94FD927DF0CA}" type="slidenum">
              <a:rPr lang="en-IN" smtClean="0"/>
              <a:pPr/>
              <a:t>‹#›</a:t>
            </a:fld>
            <a:endParaRPr lang="en-IN" dirty="0"/>
          </a:p>
        </p:txBody>
      </p:sp>
      <p:sp>
        <p:nvSpPr>
          <p:cNvPr id="35" name="Google Shape;35;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Department of AI and ML</a:t>
            </a:r>
            <a:endParaRPr/>
          </a:p>
        </p:txBody>
      </p:sp>
      <p:sp>
        <p:nvSpPr>
          <p:cNvPr id="36" name="Google Shape;36;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atin typeface="Bookman Old Style" panose="02050604050505020204" pitchFamily="18" charset="0"/>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Department of AI and ML</a:t>
            </a:r>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Department of AI and ML</a:t>
            </a:r>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Department of AI and ML</a:t>
            </a:r>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Department of AI and ML</a:t>
            </a:r>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US"/>
              <a:t>Department of AI and ML</a:t>
            </a:r>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C0BA7E-DC0C-1718-20CD-0A99F242B63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29F8975-1741-6C0C-BFCC-394901BFC3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E2CE1A6-90BC-A7B0-EFEC-BE6B8D215664}"/>
              </a:ext>
            </a:extLst>
          </p:cNvPr>
          <p:cNvSpPr>
            <a:spLocks noGrp="1"/>
          </p:cNvSpPr>
          <p:nvPr>
            <p:ph type="dt" sz="half" idx="10"/>
          </p:nvPr>
        </p:nvSpPr>
        <p:spPr/>
        <p:txBody>
          <a:bodyPr/>
          <a:lstStyle/>
          <a:p>
            <a:fld id="{4EB9A985-3D17-4B82-984C-308358C6A902}" type="datetimeFigureOut">
              <a:rPr lang="en-IN" smtClean="0"/>
              <a:t>01-12-2024</a:t>
            </a:fld>
            <a:endParaRPr lang="en-IN"/>
          </a:p>
        </p:txBody>
      </p:sp>
      <p:sp>
        <p:nvSpPr>
          <p:cNvPr id="5" name="Footer Placeholder 4">
            <a:extLst>
              <a:ext uri="{FF2B5EF4-FFF2-40B4-BE49-F238E27FC236}">
                <a16:creationId xmlns:a16="http://schemas.microsoft.com/office/drawing/2014/main" id="{837F4ECB-0279-361B-2D72-1B413156A6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4683915-DD23-D643-3213-D11E612267F2}"/>
              </a:ext>
            </a:extLst>
          </p:cNvPr>
          <p:cNvSpPr>
            <a:spLocks noGrp="1"/>
          </p:cNvSpPr>
          <p:nvPr>
            <p:ph type="sldNum" sz="quarter" idx="12"/>
          </p:nvPr>
        </p:nvSpPr>
        <p:spPr/>
        <p:txBody>
          <a:bodyPr/>
          <a:lstStyle/>
          <a:p>
            <a:fld id="{A1FEF969-E3EF-4C9C-9784-9BBA63DA49CA}" type="slidenum">
              <a:rPr lang="en-IN" smtClean="0"/>
              <a:t>‹#›</a:t>
            </a:fld>
            <a:endParaRPr lang="en-IN"/>
          </a:p>
        </p:txBody>
      </p:sp>
    </p:spTree>
    <p:extLst>
      <p:ext uri="{BB962C8B-B14F-4D97-AF65-F5344CB8AC3E}">
        <p14:creationId xmlns:p14="http://schemas.microsoft.com/office/powerpoint/2010/main" val="31991059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426F3-6F31-C25A-A7CC-2D7474088D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C2DAFCB-F4BC-C8D6-F083-07A2012927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364FB78-9FAF-5F3C-38A2-D274714FDE66}"/>
              </a:ext>
            </a:extLst>
          </p:cNvPr>
          <p:cNvSpPr>
            <a:spLocks noGrp="1"/>
          </p:cNvSpPr>
          <p:nvPr>
            <p:ph type="dt" sz="half" idx="10"/>
          </p:nvPr>
        </p:nvSpPr>
        <p:spPr/>
        <p:txBody>
          <a:bodyPr/>
          <a:lstStyle/>
          <a:p>
            <a:fld id="{4EB9A985-3D17-4B82-984C-308358C6A902}" type="datetimeFigureOut">
              <a:rPr lang="en-IN" smtClean="0"/>
              <a:t>01-12-2024</a:t>
            </a:fld>
            <a:endParaRPr lang="en-IN"/>
          </a:p>
        </p:txBody>
      </p:sp>
      <p:sp>
        <p:nvSpPr>
          <p:cNvPr id="5" name="Footer Placeholder 4">
            <a:extLst>
              <a:ext uri="{FF2B5EF4-FFF2-40B4-BE49-F238E27FC236}">
                <a16:creationId xmlns:a16="http://schemas.microsoft.com/office/drawing/2014/main" id="{9F6D9FEA-5D60-2BC8-C7D2-FC1C0B328A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9C9900-BE16-6751-77B4-0B296F8161DD}"/>
              </a:ext>
            </a:extLst>
          </p:cNvPr>
          <p:cNvSpPr>
            <a:spLocks noGrp="1"/>
          </p:cNvSpPr>
          <p:nvPr>
            <p:ph type="sldNum" sz="quarter" idx="12"/>
          </p:nvPr>
        </p:nvSpPr>
        <p:spPr/>
        <p:txBody>
          <a:bodyPr/>
          <a:lstStyle/>
          <a:p>
            <a:fld id="{A1FEF969-E3EF-4C9C-9784-9BBA63DA49CA}" type="slidenum">
              <a:rPr lang="en-IN" smtClean="0"/>
              <a:t>‹#›</a:t>
            </a:fld>
            <a:endParaRPr lang="en-IN"/>
          </a:p>
        </p:txBody>
      </p:sp>
    </p:spTree>
    <p:extLst>
      <p:ext uri="{BB962C8B-B14F-4D97-AF65-F5344CB8AC3E}">
        <p14:creationId xmlns:p14="http://schemas.microsoft.com/office/powerpoint/2010/main" val="34535236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B7E0D-B712-7DEC-5C6E-693B5825B5A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A9AD3F2-8307-3995-002A-F2F303BCED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AA44E48-7DEB-883E-1934-0A392EE7E22E}"/>
              </a:ext>
            </a:extLst>
          </p:cNvPr>
          <p:cNvSpPr>
            <a:spLocks noGrp="1"/>
          </p:cNvSpPr>
          <p:nvPr>
            <p:ph type="dt" sz="half" idx="10"/>
          </p:nvPr>
        </p:nvSpPr>
        <p:spPr/>
        <p:txBody>
          <a:bodyPr/>
          <a:lstStyle/>
          <a:p>
            <a:fld id="{4EB9A985-3D17-4B82-984C-308358C6A902}" type="datetimeFigureOut">
              <a:rPr lang="en-IN" smtClean="0"/>
              <a:t>01-12-2024</a:t>
            </a:fld>
            <a:endParaRPr lang="en-IN"/>
          </a:p>
        </p:txBody>
      </p:sp>
      <p:sp>
        <p:nvSpPr>
          <p:cNvPr id="5" name="Footer Placeholder 4">
            <a:extLst>
              <a:ext uri="{FF2B5EF4-FFF2-40B4-BE49-F238E27FC236}">
                <a16:creationId xmlns:a16="http://schemas.microsoft.com/office/drawing/2014/main" id="{F3ECA2B2-6246-1265-7349-08F8F3799B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EF5CA-08C7-B6E5-9DE5-E5E04E311F20}"/>
              </a:ext>
            </a:extLst>
          </p:cNvPr>
          <p:cNvSpPr>
            <a:spLocks noGrp="1"/>
          </p:cNvSpPr>
          <p:nvPr>
            <p:ph type="sldNum" sz="quarter" idx="12"/>
          </p:nvPr>
        </p:nvSpPr>
        <p:spPr/>
        <p:txBody>
          <a:bodyPr/>
          <a:lstStyle/>
          <a:p>
            <a:fld id="{A1FEF969-E3EF-4C9C-9784-9BBA63DA49CA}" type="slidenum">
              <a:rPr lang="en-IN" smtClean="0"/>
              <a:t>‹#›</a:t>
            </a:fld>
            <a:endParaRPr lang="en-IN"/>
          </a:p>
        </p:txBody>
      </p:sp>
    </p:spTree>
    <p:extLst>
      <p:ext uri="{BB962C8B-B14F-4D97-AF65-F5344CB8AC3E}">
        <p14:creationId xmlns:p14="http://schemas.microsoft.com/office/powerpoint/2010/main" val="2916323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FD406-3FDE-C089-0FF8-69B76B837D5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D76B00-153B-B78F-D9A9-AE0B6B71797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64FBB76-2064-1355-53D9-F280113BBB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FE8194B-0DAB-5878-970C-4C5E2850D08F}"/>
              </a:ext>
            </a:extLst>
          </p:cNvPr>
          <p:cNvSpPr>
            <a:spLocks noGrp="1"/>
          </p:cNvSpPr>
          <p:nvPr>
            <p:ph type="dt" sz="half" idx="10"/>
          </p:nvPr>
        </p:nvSpPr>
        <p:spPr/>
        <p:txBody>
          <a:bodyPr/>
          <a:lstStyle/>
          <a:p>
            <a:fld id="{4EB9A985-3D17-4B82-984C-308358C6A902}" type="datetimeFigureOut">
              <a:rPr lang="en-IN" smtClean="0"/>
              <a:t>01-12-2024</a:t>
            </a:fld>
            <a:endParaRPr lang="en-IN"/>
          </a:p>
        </p:txBody>
      </p:sp>
      <p:sp>
        <p:nvSpPr>
          <p:cNvPr id="6" name="Footer Placeholder 5">
            <a:extLst>
              <a:ext uri="{FF2B5EF4-FFF2-40B4-BE49-F238E27FC236}">
                <a16:creationId xmlns:a16="http://schemas.microsoft.com/office/drawing/2014/main" id="{349F4AFD-E346-DB85-9253-FFA8E2F6D30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CE668A-EE4E-F646-4CEC-1E4F69CB2C1F}"/>
              </a:ext>
            </a:extLst>
          </p:cNvPr>
          <p:cNvSpPr>
            <a:spLocks noGrp="1"/>
          </p:cNvSpPr>
          <p:nvPr>
            <p:ph type="sldNum" sz="quarter" idx="12"/>
          </p:nvPr>
        </p:nvSpPr>
        <p:spPr/>
        <p:txBody>
          <a:bodyPr/>
          <a:lstStyle/>
          <a:p>
            <a:fld id="{A1FEF969-E3EF-4C9C-9784-9BBA63DA49CA}" type="slidenum">
              <a:rPr lang="en-IN" smtClean="0"/>
              <a:t>‹#›</a:t>
            </a:fld>
            <a:endParaRPr lang="en-IN"/>
          </a:p>
        </p:txBody>
      </p:sp>
    </p:spTree>
    <p:extLst>
      <p:ext uri="{BB962C8B-B14F-4D97-AF65-F5344CB8AC3E}">
        <p14:creationId xmlns:p14="http://schemas.microsoft.com/office/powerpoint/2010/main" val="544332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4EC450-BF55-CC89-454F-783019751A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FE3E497-E81D-A7A0-DD1E-60CD838B5D9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55ABA0-2A28-4898-8A53-FBD09DED988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C9FD60B-CD0A-A768-461E-730435FFE60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3866C7-71A9-87BC-BB9E-E15F642785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F6A09F3-9AA7-2D84-EF3C-B19EFF26ECD9}"/>
              </a:ext>
            </a:extLst>
          </p:cNvPr>
          <p:cNvSpPr>
            <a:spLocks noGrp="1"/>
          </p:cNvSpPr>
          <p:nvPr>
            <p:ph type="dt" sz="half" idx="10"/>
          </p:nvPr>
        </p:nvSpPr>
        <p:spPr/>
        <p:txBody>
          <a:bodyPr/>
          <a:lstStyle/>
          <a:p>
            <a:fld id="{4EB9A985-3D17-4B82-984C-308358C6A902}" type="datetimeFigureOut">
              <a:rPr lang="en-IN" smtClean="0"/>
              <a:t>01-12-2024</a:t>
            </a:fld>
            <a:endParaRPr lang="en-IN"/>
          </a:p>
        </p:txBody>
      </p:sp>
      <p:sp>
        <p:nvSpPr>
          <p:cNvPr id="8" name="Footer Placeholder 7">
            <a:extLst>
              <a:ext uri="{FF2B5EF4-FFF2-40B4-BE49-F238E27FC236}">
                <a16:creationId xmlns:a16="http://schemas.microsoft.com/office/drawing/2014/main" id="{1C73A9A1-8C93-85BD-F497-7F530D49171A}"/>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E770E3A-7AD7-4493-8905-0B71B2BD3CEA}"/>
              </a:ext>
            </a:extLst>
          </p:cNvPr>
          <p:cNvSpPr>
            <a:spLocks noGrp="1"/>
          </p:cNvSpPr>
          <p:nvPr>
            <p:ph type="sldNum" sz="quarter" idx="12"/>
          </p:nvPr>
        </p:nvSpPr>
        <p:spPr/>
        <p:txBody>
          <a:bodyPr/>
          <a:lstStyle/>
          <a:p>
            <a:fld id="{A1FEF969-E3EF-4C9C-9784-9BBA63DA49CA}" type="slidenum">
              <a:rPr lang="en-IN" smtClean="0"/>
              <a:t>‹#›</a:t>
            </a:fld>
            <a:endParaRPr lang="en-IN"/>
          </a:p>
        </p:txBody>
      </p:sp>
    </p:spTree>
    <p:extLst>
      <p:ext uri="{BB962C8B-B14F-4D97-AF65-F5344CB8AC3E}">
        <p14:creationId xmlns:p14="http://schemas.microsoft.com/office/powerpoint/2010/main" val="30820879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49767-8060-D105-98D1-37102D9B4DB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C25B14A-5331-A057-0D67-9B455B47BF40}"/>
              </a:ext>
            </a:extLst>
          </p:cNvPr>
          <p:cNvSpPr>
            <a:spLocks noGrp="1"/>
          </p:cNvSpPr>
          <p:nvPr>
            <p:ph type="dt" sz="half" idx="10"/>
          </p:nvPr>
        </p:nvSpPr>
        <p:spPr/>
        <p:txBody>
          <a:bodyPr/>
          <a:lstStyle/>
          <a:p>
            <a:fld id="{4EB9A985-3D17-4B82-984C-308358C6A902}" type="datetimeFigureOut">
              <a:rPr lang="en-IN" smtClean="0"/>
              <a:t>01-12-2024</a:t>
            </a:fld>
            <a:endParaRPr lang="en-IN"/>
          </a:p>
        </p:txBody>
      </p:sp>
      <p:sp>
        <p:nvSpPr>
          <p:cNvPr id="4" name="Footer Placeholder 3">
            <a:extLst>
              <a:ext uri="{FF2B5EF4-FFF2-40B4-BE49-F238E27FC236}">
                <a16:creationId xmlns:a16="http://schemas.microsoft.com/office/drawing/2014/main" id="{DB306300-A897-9B04-BC50-A50529FDB13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6C3BD2D-C5EC-39F0-9E80-4F6AEA5D99DF}"/>
              </a:ext>
            </a:extLst>
          </p:cNvPr>
          <p:cNvSpPr>
            <a:spLocks noGrp="1"/>
          </p:cNvSpPr>
          <p:nvPr>
            <p:ph type="sldNum" sz="quarter" idx="12"/>
          </p:nvPr>
        </p:nvSpPr>
        <p:spPr/>
        <p:txBody>
          <a:bodyPr/>
          <a:lstStyle/>
          <a:p>
            <a:fld id="{A1FEF969-E3EF-4C9C-9784-9BBA63DA49CA}" type="slidenum">
              <a:rPr lang="en-IN" smtClean="0"/>
              <a:t>‹#›</a:t>
            </a:fld>
            <a:endParaRPr lang="en-IN"/>
          </a:p>
        </p:txBody>
      </p:sp>
    </p:spTree>
    <p:extLst>
      <p:ext uri="{BB962C8B-B14F-4D97-AF65-F5344CB8AC3E}">
        <p14:creationId xmlns:p14="http://schemas.microsoft.com/office/powerpoint/2010/main" val="4499370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82D437-93E8-3BD5-99C6-2862AF7A468C}"/>
              </a:ext>
            </a:extLst>
          </p:cNvPr>
          <p:cNvSpPr>
            <a:spLocks noGrp="1"/>
          </p:cNvSpPr>
          <p:nvPr>
            <p:ph type="dt" sz="half" idx="10"/>
          </p:nvPr>
        </p:nvSpPr>
        <p:spPr/>
        <p:txBody>
          <a:bodyPr/>
          <a:lstStyle/>
          <a:p>
            <a:fld id="{4EB9A985-3D17-4B82-984C-308358C6A902}" type="datetimeFigureOut">
              <a:rPr lang="en-IN" smtClean="0"/>
              <a:t>01-12-2024</a:t>
            </a:fld>
            <a:endParaRPr lang="en-IN"/>
          </a:p>
        </p:txBody>
      </p:sp>
      <p:sp>
        <p:nvSpPr>
          <p:cNvPr id="3" name="Footer Placeholder 2">
            <a:extLst>
              <a:ext uri="{FF2B5EF4-FFF2-40B4-BE49-F238E27FC236}">
                <a16:creationId xmlns:a16="http://schemas.microsoft.com/office/drawing/2014/main" id="{9A26F709-5ABB-A220-C125-CF4C801D3EB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7FED4E2-52F1-BDD3-8641-B925CB3E89F0}"/>
              </a:ext>
            </a:extLst>
          </p:cNvPr>
          <p:cNvSpPr>
            <a:spLocks noGrp="1"/>
          </p:cNvSpPr>
          <p:nvPr>
            <p:ph type="sldNum" sz="quarter" idx="12"/>
          </p:nvPr>
        </p:nvSpPr>
        <p:spPr/>
        <p:txBody>
          <a:bodyPr/>
          <a:lstStyle/>
          <a:p>
            <a:fld id="{A1FEF969-E3EF-4C9C-9784-9BBA63DA49CA}" type="slidenum">
              <a:rPr lang="en-IN" smtClean="0"/>
              <a:t>‹#›</a:t>
            </a:fld>
            <a:endParaRPr lang="en-IN"/>
          </a:p>
        </p:txBody>
      </p:sp>
    </p:spTree>
    <p:extLst>
      <p:ext uri="{BB962C8B-B14F-4D97-AF65-F5344CB8AC3E}">
        <p14:creationId xmlns:p14="http://schemas.microsoft.com/office/powerpoint/2010/main" val="6637748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E82C1-4D48-AC60-EE6B-DD7918F010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CA5D677-9D1C-5AD9-F881-24DF06FC24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9639033-30C9-1000-DE84-252E623080E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35F3F1-2D77-73D8-F69A-CB8B64A6E42F}"/>
              </a:ext>
            </a:extLst>
          </p:cNvPr>
          <p:cNvSpPr>
            <a:spLocks noGrp="1"/>
          </p:cNvSpPr>
          <p:nvPr>
            <p:ph type="dt" sz="half" idx="10"/>
          </p:nvPr>
        </p:nvSpPr>
        <p:spPr/>
        <p:txBody>
          <a:bodyPr/>
          <a:lstStyle/>
          <a:p>
            <a:fld id="{4EB9A985-3D17-4B82-984C-308358C6A902}" type="datetimeFigureOut">
              <a:rPr lang="en-IN" smtClean="0"/>
              <a:t>01-12-2024</a:t>
            </a:fld>
            <a:endParaRPr lang="en-IN"/>
          </a:p>
        </p:txBody>
      </p:sp>
      <p:sp>
        <p:nvSpPr>
          <p:cNvPr id="6" name="Footer Placeholder 5">
            <a:extLst>
              <a:ext uri="{FF2B5EF4-FFF2-40B4-BE49-F238E27FC236}">
                <a16:creationId xmlns:a16="http://schemas.microsoft.com/office/drawing/2014/main" id="{C6A58B68-BCDE-4BDE-623E-662C0611FD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612143-4011-3487-7EC5-3E3040CF1ECE}"/>
              </a:ext>
            </a:extLst>
          </p:cNvPr>
          <p:cNvSpPr>
            <a:spLocks noGrp="1"/>
          </p:cNvSpPr>
          <p:nvPr>
            <p:ph type="sldNum" sz="quarter" idx="12"/>
          </p:nvPr>
        </p:nvSpPr>
        <p:spPr/>
        <p:txBody>
          <a:bodyPr/>
          <a:lstStyle/>
          <a:p>
            <a:fld id="{A1FEF969-E3EF-4C9C-9784-9BBA63DA49CA}" type="slidenum">
              <a:rPr lang="en-IN" smtClean="0"/>
              <a:t>‹#›</a:t>
            </a:fld>
            <a:endParaRPr lang="en-IN"/>
          </a:p>
        </p:txBody>
      </p:sp>
    </p:spTree>
    <p:extLst>
      <p:ext uri="{BB962C8B-B14F-4D97-AF65-F5344CB8AC3E}">
        <p14:creationId xmlns:p14="http://schemas.microsoft.com/office/powerpoint/2010/main" val="1194867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F8FAD-1AED-D1EA-5911-2C5D8BABC0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38959F7-B3FC-CD6F-9C5D-1EB31360B4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4735501-3998-E440-5AA0-960130FFAA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900CEB-3AAE-3463-E04B-DE1B16470730}"/>
              </a:ext>
            </a:extLst>
          </p:cNvPr>
          <p:cNvSpPr>
            <a:spLocks noGrp="1"/>
          </p:cNvSpPr>
          <p:nvPr>
            <p:ph type="dt" sz="half" idx="10"/>
          </p:nvPr>
        </p:nvSpPr>
        <p:spPr/>
        <p:txBody>
          <a:bodyPr/>
          <a:lstStyle/>
          <a:p>
            <a:fld id="{4EB9A985-3D17-4B82-984C-308358C6A902}" type="datetimeFigureOut">
              <a:rPr lang="en-IN" smtClean="0"/>
              <a:t>01-12-2024</a:t>
            </a:fld>
            <a:endParaRPr lang="en-IN"/>
          </a:p>
        </p:txBody>
      </p:sp>
      <p:sp>
        <p:nvSpPr>
          <p:cNvPr id="6" name="Footer Placeholder 5">
            <a:extLst>
              <a:ext uri="{FF2B5EF4-FFF2-40B4-BE49-F238E27FC236}">
                <a16:creationId xmlns:a16="http://schemas.microsoft.com/office/drawing/2014/main" id="{1BEEAB05-A0AF-59DB-58A0-2900D8DBF40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51A822-31A2-9BFB-B15D-960B92140D1C}"/>
              </a:ext>
            </a:extLst>
          </p:cNvPr>
          <p:cNvSpPr>
            <a:spLocks noGrp="1"/>
          </p:cNvSpPr>
          <p:nvPr>
            <p:ph type="sldNum" sz="quarter" idx="12"/>
          </p:nvPr>
        </p:nvSpPr>
        <p:spPr/>
        <p:txBody>
          <a:bodyPr/>
          <a:lstStyle/>
          <a:p>
            <a:fld id="{A1FEF969-E3EF-4C9C-9784-9BBA63DA49CA}" type="slidenum">
              <a:rPr lang="en-IN" smtClean="0"/>
              <a:t>‹#›</a:t>
            </a:fld>
            <a:endParaRPr lang="en-IN"/>
          </a:p>
        </p:txBody>
      </p:sp>
    </p:spTree>
    <p:extLst>
      <p:ext uri="{BB962C8B-B14F-4D97-AF65-F5344CB8AC3E}">
        <p14:creationId xmlns:p14="http://schemas.microsoft.com/office/powerpoint/2010/main" val="16189679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FE2BC8-78C6-4F6C-A151-46C8980553B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022CBE5-6603-AA5D-C79B-FCC97FBD52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3BD34B-D4E0-97B5-32F6-F9A9D731C7E5}"/>
              </a:ext>
            </a:extLst>
          </p:cNvPr>
          <p:cNvSpPr>
            <a:spLocks noGrp="1"/>
          </p:cNvSpPr>
          <p:nvPr>
            <p:ph type="dt" sz="half" idx="10"/>
          </p:nvPr>
        </p:nvSpPr>
        <p:spPr/>
        <p:txBody>
          <a:bodyPr/>
          <a:lstStyle/>
          <a:p>
            <a:fld id="{4EB9A985-3D17-4B82-984C-308358C6A902}" type="datetimeFigureOut">
              <a:rPr lang="en-IN" smtClean="0"/>
              <a:t>01-12-2024</a:t>
            </a:fld>
            <a:endParaRPr lang="en-IN"/>
          </a:p>
        </p:txBody>
      </p:sp>
      <p:sp>
        <p:nvSpPr>
          <p:cNvPr id="5" name="Footer Placeholder 4">
            <a:extLst>
              <a:ext uri="{FF2B5EF4-FFF2-40B4-BE49-F238E27FC236}">
                <a16:creationId xmlns:a16="http://schemas.microsoft.com/office/drawing/2014/main" id="{96A9AF09-42EA-484F-CF94-81090928FA2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D9F2D3-8AE1-1AD2-033E-32B2DE7AA73A}"/>
              </a:ext>
            </a:extLst>
          </p:cNvPr>
          <p:cNvSpPr>
            <a:spLocks noGrp="1"/>
          </p:cNvSpPr>
          <p:nvPr>
            <p:ph type="sldNum" sz="quarter" idx="12"/>
          </p:nvPr>
        </p:nvSpPr>
        <p:spPr/>
        <p:txBody>
          <a:bodyPr/>
          <a:lstStyle/>
          <a:p>
            <a:fld id="{A1FEF969-E3EF-4C9C-9784-9BBA63DA49CA}" type="slidenum">
              <a:rPr lang="en-IN" smtClean="0"/>
              <a:t>‹#›</a:t>
            </a:fld>
            <a:endParaRPr lang="en-IN"/>
          </a:p>
        </p:txBody>
      </p:sp>
    </p:spTree>
    <p:extLst>
      <p:ext uri="{BB962C8B-B14F-4D97-AF65-F5344CB8AC3E}">
        <p14:creationId xmlns:p14="http://schemas.microsoft.com/office/powerpoint/2010/main" val="18177660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D8FAC7C-DC42-FECD-6674-E3C49274923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E54DA82-BD19-E3ED-5FF9-06EF016E00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C013FD-E4E2-70D6-1EFF-945F402199D8}"/>
              </a:ext>
            </a:extLst>
          </p:cNvPr>
          <p:cNvSpPr>
            <a:spLocks noGrp="1"/>
          </p:cNvSpPr>
          <p:nvPr>
            <p:ph type="dt" sz="half" idx="10"/>
          </p:nvPr>
        </p:nvSpPr>
        <p:spPr/>
        <p:txBody>
          <a:bodyPr/>
          <a:lstStyle/>
          <a:p>
            <a:fld id="{4EB9A985-3D17-4B82-984C-308358C6A902}" type="datetimeFigureOut">
              <a:rPr lang="en-IN" smtClean="0"/>
              <a:t>01-12-2024</a:t>
            </a:fld>
            <a:endParaRPr lang="en-IN"/>
          </a:p>
        </p:txBody>
      </p:sp>
      <p:sp>
        <p:nvSpPr>
          <p:cNvPr id="5" name="Footer Placeholder 4">
            <a:extLst>
              <a:ext uri="{FF2B5EF4-FFF2-40B4-BE49-F238E27FC236}">
                <a16:creationId xmlns:a16="http://schemas.microsoft.com/office/drawing/2014/main" id="{107C48A6-74C7-4253-4211-5A068B4879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A80537-319A-CAEA-113C-6CE9ED4C4BDA}"/>
              </a:ext>
            </a:extLst>
          </p:cNvPr>
          <p:cNvSpPr>
            <a:spLocks noGrp="1"/>
          </p:cNvSpPr>
          <p:nvPr>
            <p:ph type="sldNum" sz="quarter" idx="12"/>
          </p:nvPr>
        </p:nvSpPr>
        <p:spPr/>
        <p:txBody>
          <a:bodyPr/>
          <a:lstStyle/>
          <a:p>
            <a:fld id="{A1FEF969-E3EF-4C9C-9784-9BBA63DA49CA}" type="slidenum">
              <a:rPr lang="en-IN" smtClean="0"/>
              <a:t>‹#›</a:t>
            </a:fld>
            <a:endParaRPr lang="en-IN"/>
          </a:p>
        </p:txBody>
      </p:sp>
    </p:spTree>
    <p:extLst>
      <p:ext uri="{BB962C8B-B14F-4D97-AF65-F5344CB8AC3E}">
        <p14:creationId xmlns:p14="http://schemas.microsoft.com/office/powerpoint/2010/main" val="25691442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theme" Target="../theme/theme2.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0" Type="http://schemas.openxmlformats.org/officeDocument/2006/relationships/slideLayout" Target="../slideLayouts/slideLayout18.xml"/><Relationship Id="rId4" Type="http://schemas.openxmlformats.org/officeDocument/2006/relationships/slideLayout" Target="../slideLayouts/slideLayout12.xml"/><Relationship Id="rId9"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852805"/>
            <a:ext cx="10515600" cy="83788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dirty="0"/>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1" i="0" u="none" strike="noStrike" cap="none">
                <a:solidFill>
                  <a:srgbClr val="888888"/>
                </a:solidFill>
                <a:latin typeface="Bookman Old Style" panose="02050604050505020204" pitchFamily="18" charset="0"/>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r>
              <a:rPr lang="en-US" dirty="0"/>
              <a:t>Department of AI and ML</a:t>
            </a: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GB"/>
              <a:t>‹#›</a:t>
            </a:fld>
            <a:endParaRPr/>
          </a:p>
        </p:txBody>
      </p:sp>
      <p:pic>
        <p:nvPicPr>
          <p:cNvPr id="2" name="Picture 1">
            <a:extLst>
              <a:ext uri="{FF2B5EF4-FFF2-40B4-BE49-F238E27FC236}">
                <a16:creationId xmlns:a16="http://schemas.microsoft.com/office/drawing/2014/main" id="{0908C519-CA20-3DCD-A009-3C552DB40041}"/>
              </a:ext>
            </a:extLst>
          </p:cNvPr>
          <p:cNvPicPr>
            <a:picLocks noChangeAspect="1"/>
          </p:cNvPicPr>
          <p:nvPr userDrawn="1"/>
        </p:nvPicPr>
        <p:blipFill>
          <a:blip r:embed="rId10" cstate="print">
            <a:extLst>
              <a:ext uri="{28A0092B-C50C-407E-A947-70E740481C1C}">
                <a14:useLocalDpi xmlns:a14="http://schemas.microsoft.com/office/drawing/2010/main" val="0"/>
              </a:ext>
            </a:extLst>
          </a:blip>
          <a:srcRect/>
          <a:stretch>
            <a:fillRect/>
          </a:stretch>
        </p:blipFill>
        <p:spPr bwMode="auto">
          <a:xfrm>
            <a:off x="140950" y="136525"/>
            <a:ext cx="1945005" cy="716280"/>
          </a:xfrm>
          <a:prstGeom prst="rect">
            <a:avLst/>
          </a:prstGeom>
          <a:noFill/>
          <a:ln>
            <a:noFill/>
          </a:ln>
        </p:spPr>
      </p:pic>
      <p:sp>
        <p:nvSpPr>
          <p:cNvPr id="3" name="object 7">
            <a:extLst>
              <a:ext uri="{FF2B5EF4-FFF2-40B4-BE49-F238E27FC236}">
                <a16:creationId xmlns:a16="http://schemas.microsoft.com/office/drawing/2014/main" id="{9997265C-A0C3-5F28-9C39-3C4AD1CFF8F4}"/>
              </a:ext>
            </a:extLst>
          </p:cNvPr>
          <p:cNvSpPr txBox="1"/>
          <p:nvPr userDrawn="1"/>
        </p:nvSpPr>
        <p:spPr>
          <a:xfrm>
            <a:off x="10668000" y="37780"/>
            <a:ext cx="2487127" cy="197490"/>
          </a:xfrm>
          <a:prstGeom prst="rect">
            <a:avLst/>
          </a:prstGeom>
        </p:spPr>
        <p:txBody>
          <a:bodyPr wrap="square" lIns="0" tIns="12700" rIns="0" bIns="0">
            <a:spAutoFit/>
          </a:bodyPr>
          <a:lstStyle/>
          <a:p>
            <a:pPr marL="12700" eaLnBrk="1" hangingPunct="1">
              <a:spcBef>
                <a:spcPts val="100"/>
              </a:spcBef>
              <a:defRPr/>
            </a:pPr>
            <a:r>
              <a:rPr sz="1200" i="1" spc="-5" dirty="0">
                <a:solidFill>
                  <a:schemeClr val="tx1"/>
                </a:solidFill>
                <a:latin typeface="Playfair Display"/>
                <a:ea typeface="ＭＳ Ｐゴシック" charset="0"/>
                <a:cs typeface="Playfair Display"/>
              </a:rPr>
              <a:t>Go, change </a:t>
            </a:r>
            <a:r>
              <a:rPr sz="1200" i="1" dirty="0">
                <a:solidFill>
                  <a:schemeClr val="tx1"/>
                </a:solidFill>
                <a:latin typeface="Playfair Display"/>
                <a:ea typeface="ＭＳ Ｐゴシック" charset="0"/>
                <a:cs typeface="Playfair Display"/>
              </a:rPr>
              <a:t>the</a:t>
            </a:r>
            <a:r>
              <a:rPr sz="1200" i="1" spc="-80" dirty="0">
                <a:solidFill>
                  <a:schemeClr val="tx1"/>
                </a:solidFill>
                <a:latin typeface="Playfair Display"/>
                <a:ea typeface="ＭＳ Ｐゴシック" charset="0"/>
                <a:cs typeface="Playfair Display"/>
              </a:rPr>
              <a:t> </a:t>
            </a:r>
            <a:r>
              <a:rPr sz="1200" i="1" spc="-5" dirty="0">
                <a:solidFill>
                  <a:schemeClr val="tx1"/>
                </a:solidFill>
                <a:latin typeface="Playfair Display"/>
                <a:ea typeface="ＭＳ Ｐゴシック" charset="0"/>
                <a:cs typeface="Playfair Display"/>
              </a:rPr>
              <a:t>world</a:t>
            </a:r>
            <a:endParaRPr sz="1200" dirty="0">
              <a:solidFill>
                <a:schemeClr val="tx1"/>
              </a:solidFill>
              <a:latin typeface="Playfair Display"/>
              <a:ea typeface="ＭＳ Ｐゴシック" charset="0"/>
              <a:cs typeface="Playfair Display"/>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4" r:id="rId4"/>
    <p:sldLayoutId id="2147483655" r:id="rId5"/>
    <p:sldLayoutId id="2147483656" r:id="rId6"/>
    <p:sldLayoutId id="2147483657" r:id="rId7"/>
    <p:sldLayoutId id="2147483658" r:id="rId8"/>
  </p:sldLayoutIdLst>
  <p:hf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E1047C-39B3-96F6-DECF-DCCA4E3DCE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3C0B920-7F9B-C2F8-2D07-C1DA3E1EC6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2909F4-4452-6EE4-48D2-00D9E98A03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B9A985-3D17-4B82-984C-308358C6A902}" type="datetimeFigureOut">
              <a:rPr lang="en-IN" smtClean="0"/>
              <a:t>01-12-2024</a:t>
            </a:fld>
            <a:endParaRPr lang="en-IN"/>
          </a:p>
        </p:txBody>
      </p:sp>
      <p:sp>
        <p:nvSpPr>
          <p:cNvPr id="5" name="Footer Placeholder 4">
            <a:extLst>
              <a:ext uri="{FF2B5EF4-FFF2-40B4-BE49-F238E27FC236}">
                <a16:creationId xmlns:a16="http://schemas.microsoft.com/office/drawing/2014/main" id="{6566608F-F4BB-C1A6-D362-D583A095A3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6481BEF-C52D-497A-C473-173F6B8FBAB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1FEF969-E3EF-4C9C-9784-9BBA63DA49CA}" type="slidenum">
              <a:rPr lang="en-IN" smtClean="0"/>
              <a:t>‹#›</a:t>
            </a:fld>
            <a:endParaRPr lang="en-IN"/>
          </a:p>
        </p:txBody>
      </p:sp>
    </p:spTree>
    <p:extLst>
      <p:ext uri="{BB962C8B-B14F-4D97-AF65-F5344CB8AC3E}">
        <p14:creationId xmlns:p14="http://schemas.microsoft.com/office/powerpoint/2010/main" val="24341226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www.geeksforgeeks.org/what-are-message-brokers-in-system-design/"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6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9" name="Google Shape;89;p13"/>
          <p:cNvSpPr txBox="1">
            <a:spLocks noGrp="1"/>
          </p:cNvSpPr>
          <p:nvPr>
            <p:ph type="subTitle" idx="1"/>
          </p:nvPr>
        </p:nvSpPr>
        <p:spPr>
          <a:xfrm>
            <a:off x="8273000" y="4707841"/>
            <a:ext cx="3644348" cy="1232947"/>
          </a:xfrm>
          <a:prstGeom prst="rect">
            <a:avLst/>
          </a:prstGeom>
          <a:noFill/>
          <a:ln>
            <a:noFill/>
          </a:ln>
        </p:spPr>
        <p:txBody>
          <a:bodyPr spcFirstLastPara="1" wrap="square" lIns="91425" tIns="45700" rIns="91425" bIns="45700" anchor="t" anchorCtr="0">
            <a:normAutofit fontScale="25000" lnSpcReduction="20000"/>
          </a:bodyPr>
          <a:lstStyle/>
          <a:p>
            <a:pPr marL="0" lvl="0" indent="0" algn="ctr" rtl="0">
              <a:lnSpc>
                <a:spcPct val="120000"/>
              </a:lnSpc>
              <a:spcBef>
                <a:spcPts val="0"/>
              </a:spcBef>
              <a:spcAft>
                <a:spcPts val="0"/>
              </a:spcAft>
              <a:buClr>
                <a:schemeClr val="dk1"/>
              </a:buClr>
              <a:buSzPts val="2400"/>
              <a:buNone/>
            </a:pPr>
            <a:r>
              <a:rPr lang="en-IN" sz="8000" dirty="0">
                <a:latin typeface="Bookman Old Style" panose="02050604050505020204" pitchFamily="18" charset="0"/>
              </a:rPr>
              <a:t>Dr S Anupama Kumar</a:t>
            </a:r>
          </a:p>
          <a:p>
            <a:pPr marL="0" lvl="0" indent="0" algn="ctr" rtl="0">
              <a:lnSpc>
                <a:spcPct val="120000"/>
              </a:lnSpc>
              <a:spcBef>
                <a:spcPts val="0"/>
              </a:spcBef>
              <a:spcAft>
                <a:spcPts val="0"/>
              </a:spcAft>
              <a:buClr>
                <a:schemeClr val="dk1"/>
              </a:buClr>
              <a:buSzPts val="2400"/>
              <a:buNone/>
            </a:pPr>
            <a:r>
              <a:rPr lang="en-IN" sz="8000" dirty="0">
                <a:latin typeface="Bookman Old Style" panose="02050604050505020204" pitchFamily="18" charset="0"/>
              </a:rPr>
              <a:t>Associate Professor</a:t>
            </a:r>
          </a:p>
          <a:p>
            <a:pPr marL="0" lvl="0" indent="0" algn="ctr" rtl="0">
              <a:lnSpc>
                <a:spcPct val="120000"/>
              </a:lnSpc>
              <a:spcBef>
                <a:spcPts val="0"/>
              </a:spcBef>
              <a:spcAft>
                <a:spcPts val="0"/>
              </a:spcAft>
              <a:buClr>
                <a:schemeClr val="dk1"/>
              </a:buClr>
              <a:buSzPts val="2400"/>
              <a:buNone/>
            </a:pPr>
            <a:r>
              <a:rPr lang="en-IN" sz="8000" dirty="0">
                <a:latin typeface="Bookman Old Style" panose="02050604050505020204" pitchFamily="18" charset="0"/>
              </a:rPr>
              <a:t>Dept of AIML</a:t>
            </a:r>
          </a:p>
          <a:p>
            <a:pPr marL="0" lvl="0" indent="0" algn="ctr" rtl="0">
              <a:lnSpc>
                <a:spcPct val="120000"/>
              </a:lnSpc>
              <a:spcBef>
                <a:spcPts val="0"/>
              </a:spcBef>
              <a:spcAft>
                <a:spcPts val="0"/>
              </a:spcAft>
              <a:buClr>
                <a:schemeClr val="dk1"/>
              </a:buClr>
              <a:buSzPts val="2400"/>
              <a:buNone/>
            </a:pPr>
            <a:r>
              <a:rPr lang="en-IN" sz="8000" dirty="0">
                <a:latin typeface="Bookman Old Style" panose="02050604050505020204" pitchFamily="18" charset="0"/>
              </a:rPr>
              <a:t>RVCE</a:t>
            </a:r>
          </a:p>
          <a:p>
            <a:pPr marL="0" lvl="0" indent="0" algn="ctr" rtl="0">
              <a:lnSpc>
                <a:spcPct val="90000"/>
              </a:lnSpc>
              <a:spcBef>
                <a:spcPts val="0"/>
              </a:spcBef>
              <a:spcAft>
                <a:spcPts val="0"/>
              </a:spcAft>
              <a:buClr>
                <a:schemeClr val="dk1"/>
              </a:buClr>
              <a:buSzPts val="2400"/>
              <a:buNone/>
            </a:pPr>
            <a:r>
              <a:rPr lang="en-IN" sz="8000" dirty="0">
                <a:latin typeface="Bookman Old Style" panose="02050604050505020204" pitchFamily="18" charset="0"/>
              </a:rPr>
              <a:t> </a:t>
            </a:r>
          </a:p>
          <a:p>
            <a:pPr marL="0" lvl="0" indent="0" algn="ctr" rtl="0">
              <a:lnSpc>
                <a:spcPct val="90000"/>
              </a:lnSpc>
              <a:spcBef>
                <a:spcPts val="0"/>
              </a:spcBef>
              <a:spcAft>
                <a:spcPts val="0"/>
              </a:spcAft>
              <a:buClr>
                <a:schemeClr val="dk1"/>
              </a:buClr>
              <a:buSzPts val="2400"/>
              <a:buNone/>
            </a:pPr>
            <a:endParaRPr dirty="0"/>
          </a:p>
        </p:txBody>
      </p:sp>
      <p:pic>
        <p:nvPicPr>
          <p:cNvPr id="3" name="Picture 2">
            <a:extLst>
              <a:ext uri="{FF2B5EF4-FFF2-40B4-BE49-F238E27FC236}">
                <a16:creationId xmlns:a16="http://schemas.microsoft.com/office/drawing/2014/main" id="{D949A148-E019-D5DF-36EB-3C9D79EE0F5A}"/>
              </a:ext>
            </a:extLst>
          </p:cNvPr>
          <p:cNvPicPr>
            <a:picLocks noChangeAspect="1"/>
          </p:cNvPicPr>
          <p:nvPr/>
        </p:nvPicPr>
        <p:blipFill>
          <a:blip r:embed="rId3"/>
          <a:stretch>
            <a:fillRect/>
          </a:stretch>
        </p:blipFill>
        <p:spPr>
          <a:xfrm>
            <a:off x="752890" y="4412478"/>
            <a:ext cx="3775853" cy="1829295"/>
          </a:xfrm>
          <a:prstGeom prst="rect">
            <a:avLst/>
          </a:prstGeom>
        </p:spPr>
      </p:pic>
      <p:sp>
        <p:nvSpPr>
          <p:cNvPr id="5" name="Title 4">
            <a:extLst>
              <a:ext uri="{FF2B5EF4-FFF2-40B4-BE49-F238E27FC236}">
                <a16:creationId xmlns:a16="http://schemas.microsoft.com/office/drawing/2014/main" id="{F9B4BC3E-95D7-FBC2-738A-FBADD9C04F18}"/>
              </a:ext>
            </a:extLst>
          </p:cNvPr>
          <p:cNvSpPr>
            <a:spLocks noGrp="1"/>
          </p:cNvSpPr>
          <p:nvPr>
            <p:ph type="ctrTitle"/>
          </p:nvPr>
        </p:nvSpPr>
        <p:spPr>
          <a:xfrm>
            <a:off x="1447800" y="2158683"/>
            <a:ext cx="9144000" cy="607377"/>
          </a:xfrm>
        </p:spPr>
        <p:txBody>
          <a:bodyPr>
            <a:normAutofit fontScale="90000"/>
          </a:bodyPr>
          <a:lstStyle/>
          <a:p>
            <a:r>
              <a:rPr lang="en-IN" dirty="0">
                <a:solidFill>
                  <a:srgbClr val="002060"/>
                </a:solidFill>
                <a:latin typeface="Bookman Old Style" panose="02050604050505020204" pitchFamily="18" charset="0"/>
              </a:rPr>
              <a:t>STREAM PROCESSING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2" name="Footer Placeholder 1">
            <a:extLst>
              <a:ext uri="{FF2B5EF4-FFF2-40B4-BE49-F238E27FC236}">
                <a16:creationId xmlns:a16="http://schemas.microsoft.com/office/drawing/2014/main" id="{E16B3F4D-1A4F-D778-16CF-534EA14E047F}"/>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9C81E2D2-2B32-4B7F-BB18-B785B429463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2</a:t>
            </a:fld>
            <a:endParaRPr lang="en-GB" dirty="0">
              <a:latin typeface="Bookman Old Style" panose="02050604050505020204" pitchFamily="18" charset="0"/>
            </a:endParaRPr>
          </a:p>
        </p:txBody>
      </p:sp>
      <p:pic>
        <p:nvPicPr>
          <p:cNvPr id="6" name="Picture 5">
            <a:extLst>
              <a:ext uri="{FF2B5EF4-FFF2-40B4-BE49-F238E27FC236}">
                <a16:creationId xmlns:a16="http://schemas.microsoft.com/office/drawing/2014/main" id="{DB778F1F-5BE0-B5E8-04C7-DC946A1F08CC}"/>
              </a:ext>
            </a:extLst>
          </p:cNvPr>
          <p:cNvPicPr>
            <a:picLocks noChangeAspect="1"/>
          </p:cNvPicPr>
          <p:nvPr/>
        </p:nvPicPr>
        <p:blipFill>
          <a:blip r:embed="rId3"/>
          <a:stretch>
            <a:fillRect/>
          </a:stretch>
        </p:blipFill>
        <p:spPr>
          <a:xfrm>
            <a:off x="955813" y="641538"/>
            <a:ext cx="10280374" cy="571481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87AECB07-6678-54EF-60F8-F4536AC98B11}"/>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4D942B58-FE9A-9F6A-E80D-E93D775BCBA5}"/>
              </a:ext>
            </a:extLst>
          </p:cNvPr>
          <p:cNvSpPr txBox="1">
            <a:spLocks noGrp="1"/>
          </p:cNvSpPr>
          <p:nvPr>
            <p:ph type="title"/>
          </p:nvPr>
        </p:nvSpPr>
        <p:spPr>
          <a:xfrm>
            <a:off x="838200" y="365126"/>
            <a:ext cx="10515600" cy="53933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err="1">
                <a:solidFill>
                  <a:srgbClr val="C00000"/>
                </a:solidFill>
                <a:latin typeface="Bookman Old Style" panose="02050604050505020204" pitchFamily="18" charset="0"/>
              </a:rPr>
              <a:t>Whats</a:t>
            </a:r>
            <a:r>
              <a:rPr lang="en-GB" b="1" dirty="0">
                <a:solidFill>
                  <a:srgbClr val="C00000"/>
                </a:solidFill>
                <a:latin typeface="Bookman Old Style" panose="02050604050505020204" pitchFamily="18" charset="0"/>
              </a:rPr>
              <a:t> in syllabus??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98DD4AAC-9261-B55D-3476-392C5308596C}"/>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33C24D99-9145-FC36-3F93-084998B0D68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3</a:t>
            </a:fld>
            <a:endParaRPr lang="en-GB" dirty="0">
              <a:latin typeface="Bookman Old Style" panose="02050604050505020204" pitchFamily="18" charset="0"/>
            </a:endParaRPr>
          </a:p>
        </p:txBody>
      </p:sp>
      <p:pic>
        <p:nvPicPr>
          <p:cNvPr id="6" name="Picture 5">
            <a:extLst>
              <a:ext uri="{FF2B5EF4-FFF2-40B4-BE49-F238E27FC236}">
                <a16:creationId xmlns:a16="http://schemas.microsoft.com/office/drawing/2014/main" id="{B8229C6F-D398-B3FC-58CC-68FD45BC39AA}"/>
              </a:ext>
            </a:extLst>
          </p:cNvPr>
          <p:cNvPicPr>
            <a:picLocks noChangeAspect="1"/>
          </p:cNvPicPr>
          <p:nvPr/>
        </p:nvPicPr>
        <p:blipFill>
          <a:blip r:embed="rId3"/>
          <a:stretch>
            <a:fillRect/>
          </a:stretch>
        </p:blipFill>
        <p:spPr>
          <a:xfrm>
            <a:off x="189271" y="983623"/>
            <a:ext cx="6172735" cy="1920406"/>
          </a:xfrm>
          <a:prstGeom prst="rect">
            <a:avLst/>
          </a:prstGeom>
        </p:spPr>
      </p:pic>
      <p:pic>
        <p:nvPicPr>
          <p:cNvPr id="8" name="Picture 7">
            <a:extLst>
              <a:ext uri="{FF2B5EF4-FFF2-40B4-BE49-F238E27FC236}">
                <a16:creationId xmlns:a16="http://schemas.microsoft.com/office/drawing/2014/main" id="{59C2DD1E-F4E9-8590-F2D4-6F1D77B729E1}"/>
              </a:ext>
            </a:extLst>
          </p:cNvPr>
          <p:cNvPicPr>
            <a:picLocks noChangeAspect="1"/>
          </p:cNvPicPr>
          <p:nvPr/>
        </p:nvPicPr>
        <p:blipFill>
          <a:blip r:embed="rId4"/>
          <a:stretch>
            <a:fillRect/>
          </a:stretch>
        </p:blipFill>
        <p:spPr>
          <a:xfrm>
            <a:off x="5286291" y="5276100"/>
            <a:ext cx="2872989" cy="891617"/>
          </a:xfrm>
          <a:prstGeom prst="rect">
            <a:avLst/>
          </a:prstGeom>
        </p:spPr>
      </p:pic>
      <p:pic>
        <p:nvPicPr>
          <p:cNvPr id="11" name="Picture 10">
            <a:extLst>
              <a:ext uri="{FF2B5EF4-FFF2-40B4-BE49-F238E27FC236}">
                <a16:creationId xmlns:a16="http://schemas.microsoft.com/office/drawing/2014/main" id="{A11A6D12-0C14-CAB9-1F89-BEF326708467}"/>
              </a:ext>
            </a:extLst>
          </p:cNvPr>
          <p:cNvPicPr>
            <a:picLocks noChangeAspect="1"/>
          </p:cNvPicPr>
          <p:nvPr/>
        </p:nvPicPr>
        <p:blipFill>
          <a:blip r:embed="rId5"/>
          <a:stretch>
            <a:fillRect/>
          </a:stretch>
        </p:blipFill>
        <p:spPr>
          <a:xfrm>
            <a:off x="83325" y="3144973"/>
            <a:ext cx="6459071" cy="1617997"/>
          </a:xfrm>
          <a:prstGeom prst="rect">
            <a:avLst/>
          </a:prstGeom>
        </p:spPr>
      </p:pic>
      <p:pic>
        <p:nvPicPr>
          <p:cNvPr id="13" name="Picture 12">
            <a:extLst>
              <a:ext uri="{FF2B5EF4-FFF2-40B4-BE49-F238E27FC236}">
                <a16:creationId xmlns:a16="http://schemas.microsoft.com/office/drawing/2014/main" id="{5171D164-2E8B-7B51-5FC6-D39F5D54B4AB}"/>
              </a:ext>
            </a:extLst>
          </p:cNvPr>
          <p:cNvPicPr>
            <a:picLocks noChangeAspect="1"/>
          </p:cNvPicPr>
          <p:nvPr/>
        </p:nvPicPr>
        <p:blipFill>
          <a:blip r:embed="rId6"/>
          <a:stretch>
            <a:fillRect/>
          </a:stretch>
        </p:blipFill>
        <p:spPr>
          <a:xfrm>
            <a:off x="6722786" y="1164320"/>
            <a:ext cx="5127700" cy="3653486"/>
          </a:xfrm>
          <a:prstGeom prst="rect">
            <a:avLst/>
          </a:prstGeom>
        </p:spPr>
      </p:pic>
    </p:spTree>
    <p:extLst>
      <p:ext uri="{BB962C8B-B14F-4D97-AF65-F5344CB8AC3E}">
        <p14:creationId xmlns:p14="http://schemas.microsoft.com/office/powerpoint/2010/main" val="3811428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5813FB79-94F0-08E0-8719-90B0E7399C82}"/>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2988F598-814A-50FD-18BF-3E02CDC3513E}"/>
              </a:ext>
            </a:extLst>
          </p:cNvPr>
          <p:cNvSpPr txBox="1">
            <a:spLocks noGrp="1"/>
          </p:cNvSpPr>
          <p:nvPr>
            <p:ph type="title"/>
          </p:nvPr>
        </p:nvSpPr>
        <p:spPr>
          <a:xfrm>
            <a:off x="838200" y="365126"/>
            <a:ext cx="10515600" cy="53933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Unit -1</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0BD5DFAB-B859-1DE4-563C-2981A702DB29}"/>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0B90EFC7-050D-80F3-C434-801996692ED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4</a:t>
            </a:fld>
            <a:endParaRPr lang="en-GB" dirty="0">
              <a:latin typeface="Bookman Old Style" panose="02050604050505020204" pitchFamily="18" charset="0"/>
            </a:endParaRPr>
          </a:p>
        </p:txBody>
      </p:sp>
      <p:sp>
        <p:nvSpPr>
          <p:cNvPr id="5" name="Rectangle 1">
            <a:extLst>
              <a:ext uri="{FF2B5EF4-FFF2-40B4-BE49-F238E27FC236}">
                <a16:creationId xmlns:a16="http://schemas.microsoft.com/office/drawing/2014/main" id="{836A75EB-B024-8466-D994-3BC073ACA769}"/>
              </a:ext>
            </a:extLst>
          </p:cNvPr>
          <p:cNvSpPr>
            <a:spLocks noGrp="1" noChangeArrowheads="1"/>
          </p:cNvSpPr>
          <p:nvPr>
            <p:ph type="body" idx="1"/>
          </p:nvPr>
        </p:nvSpPr>
        <p:spPr bwMode="auto">
          <a:xfrm>
            <a:off x="838200" y="1974755"/>
            <a:ext cx="8950960" cy="29084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ClrTx/>
              <a:buSzTx/>
              <a:buNone/>
            </a:pPr>
            <a:r>
              <a:rPr lang="en-IN" sz="2200" b="1" dirty="0">
                <a:solidFill>
                  <a:srgbClr val="002060"/>
                </a:solidFill>
                <a:latin typeface="Bookman Old Style" panose="02050604050505020204" pitchFamily="18" charset="0"/>
              </a:rPr>
              <a:t>Introducing </a:t>
            </a:r>
            <a:r>
              <a:rPr lang="en-IN" sz="2200" b="1">
                <a:solidFill>
                  <a:srgbClr val="002060"/>
                </a:solidFill>
                <a:latin typeface="Bookman Old Style" panose="02050604050505020204" pitchFamily="18" charset="0"/>
              </a:rPr>
              <a:t>Streaming Data</a:t>
            </a:r>
          </a:p>
          <a:p>
            <a:pPr marL="0" indent="0" eaLnBrk="0" fontAlgn="base" hangingPunct="0">
              <a:lnSpc>
                <a:spcPct val="150000"/>
              </a:lnSpc>
              <a:spcBef>
                <a:spcPct val="0"/>
              </a:spcBef>
              <a:spcAft>
                <a:spcPct val="0"/>
              </a:spcAft>
              <a:buClrTx/>
              <a:buSzTx/>
              <a:buNone/>
            </a:pPr>
            <a:r>
              <a:rPr lang="en-US" altLang="en-US" sz="2200" b="1">
                <a:solidFill>
                  <a:srgbClr val="002060"/>
                </a:solidFill>
                <a:latin typeface="Bookman Old Style" panose="02050604050505020204" pitchFamily="18" charset="0"/>
              </a:rPr>
              <a:t>Data </a:t>
            </a:r>
            <a:r>
              <a:rPr lang="en-US" altLang="en-US" sz="2200" b="1" dirty="0">
                <a:solidFill>
                  <a:srgbClr val="002060"/>
                </a:solidFill>
                <a:latin typeface="Bookman Old Style" panose="02050604050505020204" pitchFamily="18" charset="0"/>
              </a:rPr>
              <a:t>Ingestion </a:t>
            </a:r>
          </a:p>
          <a:p>
            <a:pPr marL="898525" marR="0" lvl="0" indent="0" algn="l" defTabSz="628650" rtl="0" eaLnBrk="0" fontAlgn="base" latinLnBrk="0" hangingPunct="0">
              <a:lnSpc>
                <a:spcPct val="150000"/>
              </a:lnSpc>
              <a:spcBef>
                <a:spcPct val="0"/>
              </a:spcBef>
              <a:spcAft>
                <a:spcPct val="0"/>
              </a:spcAft>
              <a:buClrTx/>
              <a:buSzTx/>
              <a:buFont typeface="Courier New" panose="02070309020205020404" pitchFamily="49" charset="0"/>
              <a:buChar char="o"/>
              <a:tabLst>
                <a:tab pos="982663" algn="l"/>
              </a:tabLst>
            </a:pPr>
            <a:r>
              <a:rPr lang="en-US" altLang="en-US" sz="2200" dirty="0">
                <a:latin typeface="Bookman Old Style" panose="02050604050505020204" pitchFamily="18" charset="0"/>
              </a:rPr>
              <a:t>	Common Interaction patterns 	</a:t>
            </a:r>
          </a:p>
          <a:p>
            <a:pPr marL="898525" marR="0" lvl="0" indent="0" algn="l" defTabSz="628650" rtl="0" eaLnBrk="0" fontAlgn="base" latinLnBrk="0" hangingPunct="0">
              <a:lnSpc>
                <a:spcPct val="150000"/>
              </a:lnSpc>
              <a:spcBef>
                <a:spcPct val="0"/>
              </a:spcBef>
              <a:spcAft>
                <a:spcPct val="0"/>
              </a:spcAft>
              <a:buClrTx/>
              <a:buSzTx/>
              <a:buFont typeface="Courier New" panose="02070309020205020404" pitchFamily="49" charset="0"/>
              <a:buChar char="o"/>
              <a:tabLst>
                <a:tab pos="982663" algn="l"/>
              </a:tabLst>
            </a:pPr>
            <a:r>
              <a:rPr lang="en-US" altLang="en-US" sz="2200" dirty="0">
                <a:latin typeface="Bookman Old Style" panose="02050604050505020204" pitchFamily="18" charset="0"/>
              </a:rPr>
              <a:t>	Scaling the interaction patterns </a:t>
            </a:r>
          </a:p>
          <a:p>
            <a:pPr marL="898525" marR="0" lvl="0" indent="0" algn="l" defTabSz="628650" rtl="0" eaLnBrk="0" fontAlgn="base" latinLnBrk="0" hangingPunct="0">
              <a:lnSpc>
                <a:spcPct val="150000"/>
              </a:lnSpc>
              <a:spcBef>
                <a:spcPct val="0"/>
              </a:spcBef>
              <a:spcAft>
                <a:spcPct val="0"/>
              </a:spcAft>
              <a:buClrTx/>
              <a:buSzTx/>
              <a:buFont typeface="Courier New" panose="02070309020205020404" pitchFamily="49" charset="0"/>
              <a:buChar char="o"/>
              <a:tabLst>
                <a:tab pos="982663" algn="l"/>
              </a:tabLst>
            </a:pPr>
            <a:r>
              <a:rPr lang="en-US" altLang="en-US" sz="2200" dirty="0">
                <a:latin typeface="Bookman Old Style" panose="02050604050505020204" pitchFamily="18" charset="0"/>
              </a:rPr>
              <a:t>	Faulty tolerance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Bookman Old Style" panose="02050604050505020204" pitchFamily="18" charset="0"/>
            </a:endParaRPr>
          </a:p>
        </p:txBody>
      </p:sp>
    </p:spTree>
    <p:extLst>
      <p:ext uri="{BB962C8B-B14F-4D97-AF65-F5344CB8AC3E}">
        <p14:creationId xmlns:p14="http://schemas.microsoft.com/office/powerpoint/2010/main" val="7261754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74DDB9CC-E76F-E961-6F5E-D389DE6AB640}"/>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7B38F213-3116-BD3F-29AD-29F9E4A35D0B}"/>
              </a:ext>
            </a:extLst>
          </p:cNvPr>
          <p:cNvSpPr txBox="1">
            <a:spLocks noGrp="1"/>
          </p:cNvSpPr>
          <p:nvPr>
            <p:ph type="title"/>
          </p:nvPr>
        </p:nvSpPr>
        <p:spPr>
          <a:xfrm>
            <a:off x="838200" y="365126"/>
            <a:ext cx="10515600" cy="53933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Unit -1</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43AE5D6E-DE18-549C-ED63-150C171DD5C2}"/>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8C03B143-B910-AD40-79B0-D446FBB0FFD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5</a:t>
            </a:fld>
            <a:endParaRPr lang="en-GB" dirty="0">
              <a:latin typeface="Bookman Old Style" panose="02050604050505020204" pitchFamily="18" charset="0"/>
            </a:endParaRPr>
          </a:p>
        </p:txBody>
      </p:sp>
      <p:pic>
        <p:nvPicPr>
          <p:cNvPr id="6" name="Picture 5">
            <a:extLst>
              <a:ext uri="{FF2B5EF4-FFF2-40B4-BE49-F238E27FC236}">
                <a16:creationId xmlns:a16="http://schemas.microsoft.com/office/drawing/2014/main" id="{5CF494AA-D93F-71F2-F5E6-1DFA9FB9BA4D}"/>
              </a:ext>
            </a:extLst>
          </p:cNvPr>
          <p:cNvPicPr>
            <a:picLocks noChangeAspect="1"/>
          </p:cNvPicPr>
          <p:nvPr/>
        </p:nvPicPr>
        <p:blipFill>
          <a:blip r:embed="rId3"/>
          <a:stretch>
            <a:fillRect/>
          </a:stretch>
        </p:blipFill>
        <p:spPr>
          <a:xfrm>
            <a:off x="2182761" y="904462"/>
            <a:ext cx="7669161" cy="5547359"/>
          </a:xfrm>
          <a:prstGeom prst="rect">
            <a:avLst/>
          </a:prstGeom>
        </p:spPr>
      </p:pic>
    </p:spTree>
    <p:extLst>
      <p:ext uri="{BB962C8B-B14F-4D97-AF65-F5344CB8AC3E}">
        <p14:creationId xmlns:p14="http://schemas.microsoft.com/office/powerpoint/2010/main" val="478010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02C91ED8-06EA-2A4D-F56B-EA25BFD85F03}"/>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60DB9883-E3B7-7387-7C95-37B555E38C8F}"/>
              </a:ext>
            </a:extLst>
          </p:cNvPr>
          <p:cNvSpPr txBox="1">
            <a:spLocks noGrp="1"/>
          </p:cNvSpPr>
          <p:nvPr>
            <p:ph type="title"/>
          </p:nvPr>
        </p:nvSpPr>
        <p:spPr>
          <a:xfrm>
            <a:off x="838200" y="365126"/>
            <a:ext cx="10515600" cy="53933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Unit -1</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83A0FC33-42D2-5344-EA05-3564D9583EED}"/>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C14C677D-6F28-E2DF-A390-09C77F7628F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6</a:t>
            </a:fld>
            <a:endParaRPr lang="en-GB" dirty="0">
              <a:latin typeface="Bookman Old Style" panose="02050604050505020204" pitchFamily="18" charset="0"/>
            </a:endParaRPr>
          </a:p>
        </p:txBody>
      </p:sp>
      <p:pic>
        <p:nvPicPr>
          <p:cNvPr id="5" name="Picture 4">
            <a:extLst>
              <a:ext uri="{FF2B5EF4-FFF2-40B4-BE49-F238E27FC236}">
                <a16:creationId xmlns:a16="http://schemas.microsoft.com/office/drawing/2014/main" id="{1F130AC7-BC3E-E8C0-9842-7A26649734C3}"/>
              </a:ext>
            </a:extLst>
          </p:cNvPr>
          <p:cNvPicPr>
            <a:picLocks noChangeAspect="1"/>
          </p:cNvPicPr>
          <p:nvPr/>
        </p:nvPicPr>
        <p:blipFill>
          <a:blip r:embed="rId3"/>
          <a:stretch>
            <a:fillRect/>
          </a:stretch>
        </p:blipFill>
        <p:spPr>
          <a:xfrm>
            <a:off x="2102846" y="1281639"/>
            <a:ext cx="8202617" cy="4697533"/>
          </a:xfrm>
          <a:prstGeom prst="rect">
            <a:avLst/>
          </a:prstGeom>
        </p:spPr>
      </p:pic>
    </p:spTree>
    <p:extLst>
      <p:ext uri="{BB962C8B-B14F-4D97-AF65-F5344CB8AC3E}">
        <p14:creationId xmlns:p14="http://schemas.microsoft.com/office/powerpoint/2010/main" val="41420417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3EFF4521-1AE2-7F35-9783-DBC1BEDD7C25}"/>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37BBE1EB-FBC4-1C2A-988F-1B9EF09E9ECC}"/>
              </a:ext>
            </a:extLst>
          </p:cNvPr>
          <p:cNvSpPr txBox="1">
            <a:spLocks noGrp="1"/>
          </p:cNvSpPr>
          <p:nvPr>
            <p:ph type="title"/>
          </p:nvPr>
        </p:nvSpPr>
        <p:spPr>
          <a:xfrm>
            <a:off x="838200" y="365126"/>
            <a:ext cx="10515600" cy="53933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Introduction </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C492E776-8000-3982-FDFD-287305FBE519}"/>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A8B8F8D2-895B-B55A-3611-B22358ABB96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7</a:t>
            </a:fld>
            <a:endParaRPr lang="en-GB" dirty="0">
              <a:latin typeface="Bookman Old Style" panose="02050604050505020204" pitchFamily="18" charset="0"/>
            </a:endParaRPr>
          </a:p>
        </p:txBody>
      </p:sp>
      <p:sp>
        <p:nvSpPr>
          <p:cNvPr id="5" name="Rectangle 1">
            <a:extLst>
              <a:ext uri="{FF2B5EF4-FFF2-40B4-BE49-F238E27FC236}">
                <a16:creationId xmlns:a16="http://schemas.microsoft.com/office/drawing/2014/main" id="{E0B706B2-C9F3-71D9-6D5F-FF595BAE1CCA}"/>
              </a:ext>
            </a:extLst>
          </p:cNvPr>
          <p:cNvSpPr>
            <a:spLocks noGrp="1" noChangeArrowheads="1"/>
          </p:cNvSpPr>
          <p:nvPr>
            <p:ph type="body" idx="1"/>
          </p:nvPr>
        </p:nvSpPr>
        <p:spPr bwMode="auto">
          <a:xfrm>
            <a:off x="661220" y="1292541"/>
            <a:ext cx="11334136" cy="29546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ClrTx/>
              <a:buSzTx/>
              <a:buNone/>
            </a:pPr>
            <a:r>
              <a:rPr lang="en-IN" sz="2200" b="1" dirty="0">
                <a:solidFill>
                  <a:srgbClr val="002060"/>
                </a:solidFill>
                <a:latin typeface="Bookman Old Style" panose="02050604050505020204" pitchFamily="18" charset="0"/>
              </a:rPr>
              <a:t>Real Time Data</a:t>
            </a:r>
          </a:p>
          <a:p>
            <a:pPr marL="342900" eaLnBrk="0" fontAlgn="base" hangingPunct="0">
              <a:lnSpc>
                <a:spcPct val="150000"/>
              </a:lnSpc>
              <a:spcBef>
                <a:spcPct val="0"/>
              </a:spcBef>
              <a:spcAft>
                <a:spcPct val="0"/>
              </a:spcAft>
              <a:buClrTx/>
              <a:buSzTx/>
            </a:pPr>
            <a:r>
              <a:rPr lang="en-US" sz="2000" dirty="0">
                <a:solidFill>
                  <a:srgbClr val="C00000"/>
                </a:solidFill>
                <a:latin typeface="Bookman Old Style" panose="02050604050505020204" pitchFamily="18" charset="0"/>
              </a:rPr>
              <a:t>Real-time data </a:t>
            </a:r>
            <a:r>
              <a:rPr lang="en-US" sz="2000" dirty="0">
                <a:latin typeface="Bookman Old Style" panose="02050604050505020204" pitchFamily="18" charset="0"/>
              </a:rPr>
              <a:t>is data that’s collected, processed, and analyzed on a continual basis.</a:t>
            </a:r>
          </a:p>
          <a:p>
            <a:pPr marL="800100" lvl="1" eaLnBrk="0" fontAlgn="base" hangingPunct="0">
              <a:lnSpc>
                <a:spcPct val="150000"/>
              </a:lnSpc>
              <a:spcBef>
                <a:spcPct val="0"/>
              </a:spcBef>
              <a:spcAft>
                <a:spcPct val="0"/>
              </a:spcAft>
              <a:buClrTx/>
              <a:buSzTx/>
            </a:pPr>
            <a:r>
              <a:rPr lang="en-US" sz="1600" dirty="0">
                <a:latin typeface="Bookman Old Style" panose="02050604050505020204" pitchFamily="18" charset="0"/>
              </a:rPr>
              <a:t>It’s information that’s available for use immediately after being generated.</a:t>
            </a:r>
          </a:p>
          <a:p>
            <a:pPr marL="800100" lvl="1" eaLnBrk="0" fontAlgn="base" hangingPunct="0">
              <a:lnSpc>
                <a:spcPct val="150000"/>
              </a:lnSpc>
              <a:spcBef>
                <a:spcPct val="0"/>
              </a:spcBef>
              <a:spcAft>
                <a:spcPct val="0"/>
              </a:spcAft>
              <a:buClrTx/>
              <a:buSzTx/>
            </a:pPr>
            <a:r>
              <a:rPr lang="en-US" sz="1600" dirty="0">
                <a:latin typeface="Bookman Old Style" panose="02050604050505020204" pitchFamily="18" charset="0"/>
              </a:rPr>
              <a:t>The data is categorized as hard , soft and Near </a:t>
            </a:r>
          </a:p>
          <a:p>
            <a:pPr marL="800100" lvl="1" eaLnBrk="0" fontAlgn="base" hangingPunct="0">
              <a:lnSpc>
                <a:spcPct val="150000"/>
              </a:lnSpc>
              <a:spcBef>
                <a:spcPct val="0"/>
              </a:spcBef>
              <a:spcAft>
                <a:spcPct val="0"/>
              </a:spcAft>
              <a:buClrTx/>
              <a:buSzTx/>
            </a:pPr>
            <a:endParaRPr lang="en-US" sz="1600" i="1" dirty="0">
              <a:latin typeface="Bookman Old Style" panose="02050604050505020204" pitchFamily="18" charset="0"/>
            </a:endParaRPr>
          </a:p>
          <a:p>
            <a:pPr marL="457200" lvl="1" indent="0" eaLnBrk="0" fontAlgn="base" hangingPunct="0">
              <a:lnSpc>
                <a:spcPct val="150000"/>
              </a:lnSpc>
              <a:spcBef>
                <a:spcPct val="0"/>
              </a:spcBef>
              <a:spcAft>
                <a:spcPct val="0"/>
              </a:spcAft>
              <a:buClrTx/>
              <a:buSzTx/>
              <a:buNone/>
            </a:pPr>
            <a:endParaRPr lang="en-IN" sz="1600" dirty="0">
              <a:latin typeface="Bookman Old Style" panose="02050604050505020204" pitchFamily="18" charset="0"/>
            </a:endParaRPr>
          </a:p>
          <a:p>
            <a:pPr marL="898525" indent="0" defTabSz="628650" eaLnBrk="0" fontAlgn="base" hangingPunct="0">
              <a:lnSpc>
                <a:spcPct val="150000"/>
              </a:lnSpc>
              <a:spcBef>
                <a:spcPct val="0"/>
              </a:spcBef>
              <a:spcAft>
                <a:spcPct val="0"/>
              </a:spcAft>
              <a:buClrTx/>
              <a:buSzTx/>
              <a:buFont typeface="Courier New" panose="02070309020205020404" pitchFamily="49" charset="0"/>
              <a:buChar char="o"/>
              <a:tabLst>
                <a:tab pos="982663" algn="l"/>
              </a:tabLst>
            </a:pPr>
            <a:endParaRPr lang="en-US" altLang="en-US" sz="1800" dirty="0">
              <a:latin typeface="Bookman Old Style" panose="02050604050505020204" pitchFamily="18" charset="0"/>
            </a:endParaRPr>
          </a:p>
        </p:txBody>
      </p:sp>
      <p:pic>
        <p:nvPicPr>
          <p:cNvPr id="6" name="Picture 5">
            <a:extLst>
              <a:ext uri="{FF2B5EF4-FFF2-40B4-BE49-F238E27FC236}">
                <a16:creationId xmlns:a16="http://schemas.microsoft.com/office/drawing/2014/main" id="{97F12392-6DBE-4C62-6DF7-519C1B01A1B8}"/>
              </a:ext>
            </a:extLst>
          </p:cNvPr>
          <p:cNvPicPr>
            <a:picLocks noChangeAspect="1"/>
          </p:cNvPicPr>
          <p:nvPr/>
        </p:nvPicPr>
        <p:blipFill>
          <a:blip r:embed="rId3"/>
          <a:stretch>
            <a:fillRect/>
          </a:stretch>
        </p:blipFill>
        <p:spPr>
          <a:xfrm>
            <a:off x="2538720" y="3130325"/>
            <a:ext cx="6524625" cy="3009900"/>
          </a:xfrm>
          <a:prstGeom prst="rect">
            <a:avLst/>
          </a:prstGeom>
        </p:spPr>
      </p:pic>
    </p:spTree>
    <p:extLst>
      <p:ext uri="{BB962C8B-B14F-4D97-AF65-F5344CB8AC3E}">
        <p14:creationId xmlns:p14="http://schemas.microsoft.com/office/powerpoint/2010/main" val="32309995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D8240D01-210B-5576-7864-33C24236EF78}"/>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EE42993E-DB6C-9383-59DB-1629B0A4D029}"/>
              </a:ext>
            </a:extLst>
          </p:cNvPr>
          <p:cNvSpPr txBox="1">
            <a:spLocks noGrp="1"/>
          </p:cNvSpPr>
          <p:nvPr>
            <p:ph type="title"/>
          </p:nvPr>
        </p:nvSpPr>
        <p:spPr>
          <a:xfrm>
            <a:off x="838200" y="365126"/>
            <a:ext cx="10515600" cy="53933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Introduction </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2BCACE0D-E477-1E18-5AFB-1F5B14C0A96B}"/>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D31085F2-7E97-7240-75CA-4B470102BC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8</a:t>
            </a:fld>
            <a:endParaRPr lang="en-GB" dirty="0">
              <a:latin typeface="Bookman Old Style" panose="02050604050505020204" pitchFamily="18" charset="0"/>
            </a:endParaRPr>
          </a:p>
        </p:txBody>
      </p:sp>
      <p:sp>
        <p:nvSpPr>
          <p:cNvPr id="5" name="Rectangle 1">
            <a:extLst>
              <a:ext uri="{FF2B5EF4-FFF2-40B4-BE49-F238E27FC236}">
                <a16:creationId xmlns:a16="http://schemas.microsoft.com/office/drawing/2014/main" id="{94313D4C-A70B-9038-5077-BA8BE46C931D}"/>
              </a:ext>
            </a:extLst>
          </p:cNvPr>
          <p:cNvSpPr>
            <a:spLocks noGrp="1" noChangeArrowheads="1"/>
          </p:cNvSpPr>
          <p:nvPr>
            <p:ph type="body" idx="1"/>
          </p:nvPr>
        </p:nvSpPr>
        <p:spPr bwMode="auto">
          <a:xfrm>
            <a:off x="661220" y="1287160"/>
            <a:ext cx="11334136"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ClrTx/>
              <a:buSzTx/>
              <a:buNone/>
            </a:pPr>
            <a:r>
              <a:rPr lang="en-IN" sz="2200" b="1" dirty="0">
                <a:solidFill>
                  <a:srgbClr val="002060"/>
                </a:solidFill>
                <a:latin typeface="Bookman Old Style" panose="02050604050505020204" pitchFamily="18" charset="0"/>
              </a:rPr>
              <a:t>Real Time Data</a:t>
            </a:r>
          </a:p>
          <a:p>
            <a:pPr marL="457200" lvl="1" indent="0" eaLnBrk="0" fontAlgn="base" hangingPunct="0">
              <a:lnSpc>
                <a:spcPct val="150000"/>
              </a:lnSpc>
              <a:spcBef>
                <a:spcPct val="0"/>
              </a:spcBef>
              <a:spcAft>
                <a:spcPct val="0"/>
              </a:spcAft>
              <a:buClrTx/>
              <a:buSzTx/>
              <a:buNone/>
            </a:pPr>
            <a:endParaRPr lang="en-IN" sz="1600" dirty="0">
              <a:latin typeface="Bookman Old Style" panose="02050604050505020204" pitchFamily="18" charset="0"/>
            </a:endParaRPr>
          </a:p>
          <a:p>
            <a:pPr marL="898525" indent="0" defTabSz="628650" eaLnBrk="0" fontAlgn="base" hangingPunct="0">
              <a:lnSpc>
                <a:spcPct val="150000"/>
              </a:lnSpc>
              <a:spcBef>
                <a:spcPct val="0"/>
              </a:spcBef>
              <a:spcAft>
                <a:spcPct val="0"/>
              </a:spcAft>
              <a:buClrTx/>
              <a:buSzTx/>
              <a:buFont typeface="Courier New" panose="02070309020205020404" pitchFamily="49" charset="0"/>
              <a:buChar char="o"/>
              <a:tabLst>
                <a:tab pos="982663" algn="l"/>
              </a:tabLst>
            </a:pPr>
            <a:endParaRPr lang="en-US" altLang="en-US" sz="1800" dirty="0">
              <a:latin typeface="Bookman Old Style" panose="02050604050505020204" pitchFamily="18" charset="0"/>
            </a:endParaRPr>
          </a:p>
        </p:txBody>
      </p:sp>
      <p:pic>
        <p:nvPicPr>
          <p:cNvPr id="9" name="Picture 8">
            <a:extLst>
              <a:ext uri="{FF2B5EF4-FFF2-40B4-BE49-F238E27FC236}">
                <a16:creationId xmlns:a16="http://schemas.microsoft.com/office/drawing/2014/main" id="{605CAAA8-5283-3A72-1B93-BDBD4408B652}"/>
              </a:ext>
            </a:extLst>
          </p:cNvPr>
          <p:cNvPicPr>
            <a:picLocks noChangeAspect="1"/>
          </p:cNvPicPr>
          <p:nvPr/>
        </p:nvPicPr>
        <p:blipFill>
          <a:blip r:embed="rId3"/>
          <a:stretch>
            <a:fillRect/>
          </a:stretch>
        </p:blipFill>
        <p:spPr>
          <a:xfrm>
            <a:off x="1345350" y="1979657"/>
            <a:ext cx="10304567" cy="3372191"/>
          </a:xfrm>
          <a:prstGeom prst="rect">
            <a:avLst/>
          </a:prstGeom>
        </p:spPr>
      </p:pic>
    </p:spTree>
    <p:extLst>
      <p:ext uri="{BB962C8B-B14F-4D97-AF65-F5344CB8AC3E}">
        <p14:creationId xmlns:p14="http://schemas.microsoft.com/office/powerpoint/2010/main" val="604439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CACF079A-E203-D9B9-CF5C-F57387C852A1}"/>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E5D2BDE3-59F9-FE92-637C-4C9BE0B54176}"/>
              </a:ext>
            </a:extLst>
          </p:cNvPr>
          <p:cNvSpPr txBox="1">
            <a:spLocks noGrp="1"/>
          </p:cNvSpPr>
          <p:nvPr>
            <p:ph type="title"/>
          </p:nvPr>
        </p:nvSpPr>
        <p:spPr>
          <a:xfrm>
            <a:off x="838200" y="365126"/>
            <a:ext cx="10515600" cy="53933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Introduction </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E5282062-0B19-E64B-E2E9-7D2ADF6FAA4B}"/>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D5E93B24-5EE9-DF60-A4A2-02D17189940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9</a:t>
            </a:fld>
            <a:endParaRPr lang="en-GB" dirty="0">
              <a:latin typeface="Bookman Old Style" panose="02050604050505020204" pitchFamily="18" charset="0"/>
            </a:endParaRPr>
          </a:p>
        </p:txBody>
      </p:sp>
      <p:sp>
        <p:nvSpPr>
          <p:cNvPr id="5" name="Rectangle 1">
            <a:extLst>
              <a:ext uri="{FF2B5EF4-FFF2-40B4-BE49-F238E27FC236}">
                <a16:creationId xmlns:a16="http://schemas.microsoft.com/office/drawing/2014/main" id="{2B949EDB-D5B1-687B-B093-BA69D400BBB6}"/>
              </a:ext>
            </a:extLst>
          </p:cNvPr>
          <p:cNvSpPr>
            <a:spLocks noGrp="1" noChangeArrowheads="1"/>
          </p:cNvSpPr>
          <p:nvPr>
            <p:ph type="body" idx="1"/>
          </p:nvPr>
        </p:nvSpPr>
        <p:spPr bwMode="auto">
          <a:xfrm>
            <a:off x="661220" y="1033245"/>
            <a:ext cx="11334136"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ClrTx/>
              <a:buSzTx/>
              <a:buNone/>
            </a:pPr>
            <a:r>
              <a:rPr lang="en-IN" sz="2200" b="1" dirty="0">
                <a:solidFill>
                  <a:srgbClr val="002060"/>
                </a:solidFill>
                <a:latin typeface="Bookman Old Style" panose="02050604050505020204" pitchFamily="18" charset="0"/>
              </a:rPr>
              <a:t>Soft vs Near real time</a:t>
            </a:r>
          </a:p>
          <a:p>
            <a:pPr marL="0" indent="0" eaLnBrk="0" fontAlgn="base" hangingPunct="0">
              <a:lnSpc>
                <a:spcPct val="150000"/>
              </a:lnSpc>
              <a:spcBef>
                <a:spcPct val="0"/>
              </a:spcBef>
              <a:spcAft>
                <a:spcPct val="0"/>
              </a:spcAft>
              <a:buClrTx/>
              <a:buSzTx/>
              <a:buNone/>
            </a:pPr>
            <a:endParaRPr lang="en-IN" sz="2200" b="1" dirty="0">
              <a:solidFill>
                <a:srgbClr val="002060"/>
              </a:solidFill>
              <a:latin typeface="Bookman Old Style" panose="02050604050505020204" pitchFamily="18" charset="0"/>
            </a:endParaRPr>
          </a:p>
          <a:p>
            <a:pPr marL="457200" lvl="1" indent="0" eaLnBrk="0" fontAlgn="base" hangingPunct="0">
              <a:lnSpc>
                <a:spcPct val="150000"/>
              </a:lnSpc>
              <a:spcBef>
                <a:spcPct val="0"/>
              </a:spcBef>
              <a:spcAft>
                <a:spcPct val="0"/>
              </a:spcAft>
              <a:buClrTx/>
              <a:buSzTx/>
              <a:buNone/>
            </a:pPr>
            <a:endParaRPr lang="en-IN" sz="1600" dirty="0">
              <a:latin typeface="Bookman Old Style" panose="02050604050505020204" pitchFamily="18" charset="0"/>
            </a:endParaRPr>
          </a:p>
          <a:p>
            <a:pPr marL="898525" indent="0" defTabSz="628650" eaLnBrk="0" fontAlgn="base" hangingPunct="0">
              <a:lnSpc>
                <a:spcPct val="150000"/>
              </a:lnSpc>
              <a:spcBef>
                <a:spcPct val="0"/>
              </a:spcBef>
              <a:spcAft>
                <a:spcPct val="0"/>
              </a:spcAft>
              <a:buClrTx/>
              <a:buSzTx/>
              <a:buFont typeface="Courier New" panose="02070309020205020404" pitchFamily="49" charset="0"/>
              <a:buChar char="o"/>
              <a:tabLst>
                <a:tab pos="982663" algn="l"/>
              </a:tabLst>
            </a:pPr>
            <a:endParaRPr lang="en-US" altLang="en-US" sz="1800" dirty="0">
              <a:latin typeface="Bookman Old Style" panose="02050604050505020204" pitchFamily="18" charset="0"/>
            </a:endParaRPr>
          </a:p>
        </p:txBody>
      </p:sp>
      <p:pic>
        <p:nvPicPr>
          <p:cNvPr id="6" name="Picture 5">
            <a:extLst>
              <a:ext uri="{FF2B5EF4-FFF2-40B4-BE49-F238E27FC236}">
                <a16:creationId xmlns:a16="http://schemas.microsoft.com/office/drawing/2014/main" id="{5DEB52E6-0CF9-D291-D4AF-4514A5C379EC}"/>
              </a:ext>
            </a:extLst>
          </p:cNvPr>
          <p:cNvPicPr>
            <a:picLocks noChangeAspect="1"/>
          </p:cNvPicPr>
          <p:nvPr/>
        </p:nvPicPr>
        <p:blipFill>
          <a:blip r:embed="rId3"/>
          <a:stretch>
            <a:fillRect/>
          </a:stretch>
        </p:blipFill>
        <p:spPr>
          <a:xfrm>
            <a:off x="1054746" y="1909557"/>
            <a:ext cx="10476034" cy="3783320"/>
          </a:xfrm>
          <a:prstGeom prst="rect">
            <a:avLst/>
          </a:prstGeom>
        </p:spPr>
      </p:pic>
    </p:spTree>
    <p:extLst>
      <p:ext uri="{BB962C8B-B14F-4D97-AF65-F5344CB8AC3E}">
        <p14:creationId xmlns:p14="http://schemas.microsoft.com/office/powerpoint/2010/main" val="575191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4A49FCD6-6E8A-B0F5-7D73-673994F3909B}"/>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039F351A-17A9-FA15-C158-B1EB5C4FF8CF}"/>
              </a:ext>
            </a:extLst>
          </p:cNvPr>
          <p:cNvSpPr txBox="1">
            <a:spLocks noGrp="1"/>
          </p:cNvSpPr>
          <p:nvPr>
            <p:ph type="title"/>
          </p:nvPr>
        </p:nvSpPr>
        <p:spPr>
          <a:xfrm>
            <a:off x="838200" y="365126"/>
            <a:ext cx="10515600" cy="53933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Introduction </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69D90FE2-8647-C422-B097-DF928B1AA095}"/>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54E5355C-73B4-5FA8-7763-1B3E002B964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10</a:t>
            </a:fld>
            <a:endParaRPr lang="en-GB" dirty="0">
              <a:latin typeface="Bookman Old Style" panose="02050604050505020204" pitchFamily="18" charset="0"/>
            </a:endParaRPr>
          </a:p>
        </p:txBody>
      </p:sp>
      <p:sp>
        <p:nvSpPr>
          <p:cNvPr id="5" name="Rectangle 1">
            <a:extLst>
              <a:ext uri="{FF2B5EF4-FFF2-40B4-BE49-F238E27FC236}">
                <a16:creationId xmlns:a16="http://schemas.microsoft.com/office/drawing/2014/main" id="{4F4400D1-CA83-97DF-42CE-9705EE02030D}"/>
              </a:ext>
            </a:extLst>
          </p:cNvPr>
          <p:cNvSpPr>
            <a:spLocks noGrp="1" noChangeArrowheads="1"/>
          </p:cNvSpPr>
          <p:nvPr>
            <p:ph type="body" idx="1"/>
          </p:nvPr>
        </p:nvSpPr>
        <p:spPr bwMode="auto">
          <a:xfrm>
            <a:off x="680884" y="1071782"/>
            <a:ext cx="11334136" cy="42934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ClrTx/>
              <a:buSzTx/>
              <a:buNone/>
            </a:pPr>
            <a:r>
              <a:rPr lang="en-IN" sz="2200" b="1" dirty="0">
                <a:solidFill>
                  <a:srgbClr val="002060"/>
                </a:solidFill>
                <a:latin typeface="Bookman Old Style" panose="02050604050505020204" pitchFamily="18" charset="0"/>
              </a:rPr>
              <a:t>Soft vs NEAR Real time – Use Cases </a:t>
            </a:r>
          </a:p>
          <a:p>
            <a:pPr marL="0" indent="0" eaLnBrk="0" fontAlgn="base" hangingPunct="0">
              <a:lnSpc>
                <a:spcPct val="150000"/>
              </a:lnSpc>
              <a:spcBef>
                <a:spcPct val="0"/>
              </a:spcBef>
              <a:spcAft>
                <a:spcPct val="0"/>
              </a:spcAft>
              <a:buClrTx/>
              <a:buSzTx/>
              <a:buNone/>
            </a:pPr>
            <a:r>
              <a:rPr lang="en-IN" sz="2200" b="1" dirty="0">
                <a:solidFill>
                  <a:srgbClr val="002060"/>
                </a:solidFill>
                <a:latin typeface="Bookman Old Style" panose="02050604050505020204" pitchFamily="18" charset="0"/>
              </a:rPr>
              <a:t>?? </a:t>
            </a:r>
            <a:r>
              <a:rPr lang="en-US" sz="2000" dirty="0">
                <a:latin typeface="Bookman Old Style" panose="02050604050505020204" pitchFamily="18" charset="0"/>
              </a:rPr>
              <a:t>because the overlap in their definitions often results in confusion</a:t>
            </a:r>
            <a:endParaRPr lang="en-IN" sz="2000" dirty="0">
              <a:latin typeface="Bookman Old Style" panose="02050604050505020204" pitchFamily="18" charset="0"/>
            </a:endParaRPr>
          </a:p>
          <a:p>
            <a:pPr marL="800100" lvl="1" eaLnBrk="0" fontAlgn="base" hangingPunct="0">
              <a:lnSpc>
                <a:spcPct val="150000"/>
              </a:lnSpc>
              <a:spcBef>
                <a:spcPct val="0"/>
              </a:spcBef>
              <a:spcAft>
                <a:spcPct val="0"/>
              </a:spcAft>
              <a:buClrTx/>
              <a:buSzTx/>
              <a:buFont typeface="Wingdings" panose="05000000000000000000" pitchFamily="2" charset="2"/>
              <a:buChar char="q"/>
            </a:pPr>
            <a:r>
              <a:rPr lang="en-US" sz="2000" dirty="0">
                <a:latin typeface="Bookman Old Style" panose="02050604050505020204" pitchFamily="18" charset="0"/>
              </a:rPr>
              <a:t>Someone you are following on Twitter posts a tweet, and moments later you see the tweet in your Twitter client. </a:t>
            </a:r>
          </a:p>
          <a:p>
            <a:pPr marL="800100" lvl="1" eaLnBrk="0" fontAlgn="base" hangingPunct="0">
              <a:lnSpc>
                <a:spcPct val="150000"/>
              </a:lnSpc>
              <a:spcBef>
                <a:spcPct val="0"/>
              </a:spcBef>
              <a:spcAft>
                <a:spcPct val="0"/>
              </a:spcAft>
              <a:buClrTx/>
              <a:buSzTx/>
              <a:buFont typeface="Wingdings" panose="05000000000000000000" pitchFamily="2" charset="2"/>
              <a:buChar char="q"/>
            </a:pPr>
            <a:r>
              <a:rPr lang="en-US" sz="2000" dirty="0">
                <a:latin typeface="Bookman Old Style" panose="02050604050505020204" pitchFamily="18" charset="0"/>
              </a:rPr>
              <a:t>You are tracking flights around New York using the real-time Live Flight Track </a:t>
            </a:r>
            <a:r>
              <a:rPr lang="en-US" sz="2000" dirty="0" err="1">
                <a:latin typeface="Bookman Old Style" panose="02050604050505020204" pitchFamily="18" charset="0"/>
              </a:rPr>
              <a:t>ing</a:t>
            </a:r>
            <a:r>
              <a:rPr lang="en-US" sz="2000" dirty="0">
                <a:latin typeface="Bookman Old Style" panose="02050604050505020204" pitchFamily="18" charset="0"/>
              </a:rPr>
              <a:t> service from FlightAware </a:t>
            </a:r>
          </a:p>
          <a:p>
            <a:pPr marL="800100" lvl="1" eaLnBrk="0" fontAlgn="base" hangingPunct="0">
              <a:lnSpc>
                <a:spcPct val="150000"/>
              </a:lnSpc>
              <a:spcBef>
                <a:spcPct val="0"/>
              </a:spcBef>
              <a:spcAft>
                <a:spcPct val="0"/>
              </a:spcAft>
              <a:buClrTx/>
              <a:buSzTx/>
              <a:buFont typeface="Wingdings" panose="05000000000000000000" pitchFamily="2" charset="2"/>
              <a:buChar char="q"/>
            </a:pPr>
            <a:r>
              <a:rPr lang="en-US" sz="2000" dirty="0">
                <a:latin typeface="Bookman Old Style" panose="02050604050505020204" pitchFamily="18" charset="0"/>
              </a:rPr>
              <a:t>You are using the NASDAQ Real Time Quotes application to track your favorite stocks.</a:t>
            </a:r>
            <a:endParaRPr lang="en-IN" sz="2000" dirty="0">
              <a:latin typeface="Bookman Old Style" panose="02050604050505020204" pitchFamily="18" charset="0"/>
            </a:endParaRPr>
          </a:p>
          <a:p>
            <a:pPr marL="898525" indent="0" defTabSz="628650" eaLnBrk="0" fontAlgn="base" hangingPunct="0">
              <a:lnSpc>
                <a:spcPct val="150000"/>
              </a:lnSpc>
              <a:spcBef>
                <a:spcPct val="0"/>
              </a:spcBef>
              <a:spcAft>
                <a:spcPct val="0"/>
              </a:spcAft>
              <a:buClrTx/>
              <a:buSzTx/>
              <a:buNone/>
              <a:tabLst>
                <a:tab pos="982663" algn="l"/>
              </a:tabLst>
            </a:pPr>
            <a:endParaRPr lang="en-US" altLang="en-US" sz="1800" dirty="0">
              <a:latin typeface="Bookman Old Style" panose="02050604050505020204" pitchFamily="18" charset="0"/>
            </a:endParaRPr>
          </a:p>
        </p:txBody>
      </p:sp>
      <p:sp>
        <p:nvSpPr>
          <p:cNvPr id="7" name="TextBox 6">
            <a:extLst>
              <a:ext uri="{FF2B5EF4-FFF2-40B4-BE49-F238E27FC236}">
                <a16:creationId xmlns:a16="http://schemas.microsoft.com/office/drawing/2014/main" id="{C0A5F136-15D8-D132-E20F-6C51A02BCE92}"/>
              </a:ext>
            </a:extLst>
          </p:cNvPr>
          <p:cNvSpPr txBox="1"/>
          <p:nvPr/>
        </p:nvSpPr>
        <p:spPr>
          <a:xfrm>
            <a:off x="926690" y="5024753"/>
            <a:ext cx="10427110" cy="1015663"/>
          </a:xfrm>
          <a:prstGeom prst="rect">
            <a:avLst/>
          </a:prstGeom>
          <a:noFill/>
        </p:spPr>
        <p:txBody>
          <a:bodyPr wrap="square">
            <a:spAutoFit/>
          </a:bodyPr>
          <a:lstStyle/>
          <a:p>
            <a:r>
              <a:rPr lang="en-US" sz="2000" dirty="0">
                <a:solidFill>
                  <a:schemeClr val="dk1"/>
                </a:solidFill>
                <a:latin typeface="Bookman Old Style" panose="02050604050505020204" pitchFamily="18" charset="0"/>
                <a:ea typeface="Calibri"/>
                <a:cs typeface="Calibri"/>
                <a:sym typeface="Calibri"/>
              </a:rPr>
              <a:t>In each of the examples, is it reasonable to conclude that the time delay may only</a:t>
            </a:r>
            <a:r>
              <a:rPr lang="en-US" sz="1400" dirty="0">
                <a:solidFill>
                  <a:schemeClr val="dk1"/>
                </a:solidFill>
                <a:latin typeface="Bookman Old Style" panose="02050604050505020204" pitchFamily="18" charset="0"/>
                <a:ea typeface="Calibri"/>
                <a:cs typeface="Calibri"/>
                <a:sym typeface="Calibri"/>
              </a:rPr>
              <a:t> </a:t>
            </a:r>
            <a:r>
              <a:rPr lang="en-US" sz="2000" dirty="0">
                <a:solidFill>
                  <a:schemeClr val="dk1"/>
                </a:solidFill>
                <a:latin typeface="Bookman Old Style" panose="02050604050505020204" pitchFamily="18" charset="0"/>
                <a:ea typeface="Calibri"/>
                <a:cs typeface="Calibri"/>
                <a:sym typeface="Calibri"/>
              </a:rPr>
              <a:t>last for seconds, no life is at risk, and an occasional delay for minutes would not cause total system failure? </a:t>
            </a:r>
            <a:endParaRPr lang="en-IN" sz="2000" dirty="0">
              <a:solidFill>
                <a:schemeClr val="dk1"/>
              </a:solidFill>
              <a:latin typeface="Bookman Old Style" panose="02050604050505020204" pitchFamily="18" charset="0"/>
              <a:ea typeface="Calibri"/>
              <a:cs typeface="Calibri"/>
              <a:sym typeface="Calibri"/>
            </a:endParaRPr>
          </a:p>
        </p:txBody>
      </p:sp>
    </p:spTree>
    <p:extLst>
      <p:ext uri="{BB962C8B-B14F-4D97-AF65-F5344CB8AC3E}">
        <p14:creationId xmlns:p14="http://schemas.microsoft.com/office/powerpoint/2010/main" val="13249316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CE5DE12A-5AF2-3BDA-7210-545B5A3D97A3}"/>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C44607FE-F32E-8548-AFDD-A6AC3366366C}"/>
              </a:ext>
            </a:extLst>
          </p:cNvPr>
          <p:cNvSpPr txBox="1">
            <a:spLocks noGrp="1"/>
          </p:cNvSpPr>
          <p:nvPr>
            <p:ph type="title"/>
          </p:nvPr>
        </p:nvSpPr>
        <p:spPr>
          <a:xfrm>
            <a:off x="838200" y="365126"/>
            <a:ext cx="10515600" cy="53933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Introduction </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10F8E4A9-D754-6CA1-6121-DD12B2B2C165}"/>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04675054-B00C-7E67-4414-E0E732FDE15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11</a:t>
            </a:fld>
            <a:endParaRPr lang="en-GB" dirty="0">
              <a:latin typeface="Bookman Old Style" panose="02050604050505020204" pitchFamily="18" charset="0"/>
            </a:endParaRPr>
          </a:p>
        </p:txBody>
      </p:sp>
      <p:sp>
        <p:nvSpPr>
          <p:cNvPr id="5" name="Rectangle 1">
            <a:extLst>
              <a:ext uri="{FF2B5EF4-FFF2-40B4-BE49-F238E27FC236}">
                <a16:creationId xmlns:a16="http://schemas.microsoft.com/office/drawing/2014/main" id="{CDF74856-7585-9CB2-8347-DA1A39D851BF}"/>
              </a:ext>
            </a:extLst>
          </p:cNvPr>
          <p:cNvSpPr>
            <a:spLocks noGrp="1" noChangeArrowheads="1"/>
          </p:cNvSpPr>
          <p:nvPr>
            <p:ph type="body" idx="1"/>
          </p:nvPr>
        </p:nvSpPr>
        <p:spPr bwMode="auto">
          <a:xfrm>
            <a:off x="671051" y="1343543"/>
            <a:ext cx="11334136" cy="60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ClrTx/>
              <a:buSzTx/>
              <a:buNone/>
            </a:pPr>
            <a:r>
              <a:rPr lang="en-IN" sz="2200" b="1" dirty="0">
                <a:solidFill>
                  <a:srgbClr val="002060"/>
                </a:solidFill>
                <a:latin typeface="Bookman Old Style" panose="02050604050505020204" pitchFamily="18" charset="0"/>
              </a:rPr>
              <a:t>Soft vs Non Real time</a:t>
            </a:r>
            <a:endParaRPr lang="en-US" altLang="en-US" sz="1800" dirty="0">
              <a:latin typeface="Bookman Old Style" panose="02050604050505020204" pitchFamily="18" charset="0"/>
            </a:endParaRPr>
          </a:p>
        </p:txBody>
      </p:sp>
      <p:pic>
        <p:nvPicPr>
          <p:cNvPr id="6" name="Picture 5">
            <a:extLst>
              <a:ext uri="{FF2B5EF4-FFF2-40B4-BE49-F238E27FC236}">
                <a16:creationId xmlns:a16="http://schemas.microsoft.com/office/drawing/2014/main" id="{965E0E7A-C96D-C737-2DCD-B0C4BCA7AC6F}"/>
              </a:ext>
            </a:extLst>
          </p:cNvPr>
          <p:cNvPicPr>
            <a:picLocks noChangeAspect="1"/>
          </p:cNvPicPr>
          <p:nvPr/>
        </p:nvPicPr>
        <p:blipFill>
          <a:blip r:embed="rId3"/>
          <a:stretch>
            <a:fillRect/>
          </a:stretch>
        </p:blipFill>
        <p:spPr>
          <a:xfrm>
            <a:off x="484240" y="2382789"/>
            <a:ext cx="6079610" cy="3222485"/>
          </a:xfrm>
          <a:prstGeom prst="rect">
            <a:avLst/>
          </a:prstGeom>
        </p:spPr>
      </p:pic>
      <p:pic>
        <p:nvPicPr>
          <p:cNvPr id="15" name="Picture 14">
            <a:extLst>
              <a:ext uri="{FF2B5EF4-FFF2-40B4-BE49-F238E27FC236}">
                <a16:creationId xmlns:a16="http://schemas.microsoft.com/office/drawing/2014/main" id="{72B7A2DD-3433-DDE5-064B-B14896FE034D}"/>
              </a:ext>
            </a:extLst>
          </p:cNvPr>
          <p:cNvPicPr>
            <a:picLocks noChangeAspect="1"/>
          </p:cNvPicPr>
          <p:nvPr/>
        </p:nvPicPr>
        <p:blipFill>
          <a:blip r:embed="rId4"/>
          <a:stretch>
            <a:fillRect/>
          </a:stretch>
        </p:blipFill>
        <p:spPr>
          <a:xfrm>
            <a:off x="5931521" y="2382789"/>
            <a:ext cx="6073666" cy="2781229"/>
          </a:xfrm>
          <a:prstGeom prst="rect">
            <a:avLst/>
          </a:prstGeom>
        </p:spPr>
      </p:pic>
    </p:spTree>
    <p:extLst>
      <p:ext uri="{BB962C8B-B14F-4D97-AF65-F5344CB8AC3E}">
        <p14:creationId xmlns:p14="http://schemas.microsoft.com/office/powerpoint/2010/main" val="756819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5948DC73-59A4-CABF-C62E-55BF26B229C9}"/>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EA4D3183-C186-3841-2402-15157EDA99D6}"/>
              </a:ext>
            </a:extLst>
          </p:cNvPr>
          <p:cNvSpPr txBox="1">
            <a:spLocks noGrp="1"/>
          </p:cNvSpPr>
          <p:nvPr>
            <p:ph type="title"/>
          </p:nvPr>
        </p:nvSpPr>
        <p:spPr>
          <a:xfrm>
            <a:off x="838200" y="365126"/>
            <a:ext cx="10515600" cy="53933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Introduction </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C2AE6D89-4FBD-65DE-82CC-8BF600AA5751}"/>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717B19E9-EB6E-0F12-C656-1052701A99D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12</a:t>
            </a:fld>
            <a:endParaRPr lang="en-GB" dirty="0">
              <a:latin typeface="Bookman Old Style" panose="02050604050505020204" pitchFamily="18" charset="0"/>
            </a:endParaRPr>
          </a:p>
        </p:txBody>
      </p:sp>
      <p:sp>
        <p:nvSpPr>
          <p:cNvPr id="5" name="Rectangle 1">
            <a:extLst>
              <a:ext uri="{FF2B5EF4-FFF2-40B4-BE49-F238E27FC236}">
                <a16:creationId xmlns:a16="http://schemas.microsoft.com/office/drawing/2014/main" id="{52E78F5C-497A-F359-117B-A1EFB40F592F}"/>
              </a:ext>
            </a:extLst>
          </p:cNvPr>
          <p:cNvSpPr>
            <a:spLocks noGrp="1" noChangeArrowheads="1"/>
          </p:cNvSpPr>
          <p:nvPr>
            <p:ph type="body" idx="1"/>
          </p:nvPr>
        </p:nvSpPr>
        <p:spPr bwMode="auto">
          <a:xfrm>
            <a:off x="671051" y="1135794"/>
            <a:ext cx="1133413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ClrTx/>
              <a:buSzTx/>
              <a:buNone/>
            </a:pPr>
            <a:r>
              <a:rPr lang="en-IN" sz="2200" b="1" dirty="0">
                <a:solidFill>
                  <a:srgbClr val="002060"/>
                </a:solidFill>
                <a:latin typeface="Bookman Old Style" panose="02050604050505020204" pitchFamily="18" charset="0"/>
              </a:rPr>
              <a:t>Soft vs Non Real time – Use Cases </a:t>
            </a:r>
          </a:p>
          <a:p>
            <a:pPr marL="898525" indent="0" defTabSz="628650" eaLnBrk="0" fontAlgn="base" hangingPunct="0">
              <a:lnSpc>
                <a:spcPct val="150000"/>
              </a:lnSpc>
              <a:spcBef>
                <a:spcPct val="0"/>
              </a:spcBef>
              <a:spcAft>
                <a:spcPct val="0"/>
              </a:spcAft>
              <a:buClrTx/>
              <a:buSzTx/>
              <a:buNone/>
              <a:tabLst>
                <a:tab pos="982663" algn="l"/>
              </a:tabLst>
            </a:pPr>
            <a:endParaRPr lang="en-US" altLang="en-US" sz="1800" dirty="0">
              <a:latin typeface="Bookman Old Style" panose="02050604050505020204" pitchFamily="18" charset="0"/>
            </a:endParaRPr>
          </a:p>
        </p:txBody>
      </p:sp>
      <p:sp>
        <p:nvSpPr>
          <p:cNvPr id="7" name="TextBox 6">
            <a:extLst>
              <a:ext uri="{FF2B5EF4-FFF2-40B4-BE49-F238E27FC236}">
                <a16:creationId xmlns:a16="http://schemas.microsoft.com/office/drawing/2014/main" id="{4180D8AE-17B5-3B21-E370-7C55F16A1755}"/>
              </a:ext>
            </a:extLst>
          </p:cNvPr>
          <p:cNvSpPr txBox="1"/>
          <p:nvPr/>
        </p:nvSpPr>
        <p:spPr>
          <a:xfrm>
            <a:off x="671050" y="1804031"/>
            <a:ext cx="11137491" cy="4656788"/>
          </a:xfrm>
          <a:prstGeom prst="rect">
            <a:avLst/>
          </a:prstGeom>
          <a:noFill/>
        </p:spPr>
        <p:txBody>
          <a:bodyPr wrap="square">
            <a:spAutoFit/>
          </a:bodyPr>
          <a:lstStyle/>
          <a:p>
            <a:pPr algn="just">
              <a:lnSpc>
                <a:spcPct val="150000"/>
              </a:lnSpc>
            </a:pPr>
            <a:r>
              <a:rPr lang="en-US" sz="2000" dirty="0">
                <a:solidFill>
                  <a:srgbClr val="FF0000"/>
                </a:solidFill>
                <a:latin typeface="Bookman Old Style" panose="02050604050505020204" pitchFamily="18" charset="0"/>
                <a:ea typeface="Calibri"/>
                <a:cs typeface="Calibri"/>
                <a:sym typeface="Calibri"/>
              </a:rPr>
              <a:t>In a soft real-time system</a:t>
            </a:r>
            <a:r>
              <a:rPr lang="en-US" sz="2000" dirty="0">
                <a:solidFill>
                  <a:schemeClr val="dk1"/>
                </a:solidFill>
                <a:latin typeface="Bookman Old Style" panose="02050604050505020204" pitchFamily="18" charset="0"/>
                <a:ea typeface="Calibri"/>
                <a:cs typeface="Calibri"/>
                <a:sym typeface="Calibri"/>
              </a:rPr>
              <a:t>, delays are tolerable to some extent, while timely responses are preferred, occasional delays won't cause significant issues. </a:t>
            </a:r>
          </a:p>
          <a:p>
            <a:pPr algn="just">
              <a:lnSpc>
                <a:spcPct val="150000"/>
              </a:lnSpc>
            </a:pPr>
            <a:r>
              <a:rPr lang="en-US" sz="2000" dirty="0">
                <a:solidFill>
                  <a:schemeClr val="dk1"/>
                </a:solidFill>
                <a:latin typeface="Bookman Old Style" panose="02050604050505020204" pitchFamily="18" charset="0"/>
                <a:ea typeface="Calibri"/>
                <a:cs typeface="Calibri"/>
                <a:sym typeface="Calibri"/>
              </a:rPr>
              <a:t>Examples include video streaming services where slight buffering might be acceptable.</a:t>
            </a:r>
          </a:p>
          <a:p>
            <a:pPr algn="just">
              <a:lnSpc>
                <a:spcPct val="150000"/>
              </a:lnSpc>
            </a:pPr>
            <a:r>
              <a:rPr lang="en-US" sz="2000" dirty="0">
                <a:solidFill>
                  <a:schemeClr val="dk1"/>
                </a:solidFill>
                <a:latin typeface="Bookman Old Style" panose="02050604050505020204" pitchFamily="18" charset="0"/>
                <a:ea typeface="Calibri"/>
                <a:cs typeface="Calibri"/>
                <a:sym typeface="Calibri"/>
              </a:rPr>
              <a:t>N</a:t>
            </a:r>
            <a:r>
              <a:rPr lang="en-US" sz="2000" dirty="0">
                <a:solidFill>
                  <a:srgbClr val="FF0000"/>
                </a:solidFill>
                <a:latin typeface="Bookman Old Style" panose="02050604050505020204" pitchFamily="18" charset="0"/>
                <a:ea typeface="Calibri"/>
                <a:cs typeface="Calibri"/>
                <a:sym typeface="Calibri"/>
              </a:rPr>
              <a:t>ear real-time systems </a:t>
            </a:r>
            <a:r>
              <a:rPr lang="en-US" sz="2000" dirty="0">
                <a:solidFill>
                  <a:schemeClr val="dk1"/>
                </a:solidFill>
                <a:latin typeface="Bookman Old Style" panose="02050604050505020204" pitchFamily="18" charset="0"/>
                <a:ea typeface="Calibri"/>
                <a:cs typeface="Calibri"/>
                <a:sym typeface="Calibri"/>
              </a:rPr>
              <a:t>aim to minimize delays as much as possible, striving for responses that are almost instantaneous. </a:t>
            </a:r>
          </a:p>
          <a:p>
            <a:pPr algn="just">
              <a:lnSpc>
                <a:spcPct val="150000"/>
              </a:lnSpc>
            </a:pPr>
            <a:r>
              <a:rPr lang="en-US" sz="2000" dirty="0">
                <a:solidFill>
                  <a:schemeClr val="dk1"/>
                </a:solidFill>
                <a:latin typeface="Bookman Old Style" panose="02050604050505020204" pitchFamily="18" charset="0"/>
                <a:ea typeface="Calibri"/>
                <a:cs typeface="Calibri"/>
                <a:sym typeface="Calibri"/>
              </a:rPr>
              <a:t>These systems are crucial in scenarios where even minor delays can impact performance or user experience, such as in financial trading platforms or certain medical applications.</a:t>
            </a:r>
          </a:p>
          <a:p>
            <a:pPr algn="just">
              <a:lnSpc>
                <a:spcPct val="150000"/>
              </a:lnSpc>
            </a:pPr>
            <a:r>
              <a:rPr lang="en-US" sz="2000" dirty="0">
                <a:solidFill>
                  <a:schemeClr val="dk1"/>
                </a:solidFill>
                <a:latin typeface="Bookman Old Style" panose="02050604050505020204" pitchFamily="18" charset="0"/>
                <a:ea typeface="Calibri"/>
                <a:cs typeface="Calibri"/>
              </a:rPr>
              <a:t>The key difference lies in the criticality of the timing requirements and the impact of delays on the overall system performance and user satisfaction.</a:t>
            </a:r>
            <a:endParaRPr lang="en-IN" sz="2000" dirty="0">
              <a:solidFill>
                <a:schemeClr val="dk1"/>
              </a:solidFill>
              <a:latin typeface="Bookman Old Style" panose="02050604050505020204" pitchFamily="18" charset="0"/>
              <a:ea typeface="Calibri"/>
              <a:cs typeface="Calibri"/>
              <a:sym typeface="Calibri"/>
            </a:endParaRPr>
          </a:p>
        </p:txBody>
      </p:sp>
    </p:spTree>
    <p:extLst>
      <p:ext uri="{BB962C8B-B14F-4D97-AF65-F5344CB8AC3E}">
        <p14:creationId xmlns:p14="http://schemas.microsoft.com/office/powerpoint/2010/main" val="2932124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479B551C-9AE6-4613-6AC9-D75EB5F847CA}"/>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6F62AC7A-FC8E-5FFB-BBA7-3453EEA799F9}"/>
              </a:ext>
            </a:extLst>
          </p:cNvPr>
          <p:cNvSpPr txBox="1">
            <a:spLocks noGrp="1"/>
          </p:cNvSpPr>
          <p:nvPr>
            <p:ph type="title"/>
          </p:nvPr>
        </p:nvSpPr>
        <p:spPr>
          <a:xfrm>
            <a:off x="838200" y="365126"/>
            <a:ext cx="10515600" cy="53933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Introduction </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AE8841E2-6634-9659-824F-E1D6FC52D8CD}"/>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3471B94E-F054-CB39-843A-163D2A8E64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13</a:t>
            </a:fld>
            <a:endParaRPr lang="en-GB" dirty="0">
              <a:latin typeface="Bookman Old Style" panose="02050604050505020204" pitchFamily="18" charset="0"/>
            </a:endParaRPr>
          </a:p>
        </p:txBody>
      </p:sp>
      <p:sp>
        <p:nvSpPr>
          <p:cNvPr id="5" name="Rectangle 1">
            <a:extLst>
              <a:ext uri="{FF2B5EF4-FFF2-40B4-BE49-F238E27FC236}">
                <a16:creationId xmlns:a16="http://schemas.microsoft.com/office/drawing/2014/main" id="{CBC8EAF9-4AA6-D554-1AC3-9D867FE8DB78}"/>
              </a:ext>
            </a:extLst>
          </p:cNvPr>
          <p:cNvSpPr>
            <a:spLocks noGrp="1" noChangeArrowheads="1"/>
          </p:cNvSpPr>
          <p:nvPr>
            <p:ph type="body" idx="1"/>
          </p:nvPr>
        </p:nvSpPr>
        <p:spPr bwMode="auto">
          <a:xfrm>
            <a:off x="671051" y="1135794"/>
            <a:ext cx="1133413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ClrTx/>
              <a:buSzTx/>
              <a:buNone/>
            </a:pPr>
            <a:r>
              <a:rPr lang="en-IN" sz="2200" b="1" dirty="0">
                <a:solidFill>
                  <a:srgbClr val="002060"/>
                </a:solidFill>
                <a:latin typeface="Bookman Old Style" panose="02050604050505020204" pitchFamily="18" charset="0"/>
              </a:rPr>
              <a:t>Soft vs Non Real time</a:t>
            </a:r>
          </a:p>
          <a:p>
            <a:pPr marL="898525" indent="0" defTabSz="628650" eaLnBrk="0" fontAlgn="base" hangingPunct="0">
              <a:lnSpc>
                <a:spcPct val="150000"/>
              </a:lnSpc>
              <a:spcBef>
                <a:spcPct val="0"/>
              </a:spcBef>
              <a:spcAft>
                <a:spcPct val="0"/>
              </a:spcAft>
              <a:buClrTx/>
              <a:buSzTx/>
              <a:buNone/>
              <a:tabLst>
                <a:tab pos="982663" algn="l"/>
              </a:tabLst>
            </a:pPr>
            <a:endParaRPr lang="en-US" altLang="en-US" sz="1800" dirty="0">
              <a:latin typeface="Bookman Old Style" panose="02050604050505020204" pitchFamily="18" charset="0"/>
            </a:endParaRPr>
          </a:p>
        </p:txBody>
      </p:sp>
      <p:pic>
        <p:nvPicPr>
          <p:cNvPr id="6" name="Picture 5">
            <a:extLst>
              <a:ext uri="{FF2B5EF4-FFF2-40B4-BE49-F238E27FC236}">
                <a16:creationId xmlns:a16="http://schemas.microsoft.com/office/drawing/2014/main" id="{65CC8ACA-B00A-7478-E479-1DF27AEAC834}"/>
              </a:ext>
            </a:extLst>
          </p:cNvPr>
          <p:cNvPicPr>
            <a:picLocks noChangeAspect="1"/>
          </p:cNvPicPr>
          <p:nvPr/>
        </p:nvPicPr>
        <p:blipFill>
          <a:blip r:embed="rId3"/>
          <a:stretch>
            <a:fillRect/>
          </a:stretch>
        </p:blipFill>
        <p:spPr>
          <a:xfrm>
            <a:off x="2387327" y="1781259"/>
            <a:ext cx="6972983" cy="4288427"/>
          </a:xfrm>
          <a:prstGeom prst="rect">
            <a:avLst/>
          </a:prstGeom>
        </p:spPr>
      </p:pic>
    </p:spTree>
    <p:extLst>
      <p:ext uri="{BB962C8B-B14F-4D97-AF65-F5344CB8AC3E}">
        <p14:creationId xmlns:p14="http://schemas.microsoft.com/office/powerpoint/2010/main" val="3789365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BE8CD6B1-98A1-A145-48A7-41C8A6D443CF}"/>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107CB651-66A4-F9DC-E85C-B5EC4EB587E5}"/>
              </a:ext>
            </a:extLst>
          </p:cNvPr>
          <p:cNvSpPr txBox="1">
            <a:spLocks noGrp="1"/>
          </p:cNvSpPr>
          <p:nvPr>
            <p:ph type="title"/>
          </p:nvPr>
        </p:nvSpPr>
        <p:spPr>
          <a:xfrm>
            <a:off x="838200" y="365126"/>
            <a:ext cx="10515600" cy="53933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Streaming Data System </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F3A43232-6368-C7E9-B7F4-D27FB77DD668}"/>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2A13E7DA-DCD2-9F58-8679-5BA3A42BFA6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14</a:t>
            </a:fld>
            <a:endParaRPr lang="en-GB" dirty="0">
              <a:latin typeface="Bookman Old Style" panose="02050604050505020204" pitchFamily="18" charset="0"/>
            </a:endParaRPr>
          </a:p>
        </p:txBody>
      </p:sp>
      <p:sp>
        <p:nvSpPr>
          <p:cNvPr id="5" name="Rectangle 1">
            <a:extLst>
              <a:ext uri="{FF2B5EF4-FFF2-40B4-BE49-F238E27FC236}">
                <a16:creationId xmlns:a16="http://schemas.microsoft.com/office/drawing/2014/main" id="{0BF4D9A5-FB92-1B1B-4902-EB1FD8B61859}"/>
              </a:ext>
            </a:extLst>
          </p:cNvPr>
          <p:cNvSpPr>
            <a:spLocks noGrp="1" noChangeArrowheads="1"/>
          </p:cNvSpPr>
          <p:nvPr>
            <p:ph type="body" idx="1"/>
          </p:nvPr>
        </p:nvSpPr>
        <p:spPr bwMode="auto">
          <a:xfrm>
            <a:off x="739876" y="583418"/>
            <a:ext cx="11334136" cy="6093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ClrTx/>
              <a:buSzTx/>
              <a:buNone/>
            </a:pPr>
            <a:r>
              <a:rPr lang="en-IN" sz="2200" b="1" dirty="0">
                <a:solidFill>
                  <a:srgbClr val="002060"/>
                </a:solidFill>
                <a:latin typeface="Bookman Old Style" panose="02050604050505020204" pitchFamily="18" charset="0"/>
              </a:rPr>
              <a:t>Streaming Data System</a:t>
            </a:r>
          </a:p>
          <a:p>
            <a:pPr marL="342900" eaLnBrk="0" fontAlgn="base" hangingPunct="0">
              <a:lnSpc>
                <a:spcPct val="150000"/>
              </a:lnSpc>
              <a:spcBef>
                <a:spcPct val="0"/>
              </a:spcBef>
              <a:spcAft>
                <a:spcPct val="0"/>
              </a:spcAft>
              <a:buClrTx/>
              <a:buSzTx/>
            </a:pPr>
            <a:r>
              <a:rPr lang="en-US" sz="2000" dirty="0">
                <a:latin typeface="Bookman Old Style" panose="02050604050505020204" pitchFamily="18" charset="0"/>
                <a:sym typeface="Arial"/>
              </a:rPr>
              <a:t>the computation part of the system is operating in a non-hard real-time fashion, but the clients may not be consuming the data in real time due to network delays, application design, or a client application that isn’t even running. </a:t>
            </a:r>
          </a:p>
          <a:p>
            <a:pPr marL="342900" eaLnBrk="0" fontAlgn="base" hangingPunct="0">
              <a:lnSpc>
                <a:spcPct val="150000"/>
              </a:lnSpc>
              <a:spcBef>
                <a:spcPct val="0"/>
              </a:spcBef>
              <a:spcAft>
                <a:spcPct val="0"/>
              </a:spcAft>
              <a:buClrTx/>
              <a:buSzTx/>
            </a:pPr>
            <a:r>
              <a:rPr lang="en-US" sz="2000" dirty="0">
                <a:latin typeface="Bookman Old Style" panose="02050604050505020204" pitchFamily="18" charset="0"/>
                <a:sym typeface="Arial"/>
              </a:rPr>
              <a:t>what we have is a non-hard real-time service with clients that consume data when they need it</a:t>
            </a:r>
            <a:r>
              <a:rPr lang="en-US" sz="2000" b="1" dirty="0">
                <a:solidFill>
                  <a:srgbClr val="C00000"/>
                </a:solidFill>
                <a:latin typeface="Bookman Old Style" panose="02050604050505020204" pitchFamily="18" charset="0"/>
                <a:sym typeface="Arial"/>
              </a:rPr>
              <a:t>. </a:t>
            </a:r>
          </a:p>
          <a:p>
            <a:pPr marL="342900" eaLnBrk="0" fontAlgn="base" hangingPunct="0">
              <a:lnSpc>
                <a:spcPct val="150000"/>
              </a:lnSpc>
              <a:spcBef>
                <a:spcPct val="0"/>
              </a:spcBef>
              <a:spcAft>
                <a:spcPct val="0"/>
              </a:spcAft>
              <a:buClrTx/>
              <a:buSzTx/>
            </a:pPr>
            <a:r>
              <a:rPr lang="en-US" sz="2000" b="1" dirty="0">
                <a:solidFill>
                  <a:srgbClr val="C00000"/>
                </a:solidFill>
                <a:latin typeface="Bookman Old Style" panose="02050604050505020204" pitchFamily="18" charset="0"/>
                <a:sym typeface="Arial"/>
              </a:rPr>
              <a:t>This is called a streaming data system</a:t>
            </a:r>
            <a:r>
              <a:rPr lang="en-US" sz="2000" dirty="0">
                <a:latin typeface="Bookman Old Style" panose="02050604050505020204" pitchFamily="18" charset="0"/>
                <a:sym typeface="Arial"/>
              </a:rPr>
              <a:t>—a non-hard real-time system that makes its data available at the moment a client application needs it. </a:t>
            </a:r>
          </a:p>
          <a:p>
            <a:pPr marL="342900" eaLnBrk="0" fontAlgn="base" hangingPunct="0">
              <a:lnSpc>
                <a:spcPct val="150000"/>
              </a:lnSpc>
              <a:spcBef>
                <a:spcPct val="0"/>
              </a:spcBef>
              <a:spcAft>
                <a:spcPct val="0"/>
              </a:spcAft>
              <a:buClrTx/>
              <a:buSzTx/>
            </a:pPr>
            <a:r>
              <a:rPr lang="en-US" sz="2000" b="1" dirty="0">
                <a:solidFill>
                  <a:srgbClr val="C00000"/>
                </a:solidFill>
                <a:latin typeface="Bookman Old Style" panose="02050604050505020204" pitchFamily="18" charset="0"/>
                <a:sym typeface="Arial"/>
              </a:rPr>
              <a:t>It’s neither soft nor near—it is streaming. </a:t>
            </a:r>
          </a:p>
          <a:p>
            <a:pPr marL="342900" eaLnBrk="0" fontAlgn="base" hangingPunct="0">
              <a:lnSpc>
                <a:spcPct val="150000"/>
              </a:lnSpc>
              <a:spcBef>
                <a:spcPct val="0"/>
              </a:spcBef>
              <a:spcAft>
                <a:spcPct val="0"/>
              </a:spcAft>
              <a:buClrTx/>
              <a:buSzTx/>
            </a:pPr>
            <a:r>
              <a:rPr lang="en-US" sz="2000" dirty="0">
                <a:latin typeface="Bookman Old Style" panose="02050604050505020204" pitchFamily="18" charset="0"/>
              </a:rPr>
              <a:t>Data streaming refers to the continuous transfer of data at a high velocity, enabling real-time processing and insights. </a:t>
            </a:r>
            <a:endParaRPr lang="en-IN" sz="2000" dirty="0">
              <a:latin typeface="Bookman Old Style" panose="02050604050505020204" pitchFamily="18" charset="0"/>
              <a:sym typeface="Arial"/>
            </a:endParaRPr>
          </a:p>
          <a:p>
            <a:pPr marL="0" indent="0" eaLnBrk="0" fontAlgn="base" hangingPunct="0">
              <a:lnSpc>
                <a:spcPct val="150000"/>
              </a:lnSpc>
              <a:spcBef>
                <a:spcPct val="0"/>
              </a:spcBef>
              <a:spcAft>
                <a:spcPct val="0"/>
              </a:spcAft>
              <a:buClrTx/>
              <a:buSzTx/>
              <a:buNone/>
            </a:pPr>
            <a:endParaRPr lang="en-IN" sz="2000" b="1" dirty="0">
              <a:solidFill>
                <a:srgbClr val="C00000"/>
              </a:solidFill>
              <a:latin typeface="Bookman Old Style" panose="02050604050505020204" pitchFamily="18" charset="0"/>
              <a:sym typeface="Arial"/>
            </a:endParaRPr>
          </a:p>
          <a:p>
            <a:pPr marL="898525" indent="0" defTabSz="628650" eaLnBrk="0" fontAlgn="base" hangingPunct="0">
              <a:lnSpc>
                <a:spcPct val="150000"/>
              </a:lnSpc>
              <a:spcBef>
                <a:spcPct val="0"/>
              </a:spcBef>
              <a:spcAft>
                <a:spcPct val="0"/>
              </a:spcAft>
              <a:buClrTx/>
              <a:buSzTx/>
              <a:buNone/>
              <a:tabLst>
                <a:tab pos="982663" algn="l"/>
              </a:tabLst>
            </a:pPr>
            <a:endParaRPr lang="en-US" altLang="en-US" sz="1800" dirty="0">
              <a:latin typeface="Bookman Old Style" panose="02050604050505020204" pitchFamily="18" charset="0"/>
            </a:endParaRPr>
          </a:p>
        </p:txBody>
      </p:sp>
    </p:spTree>
    <p:extLst>
      <p:ext uri="{BB962C8B-B14F-4D97-AF65-F5344CB8AC3E}">
        <p14:creationId xmlns:p14="http://schemas.microsoft.com/office/powerpoint/2010/main" val="23780666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8BB7FABA-2F3A-E7A4-CBE8-103C54892B95}"/>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99603699-FF5D-6DD1-0967-8A95BA158F4D}"/>
              </a:ext>
            </a:extLst>
          </p:cNvPr>
          <p:cNvSpPr txBox="1">
            <a:spLocks noGrp="1"/>
          </p:cNvSpPr>
          <p:nvPr>
            <p:ph type="title"/>
          </p:nvPr>
        </p:nvSpPr>
        <p:spPr>
          <a:xfrm>
            <a:off x="838200" y="365126"/>
            <a:ext cx="10515600" cy="53933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Streaming Data System </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892A9F34-2CE9-D3C2-58F3-2562237B9130}"/>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24714CEB-EFB5-678C-4B20-A841B9EBA5B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15</a:t>
            </a:fld>
            <a:endParaRPr lang="en-GB" dirty="0">
              <a:latin typeface="Bookman Old Style" panose="02050604050505020204" pitchFamily="18" charset="0"/>
            </a:endParaRPr>
          </a:p>
        </p:txBody>
      </p:sp>
      <p:pic>
        <p:nvPicPr>
          <p:cNvPr id="6" name="Picture 5">
            <a:extLst>
              <a:ext uri="{FF2B5EF4-FFF2-40B4-BE49-F238E27FC236}">
                <a16:creationId xmlns:a16="http://schemas.microsoft.com/office/drawing/2014/main" id="{B75513AA-B880-E5FB-1DDE-83D376ED840F}"/>
              </a:ext>
            </a:extLst>
          </p:cNvPr>
          <p:cNvPicPr>
            <a:picLocks noChangeAspect="1"/>
          </p:cNvPicPr>
          <p:nvPr/>
        </p:nvPicPr>
        <p:blipFill>
          <a:blip r:embed="rId3"/>
          <a:stretch>
            <a:fillRect/>
          </a:stretch>
        </p:blipFill>
        <p:spPr>
          <a:xfrm>
            <a:off x="2379691" y="1718979"/>
            <a:ext cx="7247355" cy="4231847"/>
          </a:xfrm>
          <a:prstGeom prst="rect">
            <a:avLst/>
          </a:prstGeom>
        </p:spPr>
      </p:pic>
    </p:spTree>
    <p:extLst>
      <p:ext uri="{BB962C8B-B14F-4D97-AF65-F5344CB8AC3E}">
        <p14:creationId xmlns:p14="http://schemas.microsoft.com/office/powerpoint/2010/main" val="3078143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DCB21368-9D6D-E6FD-D876-965B76C0BAF5}"/>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29CAF0C4-CDF6-71A4-E29C-DEC1318B6EC7}"/>
              </a:ext>
            </a:extLst>
          </p:cNvPr>
          <p:cNvSpPr txBox="1">
            <a:spLocks noGrp="1"/>
          </p:cNvSpPr>
          <p:nvPr>
            <p:ph type="title"/>
          </p:nvPr>
        </p:nvSpPr>
        <p:spPr>
          <a:xfrm>
            <a:off x="838200" y="365126"/>
            <a:ext cx="10515600" cy="53933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Streaming Data System </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5B074B73-90F7-9F1F-106E-0ECDC6F0D6E0}"/>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4BC0AD71-6F93-B2B4-1D52-066FAA62C54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16</a:t>
            </a:fld>
            <a:endParaRPr lang="en-GB" dirty="0">
              <a:latin typeface="Bookman Old Style" panose="02050604050505020204" pitchFamily="18" charset="0"/>
            </a:endParaRPr>
          </a:p>
        </p:txBody>
      </p:sp>
      <p:sp>
        <p:nvSpPr>
          <p:cNvPr id="4" name="Rectangle 1">
            <a:extLst>
              <a:ext uri="{FF2B5EF4-FFF2-40B4-BE49-F238E27FC236}">
                <a16:creationId xmlns:a16="http://schemas.microsoft.com/office/drawing/2014/main" id="{181347BF-AF9F-0C02-E97E-BF444F73D327}"/>
              </a:ext>
            </a:extLst>
          </p:cNvPr>
          <p:cNvSpPr>
            <a:spLocks noGrp="1" noChangeArrowheads="1"/>
          </p:cNvSpPr>
          <p:nvPr>
            <p:ph type="body" idx="1"/>
          </p:nvPr>
        </p:nvSpPr>
        <p:spPr bwMode="auto">
          <a:xfrm>
            <a:off x="533398" y="985639"/>
            <a:ext cx="11334136"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ClrTx/>
              <a:buSzTx/>
              <a:buNone/>
            </a:pPr>
            <a:r>
              <a:rPr lang="en-IN" sz="2200" b="1" dirty="0">
                <a:solidFill>
                  <a:srgbClr val="002060"/>
                </a:solidFill>
                <a:latin typeface="Bookman Old Style" panose="02050604050505020204" pitchFamily="18" charset="0"/>
              </a:rPr>
              <a:t>Redoing the Use Case : </a:t>
            </a:r>
          </a:p>
          <a:p>
            <a:pPr marL="0" indent="0" eaLnBrk="0" fontAlgn="base" hangingPunct="0">
              <a:lnSpc>
                <a:spcPct val="150000"/>
              </a:lnSpc>
              <a:spcBef>
                <a:spcPct val="0"/>
              </a:spcBef>
              <a:spcAft>
                <a:spcPct val="0"/>
              </a:spcAft>
              <a:buClrTx/>
              <a:buSzTx/>
              <a:buNone/>
            </a:pPr>
            <a:r>
              <a:rPr lang="en-US" sz="2000" dirty="0">
                <a:latin typeface="Bookman Old Style" panose="02050604050505020204" pitchFamily="18" charset="0"/>
              </a:rPr>
              <a:t>Twitter—A streaming system that processes tweets and allows clients to request the latest tweets at the moment they are needed; some may be seconds old, and others may be hours old. </a:t>
            </a:r>
          </a:p>
          <a:p>
            <a:pPr marL="0" indent="0" eaLnBrk="0" fontAlgn="base" hangingPunct="0">
              <a:lnSpc>
                <a:spcPct val="150000"/>
              </a:lnSpc>
              <a:spcBef>
                <a:spcPct val="0"/>
              </a:spcBef>
              <a:spcAft>
                <a:spcPct val="0"/>
              </a:spcAft>
              <a:buClrTx/>
              <a:buSzTx/>
              <a:buNone/>
            </a:pPr>
            <a:r>
              <a:rPr lang="en-US" sz="2000" dirty="0">
                <a:latin typeface="Bookman Old Style" panose="02050604050505020204" pitchFamily="18" charset="0"/>
              </a:rPr>
              <a:t>FlightAware—A streaming system that processes the most recent flight status data and allows a client to request the latest data for particular airports or flights. </a:t>
            </a:r>
          </a:p>
          <a:p>
            <a:pPr marL="0" indent="0" eaLnBrk="0" fontAlgn="base" hangingPunct="0">
              <a:lnSpc>
                <a:spcPct val="150000"/>
              </a:lnSpc>
              <a:spcBef>
                <a:spcPct val="0"/>
              </a:spcBef>
              <a:spcAft>
                <a:spcPct val="0"/>
              </a:spcAft>
              <a:buClrTx/>
              <a:buSzTx/>
              <a:buNone/>
            </a:pPr>
            <a:r>
              <a:rPr lang="en-US" sz="2000" dirty="0">
                <a:latin typeface="Bookman Old Style" panose="02050604050505020204" pitchFamily="18" charset="0"/>
              </a:rPr>
              <a:t>NASDAQ Real Time Quotes—A streaming system that processes the price quotes of all stocks and allows clients to request the latest quote for particular stocks.</a:t>
            </a:r>
            <a:endParaRPr lang="en-IN" sz="2000" dirty="0">
              <a:latin typeface="Bookman Old Style" panose="02050604050505020204" pitchFamily="18" charset="0"/>
              <a:sym typeface="Arial"/>
            </a:endParaRPr>
          </a:p>
          <a:p>
            <a:pPr marL="898525" indent="0" defTabSz="628650" eaLnBrk="0" fontAlgn="base" hangingPunct="0">
              <a:lnSpc>
                <a:spcPct val="150000"/>
              </a:lnSpc>
              <a:spcBef>
                <a:spcPct val="0"/>
              </a:spcBef>
              <a:spcAft>
                <a:spcPct val="0"/>
              </a:spcAft>
              <a:buClrTx/>
              <a:buSzTx/>
              <a:buNone/>
              <a:tabLst>
                <a:tab pos="982663" algn="l"/>
              </a:tabLst>
            </a:pPr>
            <a:endParaRPr lang="en-US" altLang="en-US" sz="1800" dirty="0">
              <a:latin typeface="Bookman Old Style" panose="02050604050505020204" pitchFamily="18" charset="0"/>
            </a:endParaRPr>
          </a:p>
        </p:txBody>
      </p:sp>
    </p:spTree>
    <p:extLst>
      <p:ext uri="{BB962C8B-B14F-4D97-AF65-F5344CB8AC3E}">
        <p14:creationId xmlns:p14="http://schemas.microsoft.com/office/powerpoint/2010/main" val="35245930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4DC03CB4-6817-EC07-91AC-C009016EB415}"/>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82DC52C0-10C3-74C8-CB00-3295FB9C8083}"/>
              </a:ext>
            </a:extLst>
          </p:cNvPr>
          <p:cNvSpPr txBox="1">
            <a:spLocks noGrp="1"/>
          </p:cNvSpPr>
          <p:nvPr>
            <p:ph type="title"/>
          </p:nvPr>
        </p:nvSpPr>
        <p:spPr>
          <a:xfrm>
            <a:off x="838200" y="365126"/>
            <a:ext cx="10515600" cy="53933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Streaming Data System </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E72A14E6-2286-5234-5A8C-B98D7DA8CB8E}"/>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163CF4CB-84D8-C258-B2A9-84AA9C44E99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17</a:t>
            </a:fld>
            <a:endParaRPr lang="en-GB" dirty="0">
              <a:latin typeface="Bookman Old Style" panose="02050604050505020204" pitchFamily="18" charset="0"/>
            </a:endParaRPr>
          </a:p>
        </p:txBody>
      </p:sp>
      <p:sp>
        <p:nvSpPr>
          <p:cNvPr id="4" name="Rectangle 1">
            <a:extLst>
              <a:ext uri="{FF2B5EF4-FFF2-40B4-BE49-F238E27FC236}">
                <a16:creationId xmlns:a16="http://schemas.microsoft.com/office/drawing/2014/main" id="{21F734B2-D4F7-F054-1415-C76215D3D178}"/>
              </a:ext>
            </a:extLst>
          </p:cNvPr>
          <p:cNvSpPr>
            <a:spLocks noGrp="1" noChangeArrowheads="1"/>
          </p:cNvSpPr>
          <p:nvPr>
            <p:ph type="body" idx="1"/>
          </p:nvPr>
        </p:nvSpPr>
        <p:spPr bwMode="auto">
          <a:xfrm>
            <a:off x="533398" y="1216474"/>
            <a:ext cx="1133413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ClrTx/>
              <a:buSzTx/>
              <a:buNone/>
            </a:pPr>
            <a:r>
              <a:rPr lang="en-IN" sz="2200" b="1" dirty="0">
                <a:solidFill>
                  <a:srgbClr val="002060"/>
                </a:solidFill>
                <a:latin typeface="Bookman Old Style" panose="02050604050505020204" pitchFamily="18" charset="0"/>
              </a:rPr>
              <a:t>Need for Streaming Data : </a:t>
            </a:r>
          </a:p>
          <a:p>
            <a:pPr indent="-457200" eaLnBrk="0" fontAlgn="base" hangingPunct="0">
              <a:lnSpc>
                <a:spcPct val="150000"/>
              </a:lnSpc>
              <a:spcBef>
                <a:spcPct val="0"/>
              </a:spcBef>
              <a:spcAft>
                <a:spcPct val="0"/>
              </a:spcAft>
              <a:buClrTx/>
              <a:buSzTx/>
              <a:buAutoNum type="arabicPeriod"/>
            </a:pPr>
            <a:r>
              <a:rPr lang="en-US" sz="2000" dirty="0">
                <a:latin typeface="Bookman Old Style" panose="02050604050505020204" pitchFamily="18" charset="0"/>
              </a:rPr>
              <a:t>Some data naturally comes as a never-ending stream of events.</a:t>
            </a:r>
          </a:p>
          <a:p>
            <a:pPr indent="-457200" eaLnBrk="0" fontAlgn="base" hangingPunct="0">
              <a:lnSpc>
                <a:spcPct val="150000"/>
              </a:lnSpc>
              <a:spcBef>
                <a:spcPct val="0"/>
              </a:spcBef>
              <a:spcAft>
                <a:spcPct val="0"/>
              </a:spcAft>
              <a:buClrTx/>
              <a:buSzTx/>
              <a:buAutoNum type="arabicPeriod"/>
            </a:pPr>
            <a:r>
              <a:rPr lang="en-US" sz="2000" dirty="0">
                <a:latin typeface="Bookman Old Style" panose="02050604050505020204" pitchFamily="18" charset="0"/>
              </a:rPr>
              <a:t>Batch processing lets the data build up and try to process them at once while stream processing process data as they come in hence spread the processing over time</a:t>
            </a:r>
          </a:p>
          <a:p>
            <a:pPr indent="-457200" eaLnBrk="0" fontAlgn="base" hangingPunct="0">
              <a:lnSpc>
                <a:spcPct val="150000"/>
              </a:lnSpc>
              <a:spcBef>
                <a:spcPct val="0"/>
              </a:spcBef>
              <a:spcAft>
                <a:spcPct val="0"/>
              </a:spcAft>
              <a:buClrTx/>
              <a:buSzTx/>
              <a:buAutoNum type="arabicPeriod"/>
            </a:pPr>
            <a:r>
              <a:rPr lang="en-US" sz="2000" dirty="0">
                <a:latin typeface="Bookman Old Style" panose="02050604050505020204" pitchFamily="18" charset="0"/>
              </a:rPr>
              <a:t>Data is huge and it is not even possible to store it.</a:t>
            </a:r>
          </a:p>
          <a:p>
            <a:pPr indent="-457200" eaLnBrk="0" fontAlgn="base" hangingPunct="0">
              <a:lnSpc>
                <a:spcPct val="150000"/>
              </a:lnSpc>
              <a:spcBef>
                <a:spcPct val="0"/>
              </a:spcBef>
              <a:spcAft>
                <a:spcPct val="0"/>
              </a:spcAft>
              <a:buClrTx/>
              <a:buSzTx/>
              <a:buAutoNum type="arabicPeriod"/>
            </a:pPr>
            <a:r>
              <a:rPr lang="en-US" sz="2000" dirty="0">
                <a:latin typeface="Bookman Old Style" panose="02050604050505020204" pitchFamily="18" charset="0"/>
              </a:rPr>
              <a:t>There are a lot of streaming data available ( e.g. customer transactions, activities, website visits) and they will grow faster with IoT use cases ( all kind of sensors).</a:t>
            </a:r>
            <a:endParaRPr lang="en-IN" sz="2000" dirty="0">
              <a:latin typeface="Bookman Old Style" panose="02050604050505020204" pitchFamily="18" charset="0"/>
              <a:sym typeface="Arial"/>
            </a:endParaRPr>
          </a:p>
          <a:p>
            <a:pPr marL="898525" indent="0" defTabSz="628650" eaLnBrk="0" fontAlgn="base" hangingPunct="0">
              <a:lnSpc>
                <a:spcPct val="150000"/>
              </a:lnSpc>
              <a:spcBef>
                <a:spcPct val="0"/>
              </a:spcBef>
              <a:spcAft>
                <a:spcPct val="0"/>
              </a:spcAft>
              <a:buClrTx/>
              <a:buSzTx/>
              <a:buNone/>
              <a:tabLst>
                <a:tab pos="982663" algn="l"/>
              </a:tabLst>
            </a:pPr>
            <a:endParaRPr lang="en-US" altLang="en-US" sz="1800" dirty="0">
              <a:latin typeface="Bookman Old Style" panose="02050604050505020204" pitchFamily="18" charset="0"/>
            </a:endParaRPr>
          </a:p>
        </p:txBody>
      </p:sp>
    </p:spTree>
    <p:extLst>
      <p:ext uri="{BB962C8B-B14F-4D97-AF65-F5344CB8AC3E}">
        <p14:creationId xmlns:p14="http://schemas.microsoft.com/office/powerpoint/2010/main" val="3686130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4B9C36A8-D7ED-CC35-068C-BAD733232F8D}"/>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3AFF5CAD-48A2-870B-2B48-ACF6692EC573}"/>
              </a:ext>
            </a:extLst>
          </p:cNvPr>
          <p:cNvSpPr txBox="1">
            <a:spLocks noGrp="1"/>
          </p:cNvSpPr>
          <p:nvPr>
            <p:ph type="title"/>
          </p:nvPr>
        </p:nvSpPr>
        <p:spPr>
          <a:xfrm>
            <a:off x="838200" y="365126"/>
            <a:ext cx="10515600" cy="53933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Streaming Data System </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3EB1B82C-E611-DB1D-E959-44D160E534B3}"/>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9756D019-1CC1-05F3-8834-85A0EF46F05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18</a:t>
            </a:fld>
            <a:endParaRPr lang="en-GB" dirty="0">
              <a:latin typeface="Bookman Old Style" panose="02050604050505020204" pitchFamily="18" charset="0"/>
            </a:endParaRPr>
          </a:p>
        </p:txBody>
      </p:sp>
      <p:sp>
        <p:nvSpPr>
          <p:cNvPr id="4" name="Rectangle 1">
            <a:extLst>
              <a:ext uri="{FF2B5EF4-FFF2-40B4-BE49-F238E27FC236}">
                <a16:creationId xmlns:a16="http://schemas.microsoft.com/office/drawing/2014/main" id="{127F0498-8D49-3C17-6729-EF3AC0DF078C}"/>
              </a:ext>
            </a:extLst>
          </p:cNvPr>
          <p:cNvSpPr>
            <a:spLocks noGrp="1" noChangeArrowheads="1"/>
          </p:cNvSpPr>
          <p:nvPr>
            <p:ph type="body" idx="1"/>
          </p:nvPr>
        </p:nvSpPr>
        <p:spPr bwMode="auto">
          <a:xfrm>
            <a:off x="533398" y="1447308"/>
            <a:ext cx="11334136"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50000"/>
              </a:lnSpc>
              <a:spcBef>
                <a:spcPct val="0"/>
              </a:spcBef>
              <a:spcAft>
                <a:spcPct val="0"/>
              </a:spcAft>
              <a:buClrTx/>
              <a:buSzTx/>
              <a:buNone/>
            </a:pPr>
            <a:r>
              <a:rPr lang="en-IN" sz="2200" b="1" dirty="0">
                <a:solidFill>
                  <a:srgbClr val="002060"/>
                </a:solidFill>
                <a:latin typeface="Bookman Old Style" panose="02050604050505020204" pitchFamily="18" charset="0"/>
              </a:rPr>
              <a:t>Features / characteristics of Streaming Data : </a:t>
            </a:r>
          </a:p>
          <a:p>
            <a:pPr indent="-457200" eaLnBrk="0" fontAlgn="base" hangingPunct="0">
              <a:lnSpc>
                <a:spcPct val="150000"/>
              </a:lnSpc>
              <a:spcBef>
                <a:spcPct val="0"/>
              </a:spcBef>
              <a:spcAft>
                <a:spcPct val="0"/>
              </a:spcAft>
              <a:buClrTx/>
              <a:buSzTx/>
              <a:buFont typeface="Arial"/>
              <a:buAutoNum type="arabicPeriod"/>
            </a:pPr>
            <a:r>
              <a:rPr lang="en-IN" sz="2000" dirty="0">
                <a:latin typeface="Bookman Old Style" panose="02050604050505020204" pitchFamily="18" charset="0"/>
              </a:rPr>
              <a:t>Chronological Significance – Need to maintain the order of flow of data </a:t>
            </a:r>
          </a:p>
          <a:p>
            <a:pPr indent="-457200" eaLnBrk="0" fontAlgn="base" hangingPunct="0">
              <a:lnSpc>
                <a:spcPct val="150000"/>
              </a:lnSpc>
              <a:spcBef>
                <a:spcPct val="0"/>
              </a:spcBef>
              <a:spcAft>
                <a:spcPct val="0"/>
              </a:spcAft>
              <a:buClrTx/>
              <a:buSzTx/>
              <a:buAutoNum type="arabicPeriod"/>
            </a:pPr>
            <a:r>
              <a:rPr lang="en-US" sz="2000" dirty="0">
                <a:latin typeface="Bookman Old Style" panose="02050604050505020204" pitchFamily="18" charset="0"/>
              </a:rPr>
              <a:t>Continuous Flow </a:t>
            </a:r>
          </a:p>
          <a:p>
            <a:pPr indent="-457200" eaLnBrk="0" fontAlgn="base" hangingPunct="0">
              <a:lnSpc>
                <a:spcPct val="150000"/>
              </a:lnSpc>
              <a:spcBef>
                <a:spcPct val="0"/>
              </a:spcBef>
              <a:spcAft>
                <a:spcPct val="0"/>
              </a:spcAft>
              <a:buClrTx/>
              <a:buSzTx/>
              <a:buAutoNum type="arabicPeriod"/>
            </a:pPr>
            <a:r>
              <a:rPr lang="en-US" sz="2000" dirty="0">
                <a:latin typeface="Bookman Old Style" panose="02050604050505020204" pitchFamily="18" charset="0"/>
              </a:rPr>
              <a:t>Uniqueness</a:t>
            </a:r>
          </a:p>
          <a:p>
            <a:pPr indent="-457200" eaLnBrk="0" fontAlgn="base" hangingPunct="0">
              <a:lnSpc>
                <a:spcPct val="150000"/>
              </a:lnSpc>
              <a:spcBef>
                <a:spcPct val="0"/>
              </a:spcBef>
              <a:spcAft>
                <a:spcPct val="0"/>
              </a:spcAft>
              <a:buClrTx/>
              <a:buSzTx/>
              <a:buAutoNum type="arabicPeriod"/>
            </a:pPr>
            <a:r>
              <a:rPr lang="en-US" sz="2000" dirty="0">
                <a:latin typeface="Bookman Old Style" panose="02050604050505020204" pitchFamily="18" charset="0"/>
              </a:rPr>
              <a:t>Non homogeneity</a:t>
            </a:r>
          </a:p>
          <a:p>
            <a:pPr indent="-457200" eaLnBrk="0" fontAlgn="base" hangingPunct="0">
              <a:lnSpc>
                <a:spcPct val="150000"/>
              </a:lnSpc>
              <a:spcBef>
                <a:spcPct val="0"/>
              </a:spcBef>
              <a:spcAft>
                <a:spcPct val="0"/>
              </a:spcAft>
              <a:buClrTx/>
              <a:buSzTx/>
              <a:buAutoNum type="arabicPeriod"/>
            </a:pPr>
            <a:r>
              <a:rPr lang="en-US" sz="2000" dirty="0">
                <a:latin typeface="Bookman Old Style" panose="02050604050505020204" pitchFamily="18" charset="0"/>
              </a:rPr>
              <a:t>Imperfection </a:t>
            </a:r>
          </a:p>
          <a:p>
            <a:pPr marL="898525" indent="0" defTabSz="628650" eaLnBrk="0" fontAlgn="base" hangingPunct="0">
              <a:lnSpc>
                <a:spcPct val="150000"/>
              </a:lnSpc>
              <a:spcBef>
                <a:spcPct val="0"/>
              </a:spcBef>
              <a:spcAft>
                <a:spcPct val="0"/>
              </a:spcAft>
              <a:buClrTx/>
              <a:buSzTx/>
              <a:buNone/>
              <a:tabLst>
                <a:tab pos="982663" algn="l"/>
              </a:tabLst>
            </a:pPr>
            <a:endParaRPr lang="en-US" altLang="en-US" sz="1800" dirty="0">
              <a:latin typeface="Bookman Old Style" panose="02050604050505020204" pitchFamily="18" charset="0"/>
            </a:endParaRPr>
          </a:p>
        </p:txBody>
      </p:sp>
    </p:spTree>
    <p:extLst>
      <p:ext uri="{BB962C8B-B14F-4D97-AF65-F5344CB8AC3E}">
        <p14:creationId xmlns:p14="http://schemas.microsoft.com/office/powerpoint/2010/main" val="1844153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C35959DB-F8AB-5377-B0FF-13F0619A5432}"/>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3C6E4EAF-9416-1E65-C12E-85F13904B7B9}"/>
              </a:ext>
            </a:extLst>
          </p:cNvPr>
          <p:cNvSpPr txBox="1">
            <a:spLocks noGrp="1"/>
          </p:cNvSpPr>
          <p:nvPr>
            <p:ph type="title"/>
          </p:nvPr>
        </p:nvSpPr>
        <p:spPr>
          <a:xfrm>
            <a:off x="838200" y="365126"/>
            <a:ext cx="10515600" cy="53933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Streaming Data Architecture</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BC398AB7-DB4B-4B6A-7399-1542B6D92E2B}"/>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C9F25B05-2F8E-84E3-19AB-A461DCA0F95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19</a:t>
            </a:fld>
            <a:endParaRPr lang="en-GB" dirty="0">
              <a:latin typeface="Bookman Old Style" panose="02050604050505020204" pitchFamily="18" charset="0"/>
            </a:endParaRPr>
          </a:p>
        </p:txBody>
      </p:sp>
      <p:pic>
        <p:nvPicPr>
          <p:cNvPr id="6" name="Picture 5">
            <a:extLst>
              <a:ext uri="{FF2B5EF4-FFF2-40B4-BE49-F238E27FC236}">
                <a16:creationId xmlns:a16="http://schemas.microsoft.com/office/drawing/2014/main" id="{5CA66046-13A8-8D96-7559-E441A55C3F27}"/>
              </a:ext>
            </a:extLst>
          </p:cNvPr>
          <p:cNvPicPr>
            <a:picLocks noChangeAspect="1"/>
          </p:cNvPicPr>
          <p:nvPr/>
        </p:nvPicPr>
        <p:blipFill>
          <a:blip r:embed="rId3"/>
          <a:stretch>
            <a:fillRect/>
          </a:stretch>
        </p:blipFill>
        <p:spPr>
          <a:xfrm>
            <a:off x="2785683" y="1022119"/>
            <a:ext cx="7196517" cy="5334231"/>
          </a:xfrm>
          <a:prstGeom prst="rect">
            <a:avLst/>
          </a:prstGeom>
        </p:spPr>
      </p:pic>
    </p:spTree>
    <p:extLst>
      <p:ext uri="{BB962C8B-B14F-4D97-AF65-F5344CB8AC3E}">
        <p14:creationId xmlns:p14="http://schemas.microsoft.com/office/powerpoint/2010/main" val="2190339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084215A5-579D-C9D2-39A4-810ED8B892BC}"/>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790C0ED5-63A4-2349-6257-3829B0B72EBF}"/>
              </a:ext>
            </a:extLst>
          </p:cNvPr>
          <p:cNvSpPr txBox="1">
            <a:spLocks noGrp="1"/>
          </p:cNvSpPr>
          <p:nvPr>
            <p:ph type="title"/>
          </p:nvPr>
        </p:nvSpPr>
        <p:spPr>
          <a:xfrm>
            <a:off x="838200" y="365126"/>
            <a:ext cx="10515600" cy="539336"/>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Streaming Data Architecture</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17229F22-358F-D28E-6B2C-430A7B3C3118}"/>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41D93B2F-9F42-578F-73CC-7B58B6D53F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20</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238E8BE3-450F-9BFA-C61E-B8FB20C21CC1}"/>
              </a:ext>
            </a:extLst>
          </p:cNvPr>
          <p:cNvSpPr txBox="1"/>
          <p:nvPr/>
        </p:nvSpPr>
        <p:spPr>
          <a:xfrm>
            <a:off x="533399" y="1001250"/>
            <a:ext cx="11461955" cy="5117940"/>
          </a:xfrm>
          <a:prstGeom prst="rect">
            <a:avLst/>
          </a:prstGeom>
          <a:noFill/>
        </p:spPr>
        <p:txBody>
          <a:bodyPr wrap="square">
            <a:spAutoFit/>
          </a:bodyPr>
          <a:lstStyle/>
          <a:p>
            <a:pPr>
              <a:lnSpc>
                <a:spcPct val="150000"/>
              </a:lnSpc>
            </a:pPr>
            <a:r>
              <a:rPr lang="en-US" sz="2000" dirty="0">
                <a:solidFill>
                  <a:srgbClr val="002060"/>
                </a:solidFill>
                <a:latin typeface="Bookman Old Style" panose="02050604050505020204" pitchFamily="18" charset="0"/>
                <a:ea typeface="Calibri"/>
                <a:cs typeface="Calibri"/>
                <a:sym typeface="Calibri"/>
              </a:rPr>
              <a:t>Use Case 1 : </a:t>
            </a:r>
            <a:r>
              <a:rPr lang="en-US" sz="2000" dirty="0">
                <a:latin typeface="Bookman Old Style" panose="02050604050505020204" pitchFamily="18" charset="0"/>
              </a:rPr>
              <a:t>Twitter</a:t>
            </a:r>
            <a:endParaRPr lang="en-US" sz="2000" dirty="0">
              <a:solidFill>
                <a:srgbClr val="002060"/>
              </a:solidFill>
              <a:latin typeface="Bookman Old Style" panose="02050604050505020204" pitchFamily="18" charset="0"/>
              <a:ea typeface="Calibri"/>
              <a:cs typeface="Calibri"/>
              <a:sym typeface="Calibri"/>
            </a:endParaRPr>
          </a:p>
          <a:p>
            <a:pPr>
              <a:lnSpc>
                <a:spcPct val="150000"/>
              </a:lnSpc>
            </a:pPr>
            <a:r>
              <a:rPr lang="en-US" sz="2000" b="1" dirty="0">
                <a:solidFill>
                  <a:srgbClr val="002060"/>
                </a:solidFill>
                <a:latin typeface="Bookman Old Style" panose="02050604050505020204" pitchFamily="18" charset="0"/>
                <a:ea typeface="Calibri"/>
                <a:cs typeface="Calibri"/>
                <a:sym typeface="Calibri"/>
              </a:rPr>
              <a:t>Collection tier</a:t>
            </a:r>
            <a:r>
              <a:rPr lang="en-US" sz="2000" dirty="0">
                <a:solidFill>
                  <a:schemeClr val="dk1"/>
                </a:solidFill>
                <a:latin typeface="Bookman Old Style" panose="02050604050505020204" pitchFamily="18" charset="0"/>
                <a:ea typeface="Calibri"/>
                <a:cs typeface="Calibri"/>
                <a:sym typeface="Calibri"/>
              </a:rPr>
              <a:t>—When a user posts a tweet, it is collected by the Twitter services. </a:t>
            </a:r>
          </a:p>
          <a:p>
            <a:pPr>
              <a:lnSpc>
                <a:spcPct val="150000"/>
              </a:lnSpc>
            </a:pPr>
            <a:r>
              <a:rPr lang="en-US" sz="2000" b="1" dirty="0">
                <a:solidFill>
                  <a:srgbClr val="002060"/>
                </a:solidFill>
                <a:latin typeface="Bookman Old Style" panose="02050604050505020204" pitchFamily="18" charset="0"/>
                <a:ea typeface="Calibri"/>
                <a:cs typeface="Calibri"/>
                <a:sym typeface="Calibri"/>
              </a:rPr>
              <a:t>Message queuing tier </a:t>
            </a:r>
            <a:r>
              <a:rPr lang="en-US" sz="2000" dirty="0">
                <a:solidFill>
                  <a:schemeClr val="dk1"/>
                </a:solidFill>
                <a:latin typeface="Bookman Old Style" panose="02050604050505020204" pitchFamily="18" charset="0"/>
                <a:ea typeface="Calibri"/>
                <a:cs typeface="Calibri"/>
                <a:sym typeface="Calibri"/>
              </a:rPr>
              <a:t>—Twitter runs data centers in locations across the globe, and conceivably the collection of a tweet doesn’t happen in the same location as the analysis of the tweet. </a:t>
            </a:r>
          </a:p>
          <a:p>
            <a:pPr>
              <a:lnSpc>
                <a:spcPct val="150000"/>
              </a:lnSpc>
            </a:pPr>
            <a:r>
              <a:rPr lang="en-US" sz="2000" b="1" dirty="0">
                <a:solidFill>
                  <a:srgbClr val="002060"/>
                </a:solidFill>
                <a:latin typeface="Bookman Old Style" panose="02050604050505020204" pitchFamily="18" charset="0"/>
                <a:ea typeface="Calibri"/>
                <a:cs typeface="Calibri"/>
                <a:sym typeface="Calibri"/>
              </a:rPr>
              <a:t>Analysis tier</a:t>
            </a:r>
            <a:r>
              <a:rPr lang="en-US" sz="2000" dirty="0">
                <a:solidFill>
                  <a:schemeClr val="dk1"/>
                </a:solidFill>
                <a:latin typeface="Bookman Old Style" panose="02050604050505020204" pitchFamily="18" charset="0"/>
                <a:ea typeface="Calibri"/>
                <a:cs typeface="Calibri"/>
                <a:sym typeface="Calibri"/>
              </a:rPr>
              <a:t>— Twitter needs to identify the followers of a tweet. </a:t>
            </a:r>
          </a:p>
          <a:p>
            <a:pPr>
              <a:lnSpc>
                <a:spcPct val="150000"/>
              </a:lnSpc>
            </a:pPr>
            <a:r>
              <a:rPr lang="en-US" sz="2000" dirty="0">
                <a:solidFill>
                  <a:schemeClr val="dk1"/>
                </a:solidFill>
                <a:latin typeface="Bookman Old Style" panose="02050604050505020204" pitchFamily="18" charset="0"/>
                <a:ea typeface="Calibri"/>
                <a:cs typeface="Calibri"/>
                <a:sym typeface="Calibri"/>
              </a:rPr>
              <a:t> </a:t>
            </a:r>
            <a:r>
              <a:rPr lang="en-US" sz="2000" b="1" dirty="0">
                <a:solidFill>
                  <a:srgbClr val="002060"/>
                </a:solidFill>
                <a:latin typeface="Bookman Old Style" panose="02050604050505020204" pitchFamily="18" charset="0"/>
                <a:ea typeface="Calibri"/>
                <a:cs typeface="Calibri"/>
                <a:sym typeface="Calibri"/>
              </a:rPr>
              <a:t>Long-term storage tier</a:t>
            </a:r>
            <a:r>
              <a:rPr lang="en-US" sz="2000" dirty="0">
                <a:solidFill>
                  <a:schemeClr val="dk1"/>
                </a:solidFill>
                <a:latin typeface="Bookman Old Style" panose="02050604050505020204" pitchFamily="18" charset="0"/>
                <a:ea typeface="Calibri"/>
                <a:cs typeface="Calibri"/>
                <a:sym typeface="Calibri"/>
              </a:rPr>
              <a:t>—that tweets going back in time imply that they’re stored in a persistent data store. </a:t>
            </a:r>
          </a:p>
          <a:p>
            <a:pPr>
              <a:lnSpc>
                <a:spcPct val="150000"/>
              </a:lnSpc>
            </a:pPr>
            <a:r>
              <a:rPr lang="en-US" sz="2000" dirty="0">
                <a:solidFill>
                  <a:schemeClr val="dk1"/>
                </a:solidFill>
                <a:latin typeface="Bookman Old Style" panose="02050604050505020204" pitchFamily="18" charset="0"/>
                <a:ea typeface="Calibri"/>
                <a:cs typeface="Calibri"/>
                <a:sym typeface="Calibri"/>
              </a:rPr>
              <a:t> </a:t>
            </a:r>
            <a:r>
              <a:rPr lang="en-US" sz="2000" b="1" dirty="0">
                <a:solidFill>
                  <a:srgbClr val="002060"/>
                </a:solidFill>
                <a:latin typeface="Bookman Old Style" panose="02050604050505020204" pitchFamily="18" charset="0"/>
                <a:ea typeface="Calibri"/>
                <a:cs typeface="Calibri"/>
                <a:sym typeface="Calibri"/>
              </a:rPr>
              <a:t>In-memory data store tier</a:t>
            </a:r>
            <a:r>
              <a:rPr lang="en-US" sz="2000" dirty="0">
                <a:solidFill>
                  <a:schemeClr val="dk1"/>
                </a:solidFill>
                <a:latin typeface="Bookman Old Style" panose="02050604050505020204" pitchFamily="18" charset="0"/>
                <a:ea typeface="Calibri"/>
                <a:cs typeface="Calibri"/>
                <a:sym typeface="Calibri"/>
              </a:rPr>
              <a:t>—The tweets that are mere seconds old are most likely held in an in-memory data store. </a:t>
            </a:r>
          </a:p>
          <a:p>
            <a:pPr>
              <a:lnSpc>
                <a:spcPct val="150000"/>
              </a:lnSpc>
            </a:pPr>
            <a:r>
              <a:rPr lang="en-US" sz="2000" dirty="0">
                <a:solidFill>
                  <a:schemeClr val="dk1"/>
                </a:solidFill>
                <a:latin typeface="Bookman Old Style" panose="02050604050505020204" pitchFamily="18" charset="0"/>
                <a:ea typeface="Calibri"/>
                <a:cs typeface="Calibri"/>
                <a:sym typeface="Calibri"/>
              </a:rPr>
              <a:t> </a:t>
            </a:r>
            <a:r>
              <a:rPr lang="en-US" sz="2000" b="1" dirty="0">
                <a:solidFill>
                  <a:srgbClr val="002060"/>
                </a:solidFill>
                <a:latin typeface="Bookman Old Style" panose="02050604050505020204" pitchFamily="18" charset="0"/>
                <a:ea typeface="Calibri"/>
                <a:cs typeface="Calibri"/>
                <a:sym typeface="Calibri"/>
              </a:rPr>
              <a:t>Data access</a:t>
            </a:r>
            <a:r>
              <a:rPr lang="en-US" sz="2000" dirty="0">
                <a:solidFill>
                  <a:schemeClr val="dk1"/>
                </a:solidFill>
                <a:latin typeface="Bookman Old Style" panose="02050604050505020204" pitchFamily="18" charset="0"/>
                <a:ea typeface="Calibri"/>
                <a:cs typeface="Calibri"/>
                <a:sym typeface="Calibri"/>
              </a:rPr>
              <a:t>—All Twitter clients need to be connected to Twitter to access the service.</a:t>
            </a:r>
            <a:endParaRPr lang="en-IN" sz="2000" dirty="0">
              <a:solidFill>
                <a:schemeClr val="dk1"/>
              </a:solidFill>
              <a:latin typeface="Bookman Old Style" panose="02050604050505020204" pitchFamily="18" charset="0"/>
              <a:ea typeface="Calibri"/>
              <a:cs typeface="Calibri"/>
              <a:sym typeface="Calibri"/>
            </a:endParaRPr>
          </a:p>
        </p:txBody>
      </p:sp>
    </p:spTree>
    <p:extLst>
      <p:ext uri="{BB962C8B-B14F-4D97-AF65-F5344CB8AC3E}">
        <p14:creationId xmlns:p14="http://schemas.microsoft.com/office/powerpoint/2010/main" val="41332794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813C3490-F0E2-752F-A3E7-9BA550ACC709}"/>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FC72D4AC-CF15-1EDE-C896-D9B67BCEA324}"/>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Security for streaming systems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28C2D4A0-CCDB-6D14-1FB1-3F6D8FF7DFF5}"/>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4BBE5B44-4670-A371-39F1-1DC8E3FC844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21</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0B7428B3-C863-FDDC-D6C6-E6EC08473539}"/>
              </a:ext>
            </a:extLst>
          </p:cNvPr>
          <p:cNvSpPr txBox="1"/>
          <p:nvPr/>
        </p:nvSpPr>
        <p:spPr>
          <a:xfrm>
            <a:off x="533399" y="1001250"/>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pic>
        <p:nvPicPr>
          <p:cNvPr id="7" name="Picture 6">
            <a:extLst>
              <a:ext uri="{FF2B5EF4-FFF2-40B4-BE49-F238E27FC236}">
                <a16:creationId xmlns:a16="http://schemas.microsoft.com/office/drawing/2014/main" id="{D3136FA2-E6B5-5AEB-5A01-5BE93AA50FFF}"/>
              </a:ext>
            </a:extLst>
          </p:cNvPr>
          <p:cNvPicPr>
            <a:picLocks noChangeAspect="1"/>
          </p:cNvPicPr>
          <p:nvPr/>
        </p:nvPicPr>
        <p:blipFill>
          <a:blip r:embed="rId3"/>
          <a:stretch>
            <a:fillRect/>
          </a:stretch>
        </p:blipFill>
        <p:spPr>
          <a:xfrm>
            <a:off x="1543666" y="1209369"/>
            <a:ext cx="9281650" cy="4970492"/>
          </a:xfrm>
          <a:prstGeom prst="rect">
            <a:avLst/>
          </a:prstGeom>
        </p:spPr>
      </p:pic>
    </p:spTree>
    <p:extLst>
      <p:ext uri="{BB962C8B-B14F-4D97-AF65-F5344CB8AC3E}">
        <p14:creationId xmlns:p14="http://schemas.microsoft.com/office/powerpoint/2010/main" val="11265598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2A2350DA-8ED3-C9C1-1A38-B0100CB2E07F}"/>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5C19E902-4AB8-26FF-B214-C35508F7FEED}"/>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Security for streaming systems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57FE9021-D678-1994-53EF-A1DEA0B5037C}"/>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D068C2F7-3431-7D9B-DBC0-FF5A973900E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22</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1E57FBA8-6D4F-EFB7-C458-4BF694E2DD2F}"/>
              </a:ext>
            </a:extLst>
          </p:cNvPr>
          <p:cNvSpPr txBox="1"/>
          <p:nvPr/>
        </p:nvSpPr>
        <p:spPr>
          <a:xfrm>
            <a:off x="533399" y="1001250"/>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C79D945A-2BDB-962A-EA67-61E682D4D987}"/>
              </a:ext>
            </a:extLst>
          </p:cNvPr>
          <p:cNvSpPr txBox="1"/>
          <p:nvPr/>
        </p:nvSpPr>
        <p:spPr>
          <a:xfrm>
            <a:off x="938981" y="1503054"/>
            <a:ext cx="10719620" cy="1938992"/>
          </a:xfrm>
          <a:prstGeom prst="rect">
            <a:avLst/>
          </a:prstGeom>
          <a:noFill/>
        </p:spPr>
        <p:txBody>
          <a:bodyPr wrap="square">
            <a:spAutoFit/>
          </a:bodyPr>
          <a:lstStyle/>
          <a:p>
            <a:r>
              <a:rPr lang="en-US" sz="2000" dirty="0">
                <a:solidFill>
                  <a:schemeClr val="dk1"/>
                </a:solidFill>
                <a:latin typeface="Bookman Old Style" panose="02050604050505020204" pitchFamily="18" charset="0"/>
                <a:ea typeface="Calibri"/>
                <a:cs typeface="Calibri"/>
              </a:rPr>
              <a:t>Vertical scaling lets you increase the capacity of your existing hardware (physical or virtual) or software by adding resources. (</a:t>
            </a:r>
            <a:r>
              <a:rPr lang="en-US" sz="2000" dirty="0" err="1">
                <a:solidFill>
                  <a:schemeClr val="dk1"/>
                </a:solidFill>
                <a:latin typeface="Bookman Old Style" panose="02050604050505020204" pitchFamily="18" charset="0"/>
                <a:ea typeface="Calibri"/>
                <a:cs typeface="Calibri"/>
              </a:rPr>
              <a:t>Eg</a:t>
            </a:r>
            <a:r>
              <a:rPr lang="en-US" sz="2000" dirty="0">
                <a:solidFill>
                  <a:schemeClr val="dk1"/>
                </a:solidFill>
                <a:latin typeface="Bookman Old Style" panose="02050604050505020204" pitchFamily="18" charset="0"/>
                <a:ea typeface="Calibri"/>
                <a:cs typeface="Calibri"/>
              </a:rPr>
              <a:t> Restaurant)</a:t>
            </a:r>
          </a:p>
          <a:p>
            <a:endParaRPr lang="en-US" sz="2000" dirty="0">
              <a:solidFill>
                <a:schemeClr val="dk1"/>
              </a:solidFill>
              <a:latin typeface="Bookman Old Style" panose="02050604050505020204" pitchFamily="18" charset="0"/>
              <a:ea typeface="Calibri"/>
              <a:cs typeface="Calibri"/>
            </a:endParaRPr>
          </a:p>
          <a:p>
            <a:r>
              <a:rPr lang="en-US" sz="2000" dirty="0">
                <a:solidFill>
                  <a:schemeClr val="dk1"/>
                </a:solidFill>
                <a:latin typeface="Bookman Old Style" panose="02050604050505020204" pitchFamily="18" charset="0"/>
                <a:ea typeface="Calibri"/>
                <a:cs typeface="Calibri"/>
              </a:rPr>
              <a:t>Horizontal scaling approaches the problem from a different angle. Instead of continuing to add resources to a server, you add servers. (High way)</a:t>
            </a:r>
          </a:p>
          <a:p>
            <a:endParaRPr lang="en-IN" sz="2000" dirty="0">
              <a:solidFill>
                <a:schemeClr val="dk1"/>
              </a:solidFill>
              <a:latin typeface="Bookman Old Style" panose="02050604050505020204" pitchFamily="18" charset="0"/>
              <a:ea typeface="Calibri"/>
              <a:cs typeface="Calibri"/>
            </a:endParaRPr>
          </a:p>
        </p:txBody>
      </p:sp>
    </p:spTree>
    <p:extLst>
      <p:ext uri="{BB962C8B-B14F-4D97-AF65-F5344CB8AC3E}">
        <p14:creationId xmlns:p14="http://schemas.microsoft.com/office/powerpoint/2010/main" val="3062309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F28FFFFC-103A-A486-1473-F6AC30FBC579}"/>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C059C6CF-5C6A-66FB-34FC-C43187E4DFC5}"/>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Data Ingestion</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2664B905-CBE9-C93D-31B0-EFEAB9D7D7E1}"/>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6D22816F-27F6-9C47-BDAB-C3CEE8B3763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23</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6EB5A4C2-F65F-F976-C7FB-C2E5562FA660}"/>
              </a:ext>
            </a:extLst>
          </p:cNvPr>
          <p:cNvSpPr txBox="1"/>
          <p:nvPr/>
        </p:nvSpPr>
        <p:spPr>
          <a:xfrm>
            <a:off x="533399" y="1001250"/>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37D9163E-370F-F730-83BF-3E24206D530F}"/>
              </a:ext>
            </a:extLst>
          </p:cNvPr>
          <p:cNvSpPr txBox="1"/>
          <p:nvPr/>
        </p:nvSpPr>
        <p:spPr>
          <a:xfrm>
            <a:off x="938981" y="1503054"/>
            <a:ext cx="10719620" cy="1015663"/>
          </a:xfrm>
          <a:prstGeom prst="rect">
            <a:avLst/>
          </a:prstGeom>
          <a:noFill/>
        </p:spPr>
        <p:txBody>
          <a:bodyPr wrap="square">
            <a:spAutoFit/>
          </a:bodyPr>
          <a:lstStyle/>
          <a:p>
            <a:r>
              <a:rPr lang="en-US" sz="2000" dirty="0">
                <a:solidFill>
                  <a:schemeClr val="dk1"/>
                </a:solidFill>
                <a:latin typeface="Bookman Old Style" panose="02050604050505020204" pitchFamily="18" charset="0"/>
                <a:ea typeface="Calibri"/>
                <a:cs typeface="Calibri"/>
              </a:rPr>
              <a:t>the collection patterns, how to scale, and how to improve the dependability of the tier via the application of fault-tolerance techniques</a:t>
            </a:r>
          </a:p>
          <a:p>
            <a:endParaRPr lang="en-IN" sz="2000" dirty="0">
              <a:solidFill>
                <a:schemeClr val="dk1"/>
              </a:solidFill>
              <a:latin typeface="Bookman Old Style" panose="02050604050505020204" pitchFamily="18" charset="0"/>
              <a:ea typeface="Calibri"/>
              <a:cs typeface="Calibri"/>
            </a:endParaRPr>
          </a:p>
        </p:txBody>
      </p:sp>
      <p:pic>
        <p:nvPicPr>
          <p:cNvPr id="7" name="Picture 6">
            <a:extLst>
              <a:ext uri="{FF2B5EF4-FFF2-40B4-BE49-F238E27FC236}">
                <a16:creationId xmlns:a16="http://schemas.microsoft.com/office/drawing/2014/main" id="{42AF4DCF-717C-8F0E-8377-3E143166C072}"/>
              </a:ext>
            </a:extLst>
          </p:cNvPr>
          <p:cNvPicPr>
            <a:picLocks noChangeAspect="1"/>
          </p:cNvPicPr>
          <p:nvPr/>
        </p:nvPicPr>
        <p:blipFill>
          <a:blip r:embed="rId3"/>
          <a:stretch>
            <a:fillRect/>
          </a:stretch>
        </p:blipFill>
        <p:spPr>
          <a:xfrm>
            <a:off x="2163097" y="2430501"/>
            <a:ext cx="7010399" cy="3817566"/>
          </a:xfrm>
          <a:prstGeom prst="rect">
            <a:avLst/>
          </a:prstGeom>
        </p:spPr>
      </p:pic>
    </p:spTree>
    <p:extLst>
      <p:ext uri="{BB962C8B-B14F-4D97-AF65-F5344CB8AC3E}">
        <p14:creationId xmlns:p14="http://schemas.microsoft.com/office/powerpoint/2010/main" val="42547583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C7A2B3E4-D919-FA54-EA87-9A13F0950EF8}"/>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9952F504-DCC6-45B3-DAFE-78715BF96BB7}"/>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Common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958CFD50-3541-ABA3-92E5-5B3A25E866A7}"/>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CE6BD88A-C79E-EE54-C8A1-49C532B9829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24</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C028C52B-ECB1-2520-5617-C656D49FEB6D}"/>
              </a:ext>
            </a:extLst>
          </p:cNvPr>
          <p:cNvSpPr txBox="1"/>
          <p:nvPr/>
        </p:nvSpPr>
        <p:spPr>
          <a:xfrm>
            <a:off x="533399" y="1001250"/>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DAB45C5D-3DE0-50EE-D191-4637A3673513}"/>
              </a:ext>
            </a:extLst>
          </p:cNvPr>
          <p:cNvSpPr txBox="1"/>
          <p:nvPr/>
        </p:nvSpPr>
        <p:spPr>
          <a:xfrm>
            <a:off x="938981" y="1503054"/>
            <a:ext cx="10719620" cy="3170099"/>
          </a:xfrm>
          <a:prstGeom prst="rect">
            <a:avLst/>
          </a:prstGeom>
          <a:noFill/>
        </p:spPr>
        <p:txBody>
          <a:bodyPr wrap="square">
            <a:spAutoFit/>
          </a:bodyPr>
          <a:lstStyle/>
          <a:p>
            <a:r>
              <a:rPr lang="en-US" sz="2000" b="1" dirty="0">
                <a:solidFill>
                  <a:srgbClr val="002060"/>
                </a:solidFill>
                <a:latin typeface="Bookman Old Style" panose="02050604050505020204" pitchFamily="18" charset="0"/>
                <a:ea typeface="Calibri"/>
                <a:cs typeface="Calibri"/>
              </a:rPr>
              <a:t>This topic </a:t>
            </a:r>
            <a:r>
              <a:rPr lang="en-US" sz="2000" dirty="0">
                <a:solidFill>
                  <a:schemeClr val="dk1"/>
                </a:solidFill>
                <a:latin typeface="Bookman Old Style" panose="02050604050505020204" pitchFamily="18" charset="0"/>
                <a:ea typeface="Calibri"/>
                <a:cs typeface="Calibri"/>
                <a:sym typeface="Wingdings" panose="05000000000000000000" pitchFamily="2" charset="2"/>
              </a:rPr>
              <a:t> </a:t>
            </a:r>
            <a:r>
              <a:rPr lang="en-US" sz="2000" dirty="0">
                <a:solidFill>
                  <a:schemeClr val="dk1"/>
                </a:solidFill>
                <a:latin typeface="Bookman Old Style" panose="02050604050505020204" pitchFamily="18" charset="0"/>
                <a:ea typeface="Calibri"/>
                <a:cs typeface="Calibri"/>
              </a:rPr>
              <a:t>The collection patterns, how to scale, and how to improve the dependability of the tier via the application of fault-tolerance techniques</a:t>
            </a:r>
          </a:p>
          <a:p>
            <a:endParaRPr lang="en-US" sz="2000" dirty="0">
              <a:solidFill>
                <a:schemeClr val="dk1"/>
              </a:solidFill>
              <a:latin typeface="Bookman Old Style" panose="02050604050505020204" pitchFamily="18" charset="0"/>
              <a:ea typeface="Calibri"/>
              <a:cs typeface="Calibri"/>
            </a:endParaRPr>
          </a:p>
          <a:p>
            <a:r>
              <a:rPr lang="en-US" sz="2000" dirty="0">
                <a:solidFill>
                  <a:schemeClr val="dk1"/>
                </a:solidFill>
                <a:latin typeface="Bookman Old Style" panose="02050604050505020204" pitchFamily="18" charset="0"/>
                <a:ea typeface="Calibri"/>
                <a:cs typeface="Calibri"/>
              </a:rPr>
              <a:t>The interaction patterns fall into one of the following categories: </a:t>
            </a:r>
          </a:p>
          <a:p>
            <a:pPr marL="342900" indent="728663">
              <a:buFont typeface="Wingdings" panose="05000000000000000000" pitchFamily="2" charset="2"/>
              <a:buChar char="v"/>
            </a:pPr>
            <a:r>
              <a:rPr lang="en-US" sz="2000" dirty="0">
                <a:solidFill>
                  <a:schemeClr val="dk1"/>
                </a:solidFill>
                <a:latin typeface="Bookman Old Style" panose="02050604050505020204" pitchFamily="18" charset="0"/>
                <a:ea typeface="Calibri"/>
                <a:cs typeface="Calibri"/>
              </a:rPr>
              <a:t>Request/response pattern </a:t>
            </a:r>
          </a:p>
          <a:p>
            <a:pPr marL="342900" indent="728663">
              <a:buFont typeface="Wingdings" panose="05000000000000000000" pitchFamily="2" charset="2"/>
              <a:buChar char="v"/>
            </a:pPr>
            <a:r>
              <a:rPr lang="en-US" sz="2000" dirty="0">
                <a:solidFill>
                  <a:schemeClr val="dk1"/>
                </a:solidFill>
                <a:latin typeface="Bookman Old Style" panose="02050604050505020204" pitchFamily="18" charset="0"/>
                <a:ea typeface="Calibri"/>
                <a:cs typeface="Calibri"/>
              </a:rPr>
              <a:t>Publish/subscribe pattern</a:t>
            </a:r>
          </a:p>
          <a:p>
            <a:pPr marL="342900" indent="728663">
              <a:buFont typeface="Wingdings" panose="05000000000000000000" pitchFamily="2" charset="2"/>
              <a:buChar char="v"/>
            </a:pPr>
            <a:r>
              <a:rPr lang="en-US" sz="2000" dirty="0">
                <a:solidFill>
                  <a:schemeClr val="dk1"/>
                </a:solidFill>
                <a:latin typeface="Bookman Old Style" panose="02050604050505020204" pitchFamily="18" charset="0"/>
                <a:ea typeface="Calibri"/>
                <a:cs typeface="Calibri"/>
              </a:rPr>
              <a:t>One-way pattern </a:t>
            </a:r>
          </a:p>
          <a:p>
            <a:pPr marL="342900" indent="728663">
              <a:buFont typeface="Wingdings" panose="05000000000000000000" pitchFamily="2" charset="2"/>
              <a:buChar char="v"/>
            </a:pPr>
            <a:r>
              <a:rPr lang="en-US" sz="2000" dirty="0">
                <a:solidFill>
                  <a:schemeClr val="dk1"/>
                </a:solidFill>
                <a:latin typeface="Bookman Old Style" panose="02050604050505020204" pitchFamily="18" charset="0"/>
                <a:ea typeface="Calibri"/>
                <a:cs typeface="Calibri"/>
              </a:rPr>
              <a:t>Request/acknowledge pattern </a:t>
            </a:r>
          </a:p>
          <a:p>
            <a:pPr marL="342900" indent="728663">
              <a:buFont typeface="Wingdings" panose="05000000000000000000" pitchFamily="2" charset="2"/>
              <a:buChar char="v"/>
            </a:pPr>
            <a:r>
              <a:rPr lang="en-US" sz="2000" dirty="0">
                <a:solidFill>
                  <a:schemeClr val="dk1"/>
                </a:solidFill>
                <a:latin typeface="Bookman Old Style" panose="02050604050505020204" pitchFamily="18" charset="0"/>
                <a:ea typeface="Calibri"/>
                <a:cs typeface="Calibri"/>
              </a:rPr>
              <a:t>Stream pattern</a:t>
            </a:r>
          </a:p>
          <a:p>
            <a:endParaRPr lang="en-IN" sz="2000" dirty="0">
              <a:solidFill>
                <a:schemeClr val="dk1"/>
              </a:solidFill>
              <a:latin typeface="Bookman Old Style" panose="02050604050505020204" pitchFamily="18" charset="0"/>
              <a:ea typeface="Calibri"/>
              <a:cs typeface="Calibri"/>
            </a:endParaRPr>
          </a:p>
        </p:txBody>
      </p:sp>
    </p:spTree>
    <p:extLst>
      <p:ext uri="{BB962C8B-B14F-4D97-AF65-F5344CB8AC3E}">
        <p14:creationId xmlns:p14="http://schemas.microsoft.com/office/powerpoint/2010/main" val="8060690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6508C96F-4C9A-17D1-744C-7707BCCE46D7}"/>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03B20F22-DFE4-57A6-4A20-C301B470B6F7}"/>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Common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0787F56E-12B4-B01F-3B2B-E69962B244D2}"/>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8D7674F3-18CF-1212-2234-B5A2984FF2B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25</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CD53A96D-CEDA-8630-AEA2-F3FAA4BF74B4}"/>
              </a:ext>
            </a:extLst>
          </p:cNvPr>
          <p:cNvSpPr txBox="1"/>
          <p:nvPr/>
        </p:nvSpPr>
        <p:spPr>
          <a:xfrm>
            <a:off x="533399" y="1001250"/>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4F9BAA52-1A2D-956A-E7FD-B9DAE9605500}"/>
              </a:ext>
            </a:extLst>
          </p:cNvPr>
          <p:cNvSpPr txBox="1"/>
          <p:nvPr/>
        </p:nvSpPr>
        <p:spPr>
          <a:xfrm>
            <a:off x="938981" y="1503054"/>
            <a:ext cx="10719620" cy="2369880"/>
          </a:xfrm>
          <a:prstGeom prst="rect">
            <a:avLst/>
          </a:prstGeom>
          <a:noFill/>
        </p:spPr>
        <p:txBody>
          <a:bodyPr wrap="square">
            <a:spAutoFit/>
          </a:bodyPr>
          <a:lstStyle/>
          <a:p>
            <a:r>
              <a:rPr lang="en-US" sz="2000" b="1" dirty="0">
                <a:solidFill>
                  <a:srgbClr val="002060"/>
                </a:solidFill>
                <a:latin typeface="Bookman Old Style" panose="02050604050505020204" pitchFamily="18" charset="0"/>
                <a:ea typeface="Calibri"/>
                <a:cs typeface="Calibri"/>
              </a:rPr>
              <a:t>(</a:t>
            </a:r>
            <a:r>
              <a:rPr lang="en-US" sz="2000" b="1" dirty="0" err="1">
                <a:solidFill>
                  <a:srgbClr val="002060"/>
                </a:solidFill>
                <a:latin typeface="Bookman Old Style" panose="02050604050505020204" pitchFamily="18" charset="0"/>
                <a:ea typeface="Calibri"/>
                <a:cs typeface="Calibri"/>
              </a:rPr>
              <a:t>i</a:t>
            </a:r>
            <a:r>
              <a:rPr lang="en-US" sz="2000" b="1" dirty="0">
                <a:solidFill>
                  <a:srgbClr val="002060"/>
                </a:solidFill>
                <a:latin typeface="Bookman Old Style" panose="02050604050505020204" pitchFamily="18" charset="0"/>
                <a:ea typeface="Calibri"/>
                <a:cs typeface="Calibri"/>
              </a:rPr>
              <a:t>)Request/response pattern </a:t>
            </a:r>
          </a:p>
          <a:p>
            <a:r>
              <a:rPr lang="en-US" sz="2000" b="1" dirty="0">
                <a:solidFill>
                  <a:srgbClr val="002060"/>
                </a:solidFill>
                <a:latin typeface="Bookman Old Style" panose="02050604050505020204" pitchFamily="18" charset="0"/>
                <a:ea typeface="Calibri"/>
                <a:cs typeface="Calibri"/>
              </a:rPr>
              <a:t> </a:t>
            </a:r>
            <a:r>
              <a:rPr lang="en-US" sz="2000" dirty="0">
                <a:solidFill>
                  <a:schemeClr val="dk1"/>
                </a:solidFill>
                <a:latin typeface="Bookman Old Style" panose="02050604050505020204" pitchFamily="18" charset="0"/>
                <a:ea typeface="Calibri"/>
                <a:cs typeface="Calibri"/>
                <a:sym typeface="Wingdings" panose="05000000000000000000" pitchFamily="2" charset="2"/>
              </a:rPr>
              <a:t> </a:t>
            </a:r>
            <a:r>
              <a:rPr lang="en-US" sz="2000" dirty="0">
                <a:solidFill>
                  <a:schemeClr val="dk1"/>
                </a:solidFill>
                <a:latin typeface="Bookman Old Style" panose="02050604050505020204" pitchFamily="18" charset="0"/>
                <a:ea typeface="Calibri"/>
                <a:cs typeface="Calibri"/>
              </a:rPr>
              <a:t>It’s used when the client must have an immediate response or wants the service to complete a task without delay</a:t>
            </a:r>
            <a:r>
              <a:rPr lang="en-US" sz="2800" dirty="0"/>
              <a:t>.</a:t>
            </a:r>
          </a:p>
          <a:p>
            <a:pPr marL="342900" indent="-342900">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a client makes a request to a service—this may be to take an action (such as send a text message, apply for a job, or buy an airline ticket) or to request data (such as perform a search on Google or find the current weather in their city). </a:t>
            </a:r>
          </a:p>
          <a:p>
            <a:pPr marL="342900" indent="-342900">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the service sends a response to the client.</a:t>
            </a:r>
            <a:endParaRPr lang="en-IN" sz="2000" dirty="0">
              <a:solidFill>
                <a:schemeClr val="dk1"/>
              </a:solidFill>
              <a:latin typeface="Bookman Old Style" panose="02050604050505020204" pitchFamily="18" charset="0"/>
              <a:ea typeface="Calibri"/>
              <a:cs typeface="Calibri"/>
            </a:endParaRPr>
          </a:p>
        </p:txBody>
      </p:sp>
      <p:pic>
        <p:nvPicPr>
          <p:cNvPr id="7" name="Picture 6">
            <a:extLst>
              <a:ext uri="{FF2B5EF4-FFF2-40B4-BE49-F238E27FC236}">
                <a16:creationId xmlns:a16="http://schemas.microsoft.com/office/drawing/2014/main" id="{992AD603-C862-14AF-079D-4C04AB23A542}"/>
              </a:ext>
            </a:extLst>
          </p:cNvPr>
          <p:cNvPicPr>
            <a:picLocks noChangeAspect="1"/>
          </p:cNvPicPr>
          <p:nvPr/>
        </p:nvPicPr>
        <p:blipFill>
          <a:blip r:embed="rId3"/>
          <a:stretch>
            <a:fillRect/>
          </a:stretch>
        </p:blipFill>
        <p:spPr>
          <a:xfrm>
            <a:off x="3603866" y="3906767"/>
            <a:ext cx="4549534" cy="2415749"/>
          </a:xfrm>
          <a:prstGeom prst="rect">
            <a:avLst/>
          </a:prstGeom>
        </p:spPr>
      </p:pic>
    </p:spTree>
    <p:extLst>
      <p:ext uri="{BB962C8B-B14F-4D97-AF65-F5344CB8AC3E}">
        <p14:creationId xmlns:p14="http://schemas.microsoft.com/office/powerpoint/2010/main" val="15431122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73D8DC65-EDDE-4A46-3EEB-DC1597C35701}"/>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764FE26F-412E-7BB6-3B06-63D11EA8C9D7}"/>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Common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060E84F4-F1EF-3DAF-4CE5-619A1171CD95}"/>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3E0BD1BD-E77E-E89F-C928-8DA237BC054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26</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26BE398F-F765-9746-23F1-B7CAAA0249E7}"/>
              </a:ext>
            </a:extLst>
          </p:cNvPr>
          <p:cNvSpPr txBox="1"/>
          <p:nvPr/>
        </p:nvSpPr>
        <p:spPr>
          <a:xfrm>
            <a:off x="365022" y="654904"/>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44A00EF2-C062-4B3F-AE1B-23AAD98CBD33}"/>
              </a:ext>
            </a:extLst>
          </p:cNvPr>
          <p:cNvSpPr txBox="1"/>
          <p:nvPr/>
        </p:nvSpPr>
        <p:spPr>
          <a:xfrm>
            <a:off x="854177" y="1156708"/>
            <a:ext cx="10719620" cy="3477875"/>
          </a:xfrm>
          <a:prstGeom prst="rect">
            <a:avLst/>
          </a:prstGeom>
          <a:noFill/>
        </p:spPr>
        <p:txBody>
          <a:bodyPr wrap="square">
            <a:spAutoFit/>
          </a:bodyPr>
          <a:lstStyle/>
          <a:p>
            <a:r>
              <a:rPr lang="en-US" sz="2000" b="1" dirty="0">
                <a:solidFill>
                  <a:srgbClr val="002060"/>
                </a:solidFill>
                <a:latin typeface="Bookman Old Style" panose="02050604050505020204" pitchFamily="18" charset="0"/>
                <a:ea typeface="Calibri"/>
                <a:cs typeface="Calibri"/>
              </a:rPr>
              <a:t>Request/response pattern </a:t>
            </a:r>
          </a:p>
          <a:p>
            <a:pPr marL="342900" indent="-342900">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The simplicity of a synchronous request and response pattern comes at the cost of the client having to wait for the response and the service having to respond in a timely fashion. </a:t>
            </a:r>
          </a:p>
          <a:p>
            <a:pPr marL="342900" indent="-342900">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With modern-day services, this cost often results in an unacceptable experience for users.</a:t>
            </a:r>
            <a:endParaRPr lang="en-US" sz="2000" dirty="0">
              <a:solidFill>
                <a:schemeClr val="dk1"/>
              </a:solidFill>
              <a:latin typeface="Bookman Old Style" panose="02050604050505020204" pitchFamily="18" charset="0"/>
              <a:ea typeface="Calibri"/>
              <a:cs typeface="Calibri"/>
              <a:sym typeface="Wingdings" panose="05000000000000000000" pitchFamily="2" charset="2"/>
            </a:endParaRPr>
          </a:p>
          <a:p>
            <a:pPr marL="342900" indent="-342900">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Outside of basic services such as requesting the current weather, the potential delay is no longer tolerable. </a:t>
            </a:r>
          </a:p>
          <a:p>
            <a:pPr marL="342900" indent="-342900">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In many cases this can translate into lost revenue for merchants because users don’t want to wait for the response.</a:t>
            </a:r>
          </a:p>
          <a:p>
            <a:endParaRPr lang="en-IN" sz="2000" dirty="0">
              <a:solidFill>
                <a:schemeClr val="dk1"/>
              </a:solidFill>
              <a:latin typeface="Bookman Old Style" panose="02050604050505020204" pitchFamily="18" charset="0"/>
              <a:ea typeface="Calibri"/>
              <a:cs typeface="Calibri"/>
            </a:endParaRPr>
          </a:p>
        </p:txBody>
      </p:sp>
    </p:spTree>
    <p:extLst>
      <p:ext uri="{BB962C8B-B14F-4D97-AF65-F5344CB8AC3E}">
        <p14:creationId xmlns:p14="http://schemas.microsoft.com/office/powerpoint/2010/main" val="469210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232A8BD8-151B-CD5E-15C6-55B878E2ED22}"/>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1A914BE8-3423-B090-2ED7-EE199951A679}"/>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Common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673C0505-6E37-AB63-2FDE-80EC8EEDD3A6}"/>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864579D9-1EBC-1BCB-D8B5-4C1DB1F0869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27</a:t>
            </a:fld>
            <a:endParaRPr lang="en-GB" dirty="0">
              <a:latin typeface="Bookman Old Style" panose="02050604050505020204" pitchFamily="18" charset="0"/>
            </a:endParaRPr>
          </a:p>
        </p:txBody>
      </p:sp>
      <p:sp>
        <p:nvSpPr>
          <p:cNvPr id="6" name="TextBox 5">
            <a:extLst>
              <a:ext uri="{FF2B5EF4-FFF2-40B4-BE49-F238E27FC236}">
                <a16:creationId xmlns:a16="http://schemas.microsoft.com/office/drawing/2014/main" id="{D4BC7C6D-9C05-4519-7FEA-92E39D793D7B}"/>
              </a:ext>
            </a:extLst>
          </p:cNvPr>
          <p:cNvSpPr txBox="1"/>
          <p:nvPr/>
        </p:nvSpPr>
        <p:spPr>
          <a:xfrm>
            <a:off x="854177" y="1158925"/>
            <a:ext cx="10719620" cy="2862322"/>
          </a:xfrm>
          <a:prstGeom prst="rect">
            <a:avLst/>
          </a:prstGeom>
          <a:noFill/>
        </p:spPr>
        <p:txBody>
          <a:bodyPr wrap="square">
            <a:spAutoFit/>
          </a:bodyPr>
          <a:lstStyle/>
          <a:p>
            <a:r>
              <a:rPr lang="en-US" sz="2000" b="1" dirty="0">
                <a:solidFill>
                  <a:srgbClr val="002060"/>
                </a:solidFill>
                <a:latin typeface="Bookman Old Style" panose="02050604050505020204" pitchFamily="18" charset="0"/>
                <a:ea typeface="Calibri"/>
                <a:cs typeface="Calibri"/>
              </a:rPr>
              <a:t>Request/response pattern </a:t>
            </a:r>
          </a:p>
          <a:p>
            <a:pPr marL="342900" indent="-342900" algn="just">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Three common strategies can overcome this limitation: </a:t>
            </a:r>
            <a:r>
              <a:rPr lang="en-US" sz="2000" b="1" dirty="0">
                <a:solidFill>
                  <a:srgbClr val="C00000"/>
                </a:solidFill>
                <a:latin typeface="Bookman Old Style" panose="02050604050505020204" pitchFamily="18" charset="0"/>
                <a:ea typeface="Calibri"/>
                <a:cs typeface="Calibri"/>
              </a:rPr>
              <a:t>one on the client side, one on the service side, and one a combination of the two</a:t>
            </a:r>
            <a:r>
              <a:rPr lang="en-US" sz="2000" dirty="0">
                <a:solidFill>
                  <a:schemeClr val="dk1"/>
                </a:solidFill>
                <a:latin typeface="Bookman Old Style" panose="02050604050505020204" pitchFamily="18" charset="0"/>
                <a:ea typeface="Calibri"/>
                <a:cs typeface="Calibri"/>
              </a:rPr>
              <a:t>. </a:t>
            </a:r>
          </a:p>
          <a:p>
            <a:pPr algn="just"/>
            <a:r>
              <a:rPr lang="en-US" sz="2000" b="1" dirty="0">
                <a:solidFill>
                  <a:srgbClr val="C00000"/>
                </a:solidFill>
                <a:latin typeface="Bookman Old Style" panose="02050604050505020204" pitchFamily="18" charset="0"/>
                <a:ea typeface="Calibri"/>
                <a:cs typeface="Calibri"/>
              </a:rPr>
              <a:t>Client side - </a:t>
            </a:r>
            <a:r>
              <a:rPr lang="en-US" sz="2000" dirty="0">
                <a:solidFill>
                  <a:schemeClr val="dk1"/>
                </a:solidFill>
                <a:latin typeface="Bookman Old Style" panose="02050604050505020204" pitchFamily="18" charset="0"/>
                <a:ea typeface="Calibri"/>
                <a:cs typeface="Calibri"/>
              </a:rPr>
              <a:t>A common strategy often taken by the client is to make the requests asynchronously</a:t>
            </a:r>
          </a:p>
          <a:p>
            <a:pPr algn="just"/>
            <a:r>
              <a:rPr lang="en-US" sz="2000" dirty="0">
                <a:solidFill>
                  <a:schemeClr val="dk1"/>
                </a:solidFill>
                <a:latin typeface="Bookman Old Style" panose="02050604050505020204" pitchFamily="18" charset="0"/>
                <a:ea typeface="Calibri"/>
                <a:cs typeface="Calibri"/>
              </a:rPr>
              <a:t>This pattern is often called </a:t>
            </a:r>
            <a:r>
              <a:rPr lang="en-US" sz="2000" b="1" dirty="0">
                <a:solidFill>
                  <a:srgbClr val="C00000"/>
                </a:solidFill>
                <a:latin typeface="Bookman Old Style" panose="02050604050505020204" pitchFamily="18" charset="0"/>
                <a:ea typeface="Calibri"/>
                <a:cs typeface="Calibri"/>
              </a:rPr>
              <a:t>half-async</a:t>
            </a:r>
            <a:r>
              <a:rPr lang="en-US" sz="2000" dirty="0">
                <a:solidFill>
                  <a:schemeClr val="dk1"/>
                </a:solidFill>
                <a:latin typeface="Bookman Old Style" panose="02050604050505020204" pitchFamily="18" charset="0"/>
                <a:ea typeface="Calibri"/>
                <a:cs typeface="Calibri"/>
              </a:rPr>
              <a:t> because one half of the request response is done asynchronously.</a:t>
            </a:r>
            <a:endParaRPr lang="en-IN" sz="2000" dirty="0">
              <a:solidFill>
                <a:schemeClr val="dk1"/>
              </a:solidFill>
              <a:latin typeface="Bookman Old Style" panose="02050604050505020204" pitchFamily="18" charset="0"/>
              <a:ea typeface="Calibri"/>
              <a:cs typeface="Calibri"/>
            </a:endParaRPr>
          </a:p>
          <a:p>
            <a:r>
              <a:rPr lang="en-US" sz="2000" dirty="0">
                <a:solidFill>
                  <a:schemeClr val="dk1"/>
                </a:solidFill>
                <a:latin typeface="Bookman Old Style" panose="02050604050505020204" pitchFamily="18" charset="0"/>
                <a:ea typeface="Calibri"/>
                <a:cs typeface="Calibri"/>
              </a:rPr>
              <a:t> </a:t>
            </a:r>
          </a:p>
          <a:p>
            <a:endParaRPr lang="en-IN" sz="2000" dirty="0">
              <a:solidFill>
                <a:schemeClr val="dk1"/>
              </a:solidFill>
              <a:latin typeface="Bookman Old Style" panose="02050604050505020204" pitchFamily="18" charset="0"/>
              <a:ea typeface="Calibri"/>
              <a:cs typeface="Calibri"/>
            </a:endParaRPr>
          </a:p>
        </p:txBody>
      </p:sp>
      <p:pic>
        <p:nvPicPr>
          <p:cNvPr id="7" name="Picture 6">
            <a:extLst>
              <a:ext uri="{FF2B5EF4-FFF2-40B4-BE49-F238E27FC236}">
                <a16:creationId xmlns:a16="http://schemas.microsoft.com/office/drawing/2014/main" id="{3830806E-E177-D321-6245-65F9D58799AB}"/>
              </a:ext>
            </a:extLst>
          </p:cNvPr>
          <p:cNvPicPr>
            <a:picLocks noChangeAspect="1"/>
          </p:cNvPicPr>
          <p:nvPr/>
        </p:nvPicPr>
        <p:blipFill>
          <a:blip r:embed="rId3"/>
          <a:stretch>
            <a:fillRect/>
          </a:stretch>
        </p:blipFill>
        <p:spPr>
          <a:xfrm>
            <a:off x="5437239" y="3117419"/>
            <a:ext cx="4857135" cy="3172007"/>
          </a:xfrm>
          <a:prstGeom prst="rect">
            <a:avLst/>
          </a:prstGeom>
        </p:spPr>
      </p:pic>
    </p:spTree>
    <p:extLst>
      <p:ext uri="{BB962C8B-B14F-4D97-AF65-F5344CB8AC3E}">
        <p14:creationId xmlns:p14="http://schemas.microsoft.com/office/powerpoint/2010/main" val="29909118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295D7B62-B7F0-EEEE-76AF-F83A83867BD7}"/>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0D64B2C0-4EFA-647A-FB81-5DFCBB209971}"/>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Common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350E4D95-DA1B-969B-7541-3B70D33BEDF3}"/>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A1ABF73E-964A-6F02-C3C6-06BF806C38F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28</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74A408C5-B42F-FC3F-FCD1-492E5BA5943C}"/>
              </a:ext>
            </a:extLst>
          </p:cNvPr>
          <p:cNvSpPr txBox="1"/>
          <p:nvPr/>
        </p:nvSpPr>
        <p:spPr>
          <a:xfrm>
            <a:off x="533399" y="1001250"/>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823AECC8-378F-5C81-95FB-1AECB0442195}"/>
              </a:ext>
            </a:extLst>
          </p:cNvPr>
          <p:cNvSpPr txBox="1"/>
          <p:nvPr/>
        </p:nvSpPr>
        <p:spPr>
          <a:xfrm>
            <a:off x="938981" y="1252152"/>
            <a:ext cx="10719620" cy="1323439"/>
          </a:xfrm>
          <a:prstGeom prst="rect">
            <a:avLst/>
          </a:prstGeom>
          <a:noFill/>
        </p:spPr>
        <p:txBody>
          <a:bodyPr wrap="square">
            <a:spAutoFit/>
          </a:bodyPr>
          <a:lstStyle/>
          <a:p>
            <a:r>
              <a:rPr lang="en-US" sz="2000" b="1" dirty="0">
                <a:solidFill>
                  <a:srgbClr val="002060"/>
                </a:solidFill>
                <a:latin typeface="Bookman Old Style" panose="02050604050505020204" pitchFamily="18" charset="0"/>
                <a:ea typeface="Calibri"/>
                <a:cs typeface="Calibri"/>
              </a:rPr>
              <a:t>Request/response pattern </a:t>
            </a:r>
          </a:p>
          <a:p>
            <a:endParaRPr lang="en-US" sz="2000" b="1" dirty="0">
              <a:solidFill>
                <a:srgbClr val="002060"/>
              </a:solidFill>
              <a:latin typeface="Bookman Old Style" panose="02050604050505020204" pitchFamily="18" charset="0"/>
              <a:ea typeface="Calibri"/>
              <a:cs typeface="Calibri"/>
            </a:endParaRPr>
          </a:p>
          <a:p>
            <a:r>
              <a:rPr lang="en-US" sz="2000" dirty="0">
                <a:solidFill>
                  <a:schemeClr val="dk1"/>
                </a:solidFill>
                <a:latin typeface="Bookman Old Style" panose="02050604050505020204" pitchFamily="18" charset="0"/>
                <a:ea typeface="Calibri"/>
                <a:cs typeface="Calibri"/>
              </a:rPr>
              <a:t> </a:t>
            </a:r>
          </a:p>
          <a:p>
            <a:endParaRPr lang="en-IN" sz="2000" dirty="0">
              <a:solidFill>
                <a:schemeClr val="dk1"/>
              </a:solidFill>
              <a:latin typeface="Bookman Old Style" panose="02050604050505020204" pitchFamily="18" charset="0"/>
              <a:ea typeface="Calibri"/>
              <a:cs typeface="Calibri"/>
            </a:endParaRPr>
          </a:p>
        </p:txBody>
      </p:sp>
      <p:sp>
        <p:nvSpPr>
          <p:cNvPr id="10" name="TextBox 9">
            <a:extLst>
              <a:ext uri="{FF2B5EF4-FFF2-40B4-BE49-F238E27FC236}">
                <a16:creationId xmlns:a16="http://schemas.microsoft.com/office/drawing/2014/main" id="{6D4E4862-F4DD-EA13-5738-2C1DC1BEC77D}"/>
              </a:ext>
            </a:extLst>
          </p:cNvPr>
          <p:cNvSpPr txBox="1"/>
          <p:nvPr/>
        </p:nvSpPr>
        <p:spPr>
          <a:xfrm>
            <a:off x="825910" y="1752609"/>
            <a:ext cx="10832691" cy="2769989"/>
          </a:xfrm>
          <a:prstGeom prst="rect">
            <a:avLst/>
          </a:prstGeom>
          <a:noFill/>
        </p:spPr>
        <p:txBody>
          <a:bodyPr wrap="square">
            <a:spAutoFit/>
          </a:bodyPr>
          <a:lstStyle/>
          <a:p>
            <a:pPr marL="342900" indent="-342900" algn="just">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With the service-side half-async pattern, the service receives a request from a client, delegates the work to be done, and when the work is finished responds to the client</a:t>
            </a:r>
            <a:r>
              <a:rPr lang="en-US" dirty="0"/>
              <a:t>.</a:t>
            </a:r>
          </a:p>
          <a:p>
            <a:pPr marL="342900" indent="-342900" algn="just">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This type of processing results in the development of more scalable services, which can handle requests from many more clients. </a:t>
            </a:r>
          </a:p>
          <a:p>
            <a:pPr marL="342900" indent="-342900" algn="just">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Also very common in all server side development frameworks found today for all popular programming languages.</a:t>
            </a:r>
          </a:p>
          <a:p>
            <a:pPr marL="342900" indent="-342900" algn="just">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Use cases : HTTP requests, REST APIs, RPC calls</a:t>
            </a:r>
          </a:p>
          <a:p>
            <a:pPr algn="just"/>
            <a:endParaRPr lang="en-IN" dirty="0"/>
          </a:p>
        </p:txBody>
      </p:sp>
    </p:spTree>
    <p:extLst>
      <p:ext uri="{BB962C8B-B14F-4D97-AF65-F5344CB8AC3E}">
        <p14:creationId xmlns:p14="http://schemas.microsoft.com/office/powerpoint/2010/main" val="38783677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9F90AF76-33F8-ABC7-7D22-42CC52B16554}"/>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F420FAD8-BAFC-C7C2-3AF8-F9646C01C9BF}"/>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Common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5F91C26D-2AEE-AA92-936F-2930064415A6}"/>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55F905BE-4DA9-EB5C-6F22-AF57A3E4689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29</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EC33BB64-2F88-AD18-748E-0410F0474E83}"/>
              </a:ext>
            </a:extLst>
          </p:cNvPr>
          <p:cNvSpPr txBox="1"/>
          <p:nvPr/>
        </p:nvSpPr>
        <p:spPr>
          <a:xfrm>
            <a:off x="533399" y="1001250"/>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25C2D49C-725D-E460-3453-08830BAB74C0}"/>
              </a:ext>
            </a:extLst>
          </p:cNvPr>
          <p:cNvSpPr txBox="1"/>
          <p:nvPr/>
        </p:nvSpPr>
        <p:spPr>
          <a:xfrm>
            <a:off x="938981" y="1252152"/>
            <a:ext cx="10719620" cy="1323439"/>
          </a:xfrm>
          <a:prstGeom prst="rect">
            <a:avLst/>
          </a:prstGeom>
          <a:noFill/>
        </p:spPr>
        <p:txBody>
          <a:bodyPr wrap="square">
            <a:spAutoFit/>
          </a:bodyPr>
          <a:lstStyle/>
          <a:p>
            <a:r>
              <a:rPr lang="en-US" sz="2000" b="1" dirty="0">
                <a:solidFill>
                  <a:srgbClr val="002060"/>
                </a:solidFill>
                <a:latin typeface="Bookman Old Style" panose="02050604050505020204" pitchFamily="18" charset="0"/>
                <a:ea typeface="Calibri"/>
                <a:cs typeface="Calibri"/>
              </a:rPr>
              <a:t>Request/response pattern </a:t>
            </a:r>
          </a:p>
          <a:p>
            <a:endParaRPr lang="en-US" sz="2000" b="1" dirty="0">
              <a:solidFill>
                <a:srgbClr val="002060"/>
              </a:solidFill>
              <a:latin typeface="Bookman Old Style" panose="02050604050505020204" pitchFamily="18" charset="0"/>
              <a:ea typeface="Calibri"/>
              <a:cs typeface="Calibri"/>
            </a:endParaRPr>
          </a:p>
          <a:p>
            <a:r>
              <a:rPr lang="en-US" sz="2000" dirty="0">
                <a:solidFill>
                  <a:schemeClr val="dk1"/>
                </a:solidFill>
                <a:latin typeface="Bookman Old Style" panose="02050604050505020204" pitchFamily="18" charset="0"/>
                <a:ea typeface="Calibri"/>
                <a:cs typeface="Calibri"/>
              </a:rPr>
              <a:t> </a:t>
            </a:r>
          </a:p>
          <a:p>
            <a:endParaRPr lang="en-IN" sz="2000" dirty="0">
              <a:solidFill>
                <a:schemeClr val="dk1"/>
              </a:solidFill>
              <a:latin typeface="Bookman Old Style" panose="02050604050505020204" pitchFamily="18" charset="0"/>
              <a:ea typeface="Calibri"/>
              <a:cs typeface="Calibri"/>
            </a:endParaRPr>
          </a:p>
        </p:txBody>
      </p:sp>
      <p:sp>
        <p:nvSpPr>
          <p:cNvPr id="7" name="TextBox 6">
            <a:extLst>
              <a:ext uri="{FF2B5EF4-FFF2-40B4-BE49-F238E27FC236}">
                <a16:creationId xmlns:a16="http://schemas.microsoft.com/office/drawing/2014/main" id="{BCBEABCD-F183-A2BF-7F08-80EBEDC58E96}"/>
              </a:ext>
            </a:extLst>
          </p:cNvPr>
          <p:cNvSpPr txBox="1"/>
          <p:nvPr/>
        </p:nvSpPr>
        <p:spPr>
          <a:xfrm>
            <a:off x="938980" y="1612932"/>
            <a:ext cx="10889225" cy="400110"/>
          </a:xfrm>
          <a:prstGeom prst="rect">
            <a:avLst/>
          </a:prstGeom>
          <a:noFill/>
        </p:spPr>
        <p:txBody>
          <a:bodyPr wrap="square">
            <a:spAutoFit/>
          </a:bodyPr>
          <a:lstStyle/>
          <a:p>
            <a:pPr marL="342900" indent="-342900" algn="just">
              <a:buFont typeface="Arial" panose="020B0604020202020204" pitchFamily="34" charset="0"/>
              <a:buChar char="•"/>
            </a:pPr>
            <a:r>
              <a:rPr lang="en-US" sz="2000" b="1" dirty="0">
                <a:solidFill>
                  <a:srgbClr val="C00000"/>
                </a:solidFill>
                <a:latin typeface="Bookman Old Style" panose="02050604050505020204" pitchFamily="18" charset="0"/>
                <a:ea typeface="Calibri"/>
                <a:cs typeface="Calibri"/>
              </a:rPr>
              <a:t>Full-async, </a:t>
            </a:r>
            <a:r>
              <a:rPr lang="en-US" sz="2000" dirty="0">
                <a:solidFill>
                  <a:schemeClr val="dk1"/>
                </a:solidFill>
                <a:latin typeface="Bookman Old Style" panose="02050604050505020204" pitchFamily="18" charset="0"/>
                <a:ea typeface="Calibri"/>
                <a:cs typeface="Calibri"/>
              </a:rPr>
              <a:t>occurs when both client and server perform their work asynchronously</a:t>
            </a:r>
            <a:endParaRPr lang="en-IN" sz="2000" dirty="0">
              <a:solidFill>
                <a:schemeClr val="dk1"/>
              </a:solidFill>
              <a:latin typeface="Bookman Old Style" panose="02050604050505020204" pitchFamily="18" charset="0"/>
              <a:ea typeface="Calibri"/>
              <a:cs typeface="Calibri"/>
            </a:endParaRPr>
          </a:p>
        </p:txBody>
      </p:sp>
      <p:pic>
        <p:nvPicPr>
          <p:cNvPr id="9" name="Picture 8">
            <a:extLst>
              <a:ext uri="{FF2B5EF4-FFF2-40B4-BE49-F238E27FC236}">
                <a16:creationId xmlns:a16="http://schemas.microsoft.com/office/drawing/2014/main" id="{1F1BBB85-05D8-536F-349D-8E0725D61C6F}"/>
              </a:ext>
            </a:extLst>
          </p:cNvPr>
          <p:cNvPicPr>
            <a:picLocks noChangeAspect="1"/>
          </p:cNvPicPr>
          <p:nvPr/>
        </p:nvPicPr>
        <p:blipFill>
          <a:blip r:embed="rId3"/>
          <a:stretch>
            <a:fillRect/>
          </a:stretch>
        </p:blipFill>
        <p:spPr>
          <a:xfrm>
            <a:off x="2767780" y="2122920"/>
            <a:ext cx="5723116" cy="3246401"/>
          </a:xfrm>
          <a:prstGeom prst="rect">
            <a:avLst/>
          </a:prstGeom>
        </p:spPr>
      </p:pic>
    </p:spTree>
    <p:extLst>
      <p:ext uri="{BB962C8B-B14F-4D97-AF65-F5344CB8AC3E}">
        <p14:creationId xmlns:p14="http://schemas.microsoft.com/office/powerpoint/2010/main" val="25898977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177857D4-A1FC-3DFA-9CFB-AC8B5166BA5E}"/>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3167C087-1E78-9FBB-B69D-7AE775BD7286}"/>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Common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2394BA8B-37CA-92A1-51F0-5D25202AF815}"/>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6B8D826E-DFFC-BD52-A86F-65996EA97D1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30</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62ECAC38-82EC-6236-B5EC-0A236085292C}"/>
              </a:ext>
            </a:extLst>
          </p:cNvPr>
          <p:cNvSpPr txBox="1"/>
          <p:nvPr/>
        </p:nvSpPr>
        <p:spPr>
          <a:xfrm>
            <a:off x="533399" y="1001250"/>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C3875717-393B-AF31-FEAF-BEBD93642614}"/>
              </a:ext>
            </a:extLst>
          </p:cNvPr>
          <p:cNvSpPr txBox="1"/>
          <p:nvPr/>
        </p:nvSpPr>
        <p:spPr>
          <a:xfrm>
            <a:off x="938981" y="1252152"/>
            <a:ext cx="10719620" cy="1323439"/>
          </a:xfrm>
          <a:prstGeom prst="rect">
            <a:avLst/>
          </a:prstGeom>
          <a:noFill/>
        </p:spPr>
        <p:txBody>
          <a:bodyPr wrap="square">
            <a:spAutoFit/>
          </a:bodyPr>
          <a:lstStyle/>
          <a:p>
            <a:r>
              <a:rPr lang="en-US" sz="2000" b="1" dirty="0">
                <a:solidFill>
                  <a:srgbClr val="002060"/>
                </a:solidFill>
                <a:latin typeface="Bookman Old Style" panose="02050604050505020204" pitchFamily="18" charset="0"/>
                <a:ea typeface="Calibri"/>
                <a:cs typeface="Calibri"/>
              </a:rPr>
              <a:t>Request/response pattern </a:t>
            </a:r>
          </a:p>
          <a:p>
            <a:endParaRPr lang="en-US" sz="2000" b="1" dirty="0">
              <a:solidFill>
                <a:srgbClr val="002060"/>
              </a:solidFill>
              <a:latin typeface="Bookman Old Style" panose="02050604050505020204" pitchFamily="18" charset="0"/>
              <a:ea typeface="Calibri"/>
              <a:cs typeface="Calibri"/>
            </a:endParaRPr>
          </a:p>
          <a:p>
            <a:r>
              <a:rPr lang="en-US" sz="2000" dirty="0">
                <a:solidFill>
                  <a:schemeClr val="dk1"/>
                </a:solidFill>
                <a:latin typeface="Bookman Old Style" panose="02050604050505020204" pitchFamily="18" charset="0"/>
                <a:ea typeface="Calibri"/>
                <a:cs typeface="Calibri"/>
              </a:rPr>
              <a:t> </a:t>
            </a:r>
          </a:p>
          <a:p>
            <a:endParaRPr lang="en-IN" sz="2000" dirty="0">
              <a:solidFill>
                <a:schemeClr val="dk1"/>
              </a:solidFill>
              <a:latin typeface="Bookman Old Style" panose="02050604050505020204" pitchFamily="18" charset="0"/>
              <a:ea typeface="Calibri"/>
              <a:cs typeface="Calibri"/>
            </a:endParaRPr>
          </a:p>
        </p:txBody>
      </p:sp>
      <p:sp>
        <p:nvSpPr>
          <p:cNvPr id="7" name="TextBox 6">
            <a:extLst>
              <a:ext uri="{FF2B5EF4-FFF2-40B4-BE49-F238E27FC236}">
                <a16:creationId xmlns:a16="http://schemas.microsoft.com/office/drawing/2014/main" id="{7D19D02C-B0C3-C245-367B-FE158C1AA34B}"/>
              </a:ext>
            </a:extLst>
          </p:cNvPr>
          <p:cNvSpPr txBox="1"/>
          <p:nvPr/>
        </p:nvSpPr>
        <p:spPr>
          <a:xfrm>
            <a:off x="938980" y="1599843"/>
            <a:ext cx="10836459" cy="1015663"/>
          </a:xfrm>
          <a:prstGeom prst="rect">
            <a:avLst/>
          </a:prstGeom>
          <a:noFill/>
        </p:spPr>
        <p:txBody>
          <a:bodyPr wrap="square">
            <a:spAutoFit/>
          </a:bodyPr>
          <a:lstStyle/>
          <a:p>
            <a:pPr marL="342900" indent="-342900" algn="just">
              <a:buFont typeface="Arial" panose="020B0604020202020204" pitchFamily="34" charset="0"/>
              <a:buChar char="•"/>
            </a:pPr>
            <a:r>
              <a:rPr lang="en-US" sz="2000" b="1" dirty="0">
                <a:solidFill>
                  <a:srgbClr val="C00000"/>
                </a:solidFill>
                <a:latin typeface="Bookman Old Style" panose="02050604050505020204" pitchFamily="18" charset="0"/>
                <a:ea typeface="Calibri"/>
                <a:cs typeface="Calibri"/>
              </a:rPr>
              <a:t>Full-async- streaming system - </a:t>
            </a:r>
            <a:r>
              <a:rPr lang="en-US" sz="2000" dirty="0">
                <a:solidFill>
                  <a:schemeClr val="tx1"/>
                </a:solidFill>
                <a:latin typeface="Bookman Old Style" panose="02050604050505020204" pitchFamily="18" charset="0"/>
                <a:ea typeface="Calibri"/>
                <a:cs typeface="Calibri"/>
              </a:rPr>
              <a:t>to provide a real-time traffic and routing service for all vehicles on the road </a:t>
            </a:r>
          </a:p>
          <a:p>
            <a:pPr marL="342900" indent="-342900" algn="just">
              <a:buFont typeface="Arial" panose="020B0604020202020204" pitchFamily="34" charset="0"/>
              <a:buChar char="•"/>
            </a:pPr>
            <a:endParaRPr lang="en-IN" sz="2000" dirty="0">
              <a:solidFill>
                <a:schemeClr val="dk1"/>
              </a:solidFill>
              <a:latin typeface="Bookman Old Style" panose="02050604050505020204" pitchFamily="18" charset="0"/>
              <a:ea typeface="Calibri"/>
              <a:cs typeface="Calibri"/>
            </a:endParaRPr>
          </a:p>
        </p:txBody>
      </p:sp>
      <p:pic>
        <p:nvPicPr>
          <p:cNvPr id="8" name="Picture 7">
            <a:extLst>
              <a:ext uri="{FF2B5EF4-FFF2-40B4-BE49-F238E27FC236}">
                <a16:creationId xmlns:a16="http://schemas.microsoft.com/office/drawing/2014/main" id="{12C10EDB-AF69-C31D-10E7-275FFF98D518}"/>
              </a:ext>
            </a:extLst>
          </p:cNvPr>
          <p:cNvPicPr>
            <a:picLocks noChangeAspect="1"/>
          </p:cNvPicPr>
          <p:nvPr/>
        </p:nvPicPr>
        <p:blipFill>
          <a:blip r:embed="rId3"/>
          <a:stretch>
            <a:fillRect/>
          </a:stretch>
        </p:blipFill>
        <p:spPr>
          <a:xfrm>
            <a:off x="1410839" y="2245936"/>
            <a:ext cx="6065375" cy="4475539"/>
          </a:xfrm>
          <a:prstGeom prst="rect">
            <a:avLst/>
          </a:prstGeom>
        </p:spPr>
      </p:pic>
    </p:spTree>
    <p:extLst>
      <p:ext uri="{BB962C8B-B14F-4D97-AF65-F5344CB8AC3E}">
        <p14:creationId xmlns:p14="http://schemas.microsoft.com/office/powerpoint/2010/main" val="11273108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F8F8BD49-6C45-9A5A-29C6-18B8B5005F7C}"/>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797B21E5-E896-51C1-2A3D-BEB0B7140022}"/>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Common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A1DC184D-3259-92C9-A2F2-04F328A07940}"/>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A1360089-2423-4833-7E1F-ABE9E29E2E1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31</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5219B2CB-DFAB-F087-B2E6-203751BE3BBE}"/>
              </a:ext>
            </a:extLst>
          </p:cNvPr>
          <p:cNvSpPr txBox="1"/>
          <p:nvPr/>
        </p:nvSpPr>
        <p:spPr>
          <a:xfrm>
            <a:off x="533399" y="1001250"/>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EE81237E-FAC4-DA39-7408-55C4E90E21AA}"/>
              </a:ext>
            </a:extLst>
          </p:cNvPr>
          <p:cNvSpPr txBox="1"/>
          <p:nvPr/>
        </p:nvSpPr>
        <p:spPr>
          <a:xfrm>
            <a:off x="938981" y="1503054"/>
            <a:ext cx="10719620" cy="1015663"/>
          </a:xfrm>
          <a:prstGeom prst="rect">
            <a:avLst/>
          </a:prstGeom>
          <a:noFill/>
        </p:spPr>
        <p:txBody>
          <a:bodyPr wrap="square">
            <a:spAutoFit/>
          </a:bodyPr>
          <a:lstStyle/>
          <a:p>
            <a:r>
              <a:rPr lang="en-US" sz="2000" b="1" dirty="0">
                <a:solidFill>
                  <a:srgbClr val="002060"/>
                </a:solidFill>
                <a:latin typeface="Bookman Old Style" panose="02050604050505020204" pitchFamily="18" charset="0"/>
                <a:ea typeface="Calibri"/>
                <a:cs typeface="Calibri"/>
              </a:rPr>
              <a:t>(ii) Request/acknowledge</a:t>
            </a:r>
          </a:p>
          <a:p>
            <a:r>
              <a:rPr lang="en-US" sz="2000" b="1" dirty="0">
                <a:solidFill>
                  <a:srgbClr val="002060"/>
                </a:solidFill>
                <a:latin typeface="Bookman Old Style" panose="02050604050505020204" pitchFamily="18" charset="0"/>
                <a:ea typeface="Calibri"/>
                <a:cs typeface="Calibri"/>
              </a:rPr>
              <a:t> </a:t>
            </a:r>
            <a:r>
              <a:rPr lang="en-US" sz="2000" dirty="0">
                <a:solidFill>
                  <a:schemeClr val="dk1"/>
                </a:solidFill>
                <a:latin typeface="Bookman Old Style" panose="02050604050505020204" pitchFamily="18" charset="0"/>
                <a:ea typeface="Calibri"/>
                <a:cs typeface="Calibri"/>
                <a:sym typeface="Wingdings" panose="05000000000000000000" pitchFamily="2" charset="2"/>
              </a:rPr>
              <a:t> </a:t>
            </a:r>
            <a:r>
              <a:rPr lang="en-US" sz="2000" dirty="0">
                <a:solidFill>
                  <a:schemeClr val="dk1"/>
                </a:solidFill>
                <a:latin typeface="Bookman Old Style" panose="02050604050505020204" pitchFamily="18" charset="0"/>
                <a:ea typeface="Calibri"/>
                <a:cs typeface="Calibri"/>
              </a:rPr>
              <a:t>the data sent back in the acknowledgment can be used to make subsequent requests, perhaps to check the status of the initial request or get a final response</a:t>
            </a:r>
          </a:p>
        </p:txBody>
      </p:sp>
      <p:pic>
        <p:nvPicPr>
          <p:cNvPr id="8" name="Picture 7">
            <a:extLst>
              <a:ext uri="{FF2B5EF4-FFF2-40B4-BE49-F238E27FC236}">
                <a16:creationId xmlns:a16="http://schemas.microsoft.com/office/drawing/2014/main" id="{7D290931-4253-D98A-88E7-67CFC76F584A}"/>
              </a:ext>
            </a:extLst>
          </p:cNvPr>
          <p:cNvPicPr>
            <a:picLocks noChangeAspect="1"/>
          </p:cNvPicPr>
          <p:nvPr/>
        </p:nvPicPr>
        <p:blipFill>
          <a:blip r:embed="rId3"/>
          <a:stretch>
            <a:fillRect/>
          </a:stretch>
        </p:blipFill>
        <p:spPr>
          <a:xfrm>
            <a:off x="2359742" y="2438139"/>
            <a:ext cx="7295534" cy="3998789"/>
          </a:xfrm>
          <a:prstGeom prst="rect">
            <a:avLst/>
          </a:prstGeom>
        </p:spPr>
      </p:pic>
    </p:spTree>
    <p:extLst>
      <p:ext uri="{BB962C8B-B14F-4D97-AF65-F5344CB8AC3E}">
        <p14:creationId xmlns:p14="http://schemas.microsoft.com/office/powerpoint/2010/main" val="21294800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D0CC0E2E-43E7-0A51-C720-FDE83D7137EE}"/>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38435D0D-0561-B83A-86CB-126AFC682A75}"/>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Common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E98D0347-377D-B0F2-9C8E-CACF46A2CB3A}"/>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70F760DD-C658-A0D8-B873-006057B0A37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32</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A83C65AC-6506-0807-7E05-BEA1ED7CCDEC}"/>
              </a:ext>
            </a:extLst>
          </p:cNvPr>
          <p:cNvSpPr txBox="1"/>
          <p:nvPr/>
        </p:nvSpPr>
        <p:spPr>
          <a:xfrm>
            <a:off x="533399" y="1001250"/>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B6BB4B7A-9BFE-F078-2002-0199A6F83682}"/>
              </a:ext>
            </a:extLst>
          </p:cNvPr>
          <p:cNvSpPr txBox="1"/>
          <p:nvPr/>
        </p:nvSpPr>
        <p:spPr>
          <a:xfrm>
            <a:off x="1047136" y="1185817"/>
            <a:ext cx="10719620" cy="2246769"/>
          </a:xfrm>
          <a:prstGeom prst="rect">
            <a:avLst/>
          </a:prstGeom>
          <a:noFill/>
        </p:spPr>
        <p:txBody>
          <a:bodyPr wrap="square">
            <a:spAutoFit/>
          </a:bodyPr>
          <a:lstStyle/>
          <a:p>
            <a:r>
              <a:rPr lang="en-US" sz="2000" b="1" dirty="0">
                <a:solidFill>
                  <a:srgbClr val="002060"/>
                </a:solidFill>
                <a:latin typeface="Bookman Old Style" panose="02050604050505020204" pitchFamily="18" charset="0"/>
                <a:ea typeface="Calibri"/>
                <a:cs typeface="Calibri"/>
              </a:rPr>
              <a:t>(ii)Request/acknowledge</a:t>
            </a:r>
          </a:p>
          <a:p>
            <a:pPr marL="342900" indent="-342900">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with the request/acknowledge pattern, a client makes a request of a service, asking for an action to be taken, and in turn receives an acknowledgment token that can be used in future requests. </a:t>
            </a:r>
          </a:p>
          <a:p>
            <a:pPr marL="342900" indent="-342900">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with the request/acknowledge pattern, a client makes a request of a service, asking for an action to be taken, and in turn receives an acknowledgment token that can be used in future requests. </a:t>
            </a:r>
          </a:p>
        </p:txBody>
      </p:sp>
    </p:spTree>
    <p:extLst>
      <p:ext uri="{BB962C8B-B14F-4D97-AF65-F5344CB8AC3E}">
        <p14:creationId xmlns:p14="http://schemas.microsoft.com/office/powerpoint/2010/main" val="41280330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55B73E10-66A1-4CB7-0226-BC0178364D38}"/>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F3ECD995-CDBA-9193-D6F9-9AEC4B8E2886}"/>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Common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6CE53051-7192-B4DA-6730-3471B4601ECC}"/>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522714DC-4814-4E02-E292-40BFE72F212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33</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BDAFF433-4F02-9346-2165-64741B60737A}"/>
              </a:ext>
            </a:extLst>
          </p:cNvPr>
          <p:cNvSpPr txBox="1"/>
          <p:nvPr/>
        </p:nvSpPr>
        <p:spPr>
          <a:xfrm>
            <a:off x="533399" y="1001250"/>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A704E67C-469F-C5B8-189B-56F7515D2AB2}"/>
              </a:ext>
            </a:extLst>
          </p:cNvPr>
          <p:cNvSpPr txBox="1"/>
          <p:nvPr/>
        </p:nvSpPr>
        <p:spPr>
          <a:xfrm>
            <a:off x="1047136" y="1185817"/>
            <a:ext cx="10719620" cy="4401205"/>
          </a:xfrm>
          <a:prstGeom prst="rect">
            <a:avLst/>
          </a:prstGeom>
          <a:noFill/>
        </p:spPr>
        <p:txBody>
          <a:bodyPr wrap="square">
            <a:spAutoFit/>
          </a:bodyPr>
          <a:lstStyle/>
          <a:p>
            <a:r>
              <a:rPr lang="en-US" sz="2000" b="1" dirty="0">
                <a:solidFill>
                  <a:srgbClr val="002060"/>
                </a:solidFill>
                <a:latin typeface="Bookman Old Style" panose="02050604050505020204" pitchFamily="18" charset="0"/>
                <a:ea typeface="Calibri"/>
                <a:cs typeface="Calibri"/>
              </a:rPr>
              <a:t>Request/acknowledge</a:t>
            </a:r>
          </a:p>
          <a:p>
            <a:pPr marL="342900" indent="-342900">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The unique thing we’re doing that’s particular to the request/acknowledge pattern occurs on the first page they visit. </a:t>
            </a:r>
          </a:p>
          <a:p>
            <a:pPr marL="342900" indent="-342900">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On this </a:t>
            </a:r>
            <a:r>
              <a:rPr lang="en-US" sz="2000" b="1" dirty="0">
                <a:solidFill>
                  <a:schemeClr val="dk1"/>
                </a:solidFill>
                <a:latin typeface="Bookman Old Style" panose="02050604050505020204" pitchFamily="18" charset="0"/>
                <a:ea typeface="Calibri"/>
                <a:cs typeface="Calibri"/>
              </a:rPr>
              <a:t>page our collection tier returns an acknowledgment </a:t>
            </a:r>
            <a:r>
              <a:rPr lang="en-US" sz="2000" dirty="0">
                <a:solidFill>
                  <a:schemeClr val="dk1"/>
                </a:solidFill>
                <a:latin typeface="Bookman Old Style" panose="02050604050505020204" pitchFamily="18" charset="0"/>
                <a:ea typeface="Calibri"/>
                <a:cs typeface="Calibri"/>
              </a:rPr>
              <a:t>that can be used in future requests. </a:t>
            </a:r>
          </a:p>
          <a:p>
            <a:pPr marL="342900" indent="-342900">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The request/acknowledge pattern returns data that can be used in future requests. </a:t>
            </a:r>
          </a:p>
          <a:p>
            <a:pPr marL="342900" indent="-342900">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In this case the acknowledgment is nothing more than a unique identifier, but it plays an important role. </a:t>
            </a:r>
          </a:p>
          <a:p>
            <a:pPr marL="342900" indent="-342900">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The acknowledgment can be used on all subsequent pages the visitor visits.</a:t>
            </a:r>
          </a:p>
          <a:p>
            <a:pPr marL="342900" indent="-342900">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When we call the propensity service, we can pass the unique identifier we obtained on the very first visit. </a:t>
            </a:r>
          </a:p>
          <a:p>
            <a:pPr marL="342900" indent="-342900">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With the unique identifier, which identifies the visitor, our propensity service can determine and return the visitor’s current propensity-to-purchase score. </a:t>
            </a:r>
          </a:p>
        </p:txBody>
      </p:sp>
    </p:spTree>
    <p:extLst>
      <p:ext uri="{BB962C8B-B14F-4D97-AF65-F5344CB8AC3E}">
        <p14:creationId xmlns:p14="http://schemas.microsoft.com/office/powerpoint/2010/main" val="8798938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F73F4142-7733-946E-50FC-2A393FF6173F}"/>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F21569E0-82E4-B453-4FBA-42C83D0D7A2F}"/>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Common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049852FE-EA21-4282-79D7-4ED43B937398}"/>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F7637CCC-6F01-C321-C5FD-092104D1D62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34</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B431D551-6ADC-19C3-6064-C9A5D4704329}"/>
              </a:ext>
            </a:extLst>
          </p:cNvPr>
          <p:cNvSpPr txBox="1"/>
          <p:nvPr/>
        </p:nvSpPr>
        <p:spPr>
          <a:xfrm>
            <a:off x="533399" y="1001250"/>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A111DC11-5868-E934-50DE-CA9F141C3995}"/>
              </a:ext>
            </a:extLst>
          </p:cNvPr>
          <p:cNvSpPr txBox="1"/>
          <p:nvPr/>
        </p:nvSpPr>
        <p:spPr>
          <a:xfrm>
            <a:off x="1047136" y="1185817"/>
            <a:ext cx="10719620" cy="2369880"/>
          </a:xfrm>
          <a:prstGeom prst="rect">
            <a:avLst/>
          </a:prstGeom>
          <a:noFill/>
        </p:spPr>
        <p:txBody>
          <a:bodyPr wrap="square">
            <a:spAutoFit/>
          </a:bodyPr>
          <a:lstStyle/>
          <a:p>
            <a:r>
              <a:rPr lang="en-US" sz="2000" b="1" dirty="0">
                <a:solidFill>
                  <a:srgbClr val="002060"/>
                </a:solidFill>
                <a:latin typeface="Bookman Old Style" panose="02050604050505020204" pitchFamily="18" charset="0"/>
                <a:ea typeface="Calibri"/>
                <a:cs typeface="Calibri"/>
              </a:rPr>
              <a:t>(iii)</a:t>
            </a:r>
            <a:r>
              <a:rPr lang="en-IN" sz="2800" dirty="0"/>
              <a:t> </a:t>
            </a:r>
            <a:r>
              <a:rPr lang="en-IN" sz="2000" b="1" dirty="0">
                <a:solidFill>
                  <a:srgbClr val="002060"/>
                </a:solidFill>
                <a:latin typeface="Bookman Old Style" panose="02050604050505020204" pitchFamily="18" charset="0"/>
                <a:ea typeface="Calibri"/>
                <a:cs typeface="Calibri"/>
              </a:rPr>
              <a:t>Publish/subscribe pattern - </a:t>
            </a:r>
            <a:r>
              <a:rPr lang="en-IN" sz="2000" dirty="0">
                <a:solidFill>
                  <a:schemeClr val="dk1"/>
                </a:solidFill>
                <a:latin typeface="Bookman Old Style" panose="02050604050505020204" pitchFamily="18" charset="0"/>
                <a:ea typeface="Calibri"/>
                <a:cs typeface="Calibri"/>
              </a:rPr>
              <a:t>s</a:t>
            </a:r>
            <a:r>
              <a:rPr lang="en-US" sz="2000" dirty="0">
                <a:solidFill>
                  <a:schemeClr val="dk1"/>
                </a:solidFill>
                <a:latin typeface="Bookman Old Style" panose="02050604050505020204" pitchFamily="18" charset="0"/>
                <a:ea typeface="Calibri"/>
                <a:cs typeface="Calibri"/>
              </a:rPr>
              <a:t>tarts with a producer publishing a message to a broker</a:t>
            </a:r>
          </a:p>
          <a:p>
            <a:r>
              <a:rPr lang="en-US" sz="2000" dirty="0">
                <a:solidFill>
                  <a:schemeClr val="dk1"/>
                </a:solidFill>
                <a:latin typeface="Bookman Old Style" panose="02050604050505020204" pitchFamily="18" charset="0"/>
                <a:ea typeface="Calibri"/>
                <a:cs typeface="Calibri"/>
              </a:rPr>
              <a:t>The Pub/Sub (Publisher/Subscriber) model is a messaging pattern used in software architecture to facilitate asynchronous communication between different components or systems. </a:t>
            </a:r>
          </a:p>
          <a:p>
            <a:r>
              <a:rPr lang="en-US" sz="2000" dirty="0">
                <a:solidFill>
                  <a:schemeClr val="dk1"/>
                </a:solidFill>
                <a:latin typeface="Bookman Old Style" panose="02050604050505020204" pitchFamily="18" charset="0"/>
                <a:ea typeface="Calibri"/>
                <a:cs typeface="Calibri"/>
              </a:rPr>
              <a:t>In this model, publishers produce messages that are then consumed by subscribers</a:t>
            </a:r>
          </a:p>
          <a:p>
            <a:endParaRPr lang="en-IN" sz="2000" dirty="0">
              <a:solidFill>
                <a:schemeClr val="dk1"/>
              </a:solidFill>
              <a:latin typeface="Bookman Old Style" panose="02050604050505020204" pitchFamily="18" charset="0"/>
              <a:ea typeface="Calibri"/>
              <a:cs typeface="Calibri"/>
            </a:endParaRPr>
          </a:p>
        </p:txBody>
      </p:sp>
    </p:spTree>
    <p:extLst>
      <p:ext uri="{BB962C8B-B14F-4D97-AF65-F5344CB8AC3E}">
        <p14:creationId xmlns:p14="http://schemas.microsoft.com/office/powerpoint/2010/main" val="23140765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85CAAA8B-10AE-FBBE-2A08-4E102F4DF730}"/>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1095FF69-216E-02EC-0262-22CE1B051EB4}"/>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Common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804D8F21-76FA-4264-078D-E06B9A42625B}"/>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D3E9D6EF-5047-6401-E0AA-1A1C0CD3971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35</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FE32DB0D-26E2-69F1-8BE6-3DFBF52A9AC0}"/>
              </a:ext>
            </a:extLst>
          </p:cNvPr>
          <p:cNvSpPr txBox="1"/>
          <p:nvPr/>
        </p:nvSpPr>
        <p:spPr>
          <a:xfrm>
            <a:off x="533399" y="1001250"/>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21D2AE23-D2CE-84D0-8732-5D4D6FF2845D}"/>
              </a:ext>
            </a:extLst>
          </p:cNvPr>
          <p:cNvSpPr txBox="1"/>
          <p:nvPr/>
        </p:nvSpPr>
        <p:spPr>
          <a:xfrm>
            <a:off x="1047136" y="1185817"/>
            <a:ext cx="10719620" cy="5016758"/>
          </a:xfrm>
          <a:prstGeom prst="rect">
            <a:avLst/>
          </a:prstGeom>
          <a:noFill/>
        </p:spPr>
        <p:txBody>
          <a:bodyPr wrap="square">
            <a:spAutoFit/>
          </a:bodyPr>
          <a:lstStyle/>
          <a:p>
            <a:pPr>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Publisher </a:t>
            </a:r>
          </a:p>
          <a:p>
            <a:pPr marL="742950" lvl="1" indent="-285750">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The Publisher is responsible for creating and sending messages to the Pub/Sub system. </a:t>
            </a:r>
          </a:p>
          <a:p>
            <a:pPr marL="742950" lvl="1" indent="-285750">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Publishers categorize messages into topics or channels based on their content. </a:t>
            </a:r>
            <a:r>
              <a:rPr lang="en-US" sz="2000" b="1" dirty="0">
                <a:solidFill>
                  <a:schemeClr val="dk1"/>
                </a:solidFill>
                <a:latin typeface="Bookman Old Style" panose="02050604050505020204" pitchFamily="18" charset="0"/>
                <a:ea typeface="Calibri"/>
                <a:cs typeface="Calibri"/>
              </a:rPr>
              <a:t>They do not need to know the identity of the subscribers.</a:t>
            </a:r>
          </a:p>
          <a:p>
            <a:pPr>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Subscriber </a:t>
            </a:r>
          </a:p>
          <a:p>
            <a:pPr marL="742950" lvl="1" indent="-285750">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The Subscriber is a recipient of messages in the Pub/Sub system. Subscribers express interest in receiving messages from specific topics. </a:t>
            </a:r>
          </a:p>
          <a:p>
            <a:pPr marL="742950" lvl="1" indent="-285750">
              <a:buFont typeface="Arial" panose="020B0604020202020204" pitchFamily="34" charset="0"/>
              <a:buChar char="•"/>
            </a:pPr>
            <a:r>
              <a:rPr lang="en-US" sz="2000" b="1" dirty="0">
                <a:solidFill>
                  <a:schemeClr val="dk1"/>
                </a:solidFill>
                <a:latin typeface="Bookman Old Style" panose="02050604050505020204" pitchFamily="18" charset="0"/>
                <a:ea typeface="Calibri"/>
                <a:cs typeface="Calibri"/>
              </a:rPr>
              <a:t>They do not need to know the identity of the publishers</a:t>
            </a:r>
            <a:r>
              <a:rPr lang="en-US" sz="2000" dirty="0">
                <a:solidFill>
                  <a:schemeClr val="dk1"/>
                </a:solidFill>
                <a:latin typeface="Bookman Old Style" panose="02050604050505020204" pitchFamily="18" charset="0"/>
                <a:ea typeface="Calibri"/>
                <a:cs typeface="Calibri"/>
              </a:rPr>
              <a:t>. Subscribers receive messages from topics to which they are subscribed.</a:t>
            </a:r>
          </a:p>
          <a:p>
            <a:pPr>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Topic </a:t>
            </a:r>
          </a:p>
          <a:p>
            <a:pPr marL="742950" lvl="1" indent="-285750">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A Topic is a named channel or category to which messages are published. Publishers send messages to specific topics, and subscribers can subscribe to one or more topics to receive messages of interest. </a:t>
            </a:r>
          </a:p>
          <a:p>
            <a:pPr marL="742950" lvl="1" indent="-285750">
              <a:buFont typeface="Arial" panose="020B0604020202020204" pitchFamily="34" charset="0"/>
              <a:buChar char="•"/>
            </a:pPr>
            <a:r>
              <a:rPr lang="en-US" sz="2000" dirty="0">
                <a:solidFill>
                  <a:schemeClr val="dk1"/>
                </a:solidFill>
                <a:latin typeface="Bookman Old Style" panose="02050604050505020204" pitchFamily="18" charset="0"/>
                <a:ea typeface="Calibri"/>
                <a:cs typeface="Calibri"/>
              </a:rPr>
              <a:t>Topics help categorize messages and enable targeted message delivery to interested subscribers.</a:t>
            </a:r>
            <a:endParaRPr lang="en-IN" sz="2000" dirty="0">
              <a:solidFill>
                <a:schemeClr val="dk1"/>
              </a:solidFill>
              <a:latin typeface="Bookman Old Style" panose="02050604050505020204" pitchFamily="18" charset="0"/>
              <a:ea typeface="Calibri"/>
              <a:cs typeface="Calibri"/>
            </a:endParaRPr>
          </a:p>
        </p:txBody>
      </p:sp>
    </p:spTree>
    <p:extLst>
      <p:ext uri="{BB962C8B-B14F-4D97-AF65-F5344CB8AC3E}">
        <p14:creationId xmlns:p14="http://schemas.microsoft.com/office/powerpoint/2010/main" val="6456458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849DCD4D-309E-A588-406D-3549511DD2E9}"/>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CF2A2231-A128-F9B4-E71E-E6D9D7FF6D07}"/>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Common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7BD7F729-0370-30B2-C29F-3AE7D4596991}"/>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4403E3F2-0B6B-89C6-89E5-61D33749F9F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36</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B3A2CF7F-3B46-0FBE-BE68-1D65CFE56CD4}"/>
              </a:ext>
            </a:extLst>
          </p:cNvPr>
          <p:cNvSpPr txBox="1"/>
          <p:nvPr/>
        </p:nvSpPr>
        <p:spPr>
          <a:xfrm>
            <a:off x="533399" y="1001250"/>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217758C6-E4ED-6C2E-45B7-A123477D415B}"/>
              </a:ext>
            </a:extLst>
          </p:cNvPr>
          <p:cNvSpPr txBox="1"/>
          <p:nvPr/>
        </p:nvSpPr>
        <p:spPr>
          <a:xfrm>
            <a:off x="1047136" y="1185817"/>
            <a:ext cx="10719620" cy="3970318"/>
          </a:xfrm>
          <a:prstGeom prst="rect">
            <a:avLst/>
          </a:prstGeom>
          <a:noFill/>
        </p:spPr>
        <p:txBody>
          <a:bodyPr wrap="square">
            <a:spAutoFit/>
          </a:bodyPr>
          <a:lstStyle/>
          <a:p>
            <a:pPr>
              <a:buFont typeface="Arial" panose="020B0604020202020204" pitchFamily="34" charset="0"/>
              <a:buChar char="•"/>
            </a:pPr>
            <a:r>
              <a:rPr lang="en-US" sz="1800" dirty="0">
                <a:solidFill>
                  <a:schemeClr val="dk1"/>
                </a:solidFill>
                <a:latin typeface="Bookman Old Style" panose="02050604050505020204" pitchFamily="18" charset="0"/>
                <a:ea typeface="Calibri"/>
                <a:cs typeface="Calibri"/>
                <a:hlinkClick r:id="rId3">
                  <a:extLst>
                    <a:ext uri="{A12FA001-AC4F-418D-AE19-62706E023703}">
                      <ahyp:hlinkClr xmlns:ahyp="http://schemas.microsoft.com/office/drawing/2018/hyperlinkcolor" val="tx"/>
                    </a:ext>
                  </a:extLst>
                </a:hlinkClick>
              </a:rPr>
              <a:t>Message Broker</a:t>
            </a:r>
            <a:r>
              <a:rPr lang="en-US" sz="1800" dirty="0">
                <a:solidFill>
                  <a:schemeClr val="dk1"/>
                </a:solidFill>
                <a:latin typeface="Bookman Old Style" panose="02050604050505020204" pitchFamily="18" charset="0"/>
                <a:ea typeface="Calibri"/>
                <a:cs typeface="Calibri"/>
              </a:rPr>
              <a:t> </a:t>
            </a:r>
          </a:p>
          <a:p>
            <a:pPr marL="742950" lvl="1" indent="-285750">
              <a:buFont typeface="Arial" panose="020B0604020202020204" pitchFamily="34" charset="0"/>
              <a:buChar char="•"/>
            </a:pPr>
            <a:r>
              <a:rPr lang="en-US" sz="1800" dirty="0">
                <a:solidFill>
                  <a:schemeClr val="dk1"/>
                </a:solidFill>
                <a:latin typeface="Bookman Old Style" panose="02050604050505020204" pitchFamily="18" charset="0"/>
                <a:ea typeface="Calibri"/>
                <a:cs typeface="Calibri"/>
              </a:rPr>
              <a:t>The Message Broker is an intermediary component that manages the routing of messages between publishers and subscribers. </a:t>
            </a:r>
          </a:p>
          <a:p>
            <a:pPr marL="742950" lvl="1" indent="-285750">
              <a:buFont typeface="Arial" panose="020B0604020202020204" pitchFamily="34" charset="0"/>
              <a:buChar char="•"/>
            </a:pPr>
            <a:r>
              <a:rPr lang="en-US" sz="1800" dirty="0">
                <a:solidFill>
                  <a:schemeClr val="dk1"/>
                </a:solidFill>
                <a:latin typeface="Bookman Old Style" panose="02050604050505020204" pitchFamily="18" charset="0"/>
                <a:ea typeface="Calibri"/>
                <a:cs typeface="Calibri"/>
              </a:rPr>
              <a:t>It receives messages from publishers and forwards them to subscribers based on their subscriptions. </a:t>
            </a:r>
          </a:p>
          <a:p>
            <a:pPr marL="742950" lvl="1" indent="-285750">
              <a:buFont typeface="Arial" panose="020B0604020202020204" pitchFamily="34" charset="0"/>
              <a:buChar char="•"/>
            </a:pPr>
            <a:r>
              <a:rPr lang="en-US" sz="1800" dirty="0">
                <a:solidFill>
                  <a:schemeClr val="dk1"/>
                </a:solidFill>
                <a:latin typeface="Bookman Old Style" panose="02050604050505020204" pitchFamily="18" charset="0"/>
                <a:ea typeface="Calibri"/>
                <a:cs typeface="Calibri"/>
              </a:rPr>
              <a:t>The Message Broker ensures that messages are delivered to the correct subscribers and can provide additional features such as message persistence, scalability, and reliability.</a:t>
            </a:r>
          </a:p>
          <a:p>
            <a:pPr>
              <a:buFont typeface="Arial" panose="020B0604020202020204" pitchFamily="34" charset="0"/>
              <a:buChar char="•"/>
            </a:pPr>
            <a:r>
              <a:rPr lang="en-US" sz="1800" dirty="0">
                <a:solidFill>
                  <a:schemeClr val="dk1"/>
                </a:solidFill>
                <a:latin typeface="Bookman Old Style" panose="02050604050505020204" pitchFamily="18" charset="0"/>
                <a:ea typeface="Calibri"/>
                <a:cs typeface="Calibri"/>
              </a:rPr>
              <a:t>Message </a:t>
            </a:r>
          </a:p>
          <a:p>
            <a:pPr marL="742950" lvl="1" indent="-285750">
              <a:buFont typeface="Arial" panose="020B0604020202020204" pitchFamily="34" charset="0"/>
              <a:buChar char="•"/>
            </a:pPr>
            <a:r>
              <a:rPr lang="en-US" sz="1800" dirty="0">
                <a:solidFill>
                  <a:schemeClr val="dk1"/>
                </a:solidFill>
                <a:latin typeface="Bookman Old Style" panose="02050604050505020204" pitchFamily="18" charset="0"/>
                <a:ea typeface="Calibri"/>
                <a:cs typeface="Calibri"/>
              </a:rPr>
              <a:t>A Message is the unit of data exchanged between publishers and subscribers in the Pub/Sub system. </a:t>
            </a:r>
          </a:p>
          <a:p>
            <a:pPr marL="742950" lvl="1" indent="-285750">
              <a:buFont typeface="Arial" panose="020B0604020202020204" pitchFamily="34" charset="0"/>
              <a:buChar char="•"/>
            </a:pPr>
            <a:r>
              <a:rPr lang="en-US" sz="1800" dirty="0">
                <a:solidFill>
                  <a:schemeClr val="dk1"/>
                </a:solidFill>
                <a:latin typeface="Bookman Old Style" panose="02050604050505020204" pitchFamily="18" charset="0"/>
                <a:ea typeface="Calibri"/>
                <a:cs typeface="Calibri"/>
              </a:rPr>
              <a:t>Messages can contain any type of data, such as text, JSON, or binary data. Publishers create messages and send them to the Pub/Sub system, and subscribers receive and process these messages.</a:t>
            </a:r>
          </a:p>
        </p:txBody>
      </p:sp>
    </p:spTree>
    <p:extLst>
      <p:ext uri="{BB962C8B-B14F-4D97-AF65-F5344CB8AC3E}">
        <p14:creationId xmlns:p14="http://schemas.microsoft.com/office/powerpoint/2010/main" val="225077509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DA928A33-46BC-DC0C-6E04-379C3A6ED681}"/>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9C581D9D-7622-CF26-B5AE-F5A7AAD17E52}"/>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Common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D8690778-C4AE-7C34-988A-9B4C4F41B87B}"/>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E931F904-ACA1-D72B-A4CD-364800FB79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37</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7A5573AF-916F-FEB8-E787-A90D0424C3BC}"/>
              </a:ext>
            </a:extLst>
          </p:cNvPr>
          <p:cNvSpPr txBox="1"/>
          <p:nvPr/>
        </p:nvSpPr>
        <p:spPr>
          <a:xfrm>
            <a:off x="533399" y="1001250"/>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3462DCF7-1E85-0147-020F-45552E6C3566}"/>
              </a:ext>
            </a:extLst>
          </p:cNvPr>
          <p:cNvSpPr txBox="1"/>
          <p:nvPr/>
        </p:nvSpPr>
        <p:spPr>
          <a:xfrm>
            <a:off x="1047136" y="1185817"/>
            <a:ext cx="10719620" cy="1754326"/>
          </a:xfrm>
          <a:prstGeom prst="rect">
            <a:avLst/>
          </a:prstGeom>
          <a:noFill/>
        </p:spPr>
        <p:txBody>
          <a:bodyPr wrap="square">
            <a:spAutoFit/>
          </a:bodyPr>
          <a:lstStyle/>
          <a:p>
            <a:pPr>
              <a:buFont typeface="Arial" panose="020B0604020202020204" pitchFamily="34" charset="0"/>
              <a:buChar char="•"/>
            </a:pPr>
            <a:r>
              <a:rPr lang="en-US" sz="1800" dirty="0">
                <a:solidFill>
                  <a:schemeClr val="dk1"/>
                </a:solidFill>
                <a:latin typeface="Bookman Old Style" panose="02050604050505020204" pitchFamily="18" charset="0"/>
                <a:ea typeface="Calibri"/>
                <a:cs typeface="Calibri"/>
              </a:rPr>
              <a:t>Subscription </a:t>
            </a:r>
          </a:p>
          <a:p>
            <a:pPr marL="742950" lvl="1" indent="-285750">
              <a:buFont typeface="Arial" panose="020B0604020202020204" pitchFamily="34" charset="0"/>
              <a:buChar char="•"/>
            </a:pPr>
            <a:r>
              <a:rPr lang="en-US" sz="1800" dirty="0">
                <a:solidFill>
                  <a:schemeClr val="dk1"/>
                </a:solidFill>
                <a:latin typeface="Bookman Old Style" panose="02050604050505020204" pitchFamily="18" charset="0"/>
                <a:ea typeface="Calibri"/>
                <a:cs typeface="Calibri"/>
              </a:rPr>
              <a:t>A Subscription represents a connection between a subscriber and a topic. Subscriptions define which messages a subscriber will receive based on the topics to which it is subscribed. </a:t>
            </a:r>
          </a:p>
          <a:p>
            <a:pPr marL="742950" lvl="1" indent="-285750">
              <a:buFont typeface="Arial" panose="020B0604020202020204" pitchFamily="34" charset="0"/>
              <a:buChar char="•"/>
            </a:pPr>
            <a:r>
              <a:rPr lang="en-US" sz="1800" dirty="0">
                <a:solidFill>
                  <a:schemeClr val="dk1"/>
                </a:solidFill>
                <a:latin typeface="Bookman Old Style" panose="02050604050505020204" pitchFamily="18" charset="0"/>
                <a:ea typeface="Calibri"/>
                <a:cs typeface="Calibri"/>
              </a:rPr>
              <a:t>Subscriptions can have different configurations, such as message delivery guarantees (e.g., at-most-once, at-least-once) and acknowledgment mechanisms.</a:t>
            </a:r>
          </a:p>
        </p:txBody>
      </p:sp>
      <p:pic>
        <p:nvPicPr>
          <p:cNvPr id="8" name="Picture 7">
            <a:extLst>
              <a:ext uri="{FF2B5EF4-FFF2-40B4-BE49-F238E27FC236}">
                <a16:creationId xmlns:a16="http://schemas.microsoft.com/office/drawing/2014/main" id="{8232C135-81F3-5726-5FEB-CFB81BE47890}"/>
              </a:ext>
            </a:extLst>
          </p:cNvPr>
          <p:cNvPicPr>
            <a:picLocks noChangeAspect="1"/>
          </p:cNvPicPr>
          <p:nvPr/>
        </p:nvPicPr>
        <p:blipFill>
          <a:blip r:embed="rId3"/>
          <a:stretch>
            <a:fillRect/>
          </a:stretch>
        </p:blipFill>
        <p:spPr>
          <a:xfrm>
            <a:off x="2850413" y="3241375"/>
            <a:ext cx="6302286" cy="3429297"/>
          </a:xfrm>
          <a:prstGeom prst="rect">
            <a:avLst/>
          </a:prstGeom>
        </p:spPr>
      </p:pic>
    </p:spTree>
    <p:extLst>
      <p:ext uri="{BB962C8B-B14F-4D97-AF65-F5344CB8AC3E}">
        <p14:creationId xmlns:p14="http://schemas.microsoft.com/office/powerpoint/2010/main" val="34960100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2C0E9B6F-C9F9-4DB3-DFFC-4C2456958548}"/>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2018C2F6-EEF9-F993-0F9E-620F4E20F633}"/>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Common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58CD8EEA-6AA9-4457-288A-2D2B592F2659}"/>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B2495237-10C1-E955-083C-F71FDA0D87E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38</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2A398D59-C7CB-5F30-44A2-BBCE3FACABDE}"/>
              </a:ext>
            </a:extLst>
          </p:cNvPr>
          <p:cNvSpPr txBox="1"/>
          <p:nvPr/>
        </p:nvSpPr>
        <p:spPr>
          <a:xfrm>
            <a:off x="533399" y="1001250"/>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7" name="TextBox 6">
            <a:extLst>
              <a:ext uri="{FF2B5EF4-FFF2-40B4-BE49-F238E27FC236}">
                <a16:creationId xmlns:a16="http://schemas.microsoft.com/office/drawing/2014/main" id="{CB6E1030-B685-B660-2937-DB5ADE953D93}"/>
              </a:ext>
            </a:extLst>
          </p:cNvPr>
          <p:cNvSpPr txBox="1"/>
          <p:nvPr/>
        </p:nvSpPr>
        <p:spPr>
          <a:xfrm>
            <a:off x="1224115" y="1252152"/>
            <a:ext cx="10434485" cy="5355312"/>
          </a:xfrm>
          <a:prstGeom prst="rect">
            <a:avLst/>
          </a:prstGeom>
          <a:noFill/>
        </p:spPr>
        <p:txBody>
          <a:bodyPr wrap="square">
            <a:spAutoFit/>
          </a:bodyPr>
          <a:lstStyle/>
          <a:p>
            <a:r>
              <a:rPr lang="en-US" sz="1800" dirty="0">
                <a:solidFill>
                  <a:schemeClr val="dk1"/>
                </a:solidFill>
                <a:latin typeface="Bookman Old Style" panose="02050604050505020204" pitchFamily="18" charset="0"/>
                <a:ea typeface="Calibri"/>
                <a:cs typeface="Calibri"/>
              </a:rPr>
              <a:t>Step 1: Publishers create messages and send them to the Pub/Sub system. They sort these messages into topics or channels based on what the messages are about.</a:t>
            </a:r>
          </a:p>
          <a:p>
            <a:endParaRPr lang="en-US" sz="1800" dirty="0">
              <a:solidFill>
                <a:schemeClr val="dk1"/>
              </a:solidFill>
              <a:latin typeface="Bookman Old Style" panose="02050604050505020204" pitchFamily="18" charset="0"/>
              <a:ea typeface="Calibri"/>
              <a:cs typeface="Calibri"/>
            </a:endParaRPr>
          </a:p>
          <a:p>
            <a:r>
              <a:rPr lang="en-US" sz="1800" dirty="0">
                <a:solidFill>
                  <a:schemeClr val="dk1"/>
                </a:solidFill>
                <a:latin typeface="Bookman Old Style" panose="02050604050505020204" pitchFamily="18" charset="0"/>
                <a:ea typeface="Calibri"/>
                <a:cs typeface="Calibri"/>
              </a:rPr>
              <a:t>Step 2: Subscribers let the system know which topics they’re interested in. They’ll get messages only from those topics.</a:t>
            </a:r>
          </a:p>
          <a:p>
            <a:endParaRPr lang="en-US" sz="1800" dirty="0">
              <a:solidFill>
                <a:schemeClr val="dk1"/>
              </a:solidFill>
              <a:latin typeface="Bookman Old Style" panose="02050604050505020204" pitchFamily="18" charset="0"/>
              <a:ea typeface="Calibri"/>
              <a:cs typeface="Calibri"/>
            </a:endParaRPr>
          </a:p>
          <a:p>
            <a:r>
              <a:rPr lang="en-US" sz="1800" dirty="0">
                <a:solidFill>
                  <a:schemeClr val="dk1"/>
                </a:solidFill>
                <a:latin typeface="Bookman Old Style" panose="02050604050505020204" pitchFamily="18" charset="0"/>
                <a:ea typeface="Calibri"/>
                <a:cs typeface="Calibri"/>
              </a:rPr>
              <a:t>Step 3: Topics are basically channels for messages. Publishers send their messages to specific topics, and subscribers can choose one or more topics to follow.</a:t>
            </a:r>
          </a:p>
          <a:p>
            <a:endParaRPr lang="en-US" sz="1800" dirty="0">
              <a:solidFill>
                <a:schemeClr val="dk1"/>
              </a:solidFill>
              <a:latin typeface="Bookman Old Style" panose="02050604050505020204" pitchFamily="18" charset="0"/>
              <a:ea typeface="Calibri"/>
              <a:cs typeface="Calibri"/>
            </a:endParaRPr>
          </a:p>
          <a:p>
            <a:r>
              <a:rPr lang="en-US" sz="1800" dirty="0">
                <a:solidFill>
                  <a:schemeClr val="dk1"/>
                </a:solidFill>
                <a:latin typeface="Bookman Old Style" panose="02050604050505020204" pitchFamily="18" charset="0"/>
                <a:ea typeface="Calibri"/>
                <a:cs typeface="Calibri"/>
              </a:rPr>
              <a:t>Step 4: Message brokers act as go-betweens, managing how messages get from publishers to subscribers. They take messages from publishers and send them to the subscribers who are interested.</a:t>
            </a:r>
          </a:p>
          <a:p>
            <a:endParaRPr lang="en-US" sz="1800" dirty="0">
              <a:solidFill>
                <a:schemeClr val="dk1"/>
              </a:solidFill>
              <a:latin typeface="Bookman Old Style" panose="02050604050505020204" pitchFamily="18" charset="0"/>
              <a:ea typeface="Calibri"/>
              <a:cs typeface="Calibri"/>
            </a:endParaRPr>
          </a:p>
          <a:p>
            <a:r>
              <a:rPr lang="en-US" sz="1800" dirty="0">
                <a:solidFill>
                  <a:schemeClr val="dk1"/>
                </a:solidFill>
                <a:latin typeface="Bookman Old Style" panose="02050604050505020204" pitchFamily="18" charset="0"/>
                <a:ea typeface="Calibri"/>
                <a:cs typeface="Calibri"/>
              </a:rPr>
              <a:t>Step 5: When a publisher sends a message to a topic, the message broker grabs it and sends it out to all the subscribers who have signed up for that topic.</a:t>
            </a:r>
          </a:p>
          <a:p>
            <a:endParaRPr lang="en-US" sz="1800" dirty="0">
              <a:solidFill>
                <a:schemeClr val="dk1"/>
              </a:solidFill>
              <a:latin typeface="Bookman Old Style" panose="02050604050505020204" pitchFamily="18" charset="0"/>
              <a:ea typeface="Calibri"/>
              <a:cs typeface="Calibri"/>
            </a:endParaRPr>
          </a:p>
          <a:p>
            <a:r>
              <a:rPr lang="en-US" sz="1800" dirty="0">
                <a:solidFill>
                  <a:schemeClr val="dk1"/>
                </a:solidFill>
                <a:latin typeface="Bookman Old Style" panose="02050604050505020204" pitchFamily="18" charset="0"/>
                <a:ea typeface="Calibri"/>
                <a:cs typeface="Calibri"/>
              </a:rPr>
              <a:t>Step 6: The Pub/Sub system allows for asynchronous communication. This means publishers can send messages without waiting for subscribers to be ready, and subscribers can pick up messages whenever it suits them, without needing the publisher to be around</a:t>
            </a:r>
          </a:p>
        </p:txBody>
      </p:sp>
    </p:spTree>
    <p:extLst>
      <p:ext uri="{BB962C8B-B14F-4D97-AF65-F5344CB8AC3E}">
        <p14:creationId xmlns:p14="http://schemas.microsoft.com/office/powerpoint/2010/main" val="36562358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9B286EE8-D24D-4B1F-2185-F991A6D90115}"/>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BE3ABF98-96F2-05C4-4154-FE43043E432B}"/>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Common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C0D41C1D-DDC0-2B36-82FA-BC03930C6619}"/>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0E7F7113-A934-F1F9-C061-C5F9E6D7C11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39</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64849C67-F5D4-29E9-69DF-1D0B282D2A61}"/>
              </a:ext>
            </a:extLst>
          </p:cNvPr>
          <p:cNvSpPr txBox="1"/>
          <p:nvPr/>
        </p:nvSpPr>
        <p:spPr>
          <a:xfrm>
            <a:off x="533399" y="1001250"/>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7" name="TextBox 6">
            <a:extLst>
              <a:ext uri="{FF2B5EF4-FFF2-40B4-BE49-F238E27FC236}">
                <a16:creationId xmlns:a16="http://schemas.microsoft.com/office/drawing/2014/main" id="{F6093567-E503-6C51-9812-72B18C66653E}"/>
              </a:ext>
            </a:extLst>
          </p:cNvPr>
          <p:cNvSpPr txBox="1"/>
          <p:nvPr/>
        </p:nvSpPr>
        <p:spPr>
          <a:xfrm>
            <a:off x="1224115" y="1252152"/>
            <a:ext cx="10434485" cy="5355312"/>
          </a:xfrm>
          <a:prstGeom prst="rect">
            <a:avLst/>
          </a:prstGeom>
          <a:noFill/>
        </p:spPr>
        <p:txBody>
          <a:bodyPr wrap="square">
            <a:spAutoFit/>
          </a:bodyPr>
          <a:lstStyle/>
          <a:p>
            <a:r>
              <a:rPr lang="en-US" sz="1800" dirty="0">
                <a:solidFill>
                  <a:schemeClr val="dk1"/>
                </a:solidFill>
                <a:latin typeface="Bookman Old Style" panose="02050604050505020204" pitchFamily="18" charset="0"/>
                <a:ea typeface="Calibri"/>
                <a:cs typeface="Calibri"/>
              </a:rPr>
              <a:t>Step 1: Publishers create messages and send them to the Pub/Sub system. They sort these messages into topics or channels based on what the messages are about.</a:t>
            </a:r>
          </a:p>
          <a:p>
            <a:endParaRPr lang="en-US" sz="1800" dirty="0">
              <a:solidFill>
                <a:schemeClr val="dk1"/>
              </a:solidFill>
              <a:latin typeface="Bookman Old Style" panose="02050604050505020204" pitchFamily="18" charset="0"/>
              <a:ea typeface="Calibri"/>
              <a:cs typeface="Calibri"/>
            </a:endParaRPr>
          </a:p>
          <a:p>
            <a:r>
              <a:rPr lang="en-US" sz="1800" dirty="0">
                <a:solidFill>
                  <a:schemeClr val="dk1"/>
                </a:solidFill>
                <a:latin typeface="Bookman Old Style" panose="02050604050505020204" pitchFamily="18" charset="0"/>
                <a:ea typeface="Calibri"/>
                <a:cs typeface="Calibri"/>
              </a:rPr>
              <a:t>Step 2: Subscribers let the system know which topics they’re interested in. They’ll get messages only from those topics.</a:t>
            </a:r>
          </a:p>
          <a:p>
            <a:endParaRPr lang="en-US" sz="1800" dirty="0">
              <a:solidFill>
                <a:schemeClr val="dk1"/>
              </a:solidFill>
              <a:latin typeface="Bookman Old Style" panose="02050604050505020204" pitchFamily="18" charset="0"/>
              <a:ea typeface="Calibri"/>
              <a:cs typeface="Calibri"/>
            </a:endParaRPr>
          </a:p>
          <a:p>
            <a:r>
              <a:rPr lang="en-US" sz="1800" dirty="0">
                <a:solidFill>
                  <a:schemeClr val="dk1"/>
                </a:solidFill>
                <a:latin typeface="Bookman Old Style" panose="02050604050505020204" pitchFamily="18" charset="0"/>
                <a:ea typeface="Calibri"/>
                <a:cs typeface="Calibri"/>
              </a:rPr>
              <a:t>Step 3: Topics are basically channels for messages. Publishers send their messages to specific topics, and subscribers can choose one or more topics to follow.</a:t>
            </a:r>
          </a:p>
          <a:p>
            <a:endParaRPr lang="en-US" sz="1800" dirty="0">
              <a:solidFill>
                <a:schemeClr val="dk1"/>
              </a:solidFill>
              <a:latin typeface="Bookman Old Style" panose="02050604050505020204" pitchFamily="18" charset="0"/>
              <a:ea typeface="Calibri"/>
              <a:cs typeface="Calibri"/>
            </a:endParaRPr>
          </a:p>
          <a:p>
            <a:r>
              <a:rPr lang="en-US" sz="1800" dirty="0">
                <a:solidFill>
                  <a:schemeClr val="dk1"/>
                </a:solidFill>
                <a:latin typeface="Bookman Old Style" panose="02050604050505020204" pitchFamily="18" charset="0"/>
                <a:ea typeface="Calibri"/>
                <a:cs typeface="Calibri"/>
              </a:rPr>
              <a:t>Step 4: Message brokers act as go-betweens, managing how messages get from publishers to subscribers. They take messages from publishers and send them to the subscribers who are interested.</a:t>
            </a:r>
          </a:p>
          <a:p>
            <a:endParaRPr lang="en-US" sz="1800" dirty="0">
              <a:solidFill>
                <a:schemeClr val="dk1"/>
              </a:solidFill>
              <a:latin typeface="Bookman Old Style" panose="02050604050505020204" pitchFamily="18" charset="0"/>
              <a:ea typeface="Calibri"/>
              <a:cs typeface="Calibri"/>
            </a:endParaRPr>
          </a:p>
          <a:p>
            <a:r>
              <a:rPr lang="en-US" sz="1800" dirty="0">
                <a:solidFill>
                  <a:schemeClr val="dk1"/>
                </a:solidFill>
                <a:latin typeface="Bookman Old Style" panose="02050604050505020204" pitchFamily="18" charset="0"/>
                <a:ea typeface="Calibri"/>
                <a:cs typeface="Calibri"/>
              </a:rPr>
              <a:t>Step 5: When a publisher sends a message to a topic, the message broker grabs it and sends it out to all the subscribers who have signed up for that topic.</a:t>
            </a:r>
          </a:p>
          <a:p>
            <a:endParaRPr lang="en-US" sz="1800" dirty="0">
              <a:solidFill>
                <a:schemeClr val="dk1"/>
              </a:solidFill>
              <a:latin typeface="Bookman Old Style" panose="02050604050505020204" pitchFamily="18" charset="0"/>
              <a:ea typeface="Calibri"/>
              <a:cs typeface="Calibri"/>
            </a:endParaRPr>
          </a:p>
          <a:p>
            <a:r>
              <a:rPr lang="en-US" sz="1800" dirty="0">
                <a:solidFill>
                  <a:schemeClr val="dk1"/>
                </a:solidFill>
                <a:latin typeface="Bookman Old Style" panose="02050604050505020204" pitchFamily="18" charset="0"/>
                <a:ea typeface="Calibri"/>
                <a:cs typeface="Calibri"/>
              </a:rPr>
              <a:t>Step 6: The Pub/Sub system allows for asynchronous communication. This means publishers can send messages without waiting for subscribers to be ready, and subscribers can pick up messages whenever it suits them, without needing the publisher to be around</a:t>
            </a:r>
          </a:p>
        </p:txBody>
      </p:sp>
    </p:spTree>
    <p:extLst>
      <p:ext uri="{BB962C8B-B14F-4D97-AF65-F5344CB8AC3E}">
        <p14:creationId xmlns:p14="http://schemas.microsoft.com/office/powerpoint/2010/main" val="193143264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708A2D30-0D4E-C0DA-741D-A069CC77B482}"/>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E93031B4-1827-3A23-455A-3E653972F232}"/>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Common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3EF6208D-D8BC-D28F-4285-FF9D9778E44A}"/>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DAFD58DD-4617-56C2-90C0-4CEA0CE4BA7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40</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EB2E3757-9BA6-0FED-32AC-5B0260464C32}"/>
              </a:ext>
            </a:extLst>
          </p:cNvPr>
          <p:cNvSpPr txBox="1"/>
          <p:nvPr/>
        </p:nvSpPr>
        <p:spPr>
          <a:xfrm>
            <a:off x="840656" y="2379785"/>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8F7EF327-C7CC-8039-9A8B-3AF9EC1FE324}"/>
              </a:ext>
            </a:extLst>
          </p:cNvPr>
          <p:cNvSpPr txBox="1"/>
          <p:nvPr/>
        </p:nvSpPr>
        <p:spPr>
          <a:xfrm>
            <a:off x="266696" y="1270679"/>
            <a:ext cx="10958053" cy="3108543"/>
          </a:xfrm>
          <a:prstGeom prst="rect">
            <a:avLst/>
          </a:prstGeom>
          <a:noFill/>
        </p:spPr>
        <p:txBody>
          <a:bodyPr wrap="square">
            <a:spAutoFit/>
          </a:bodyPr>
          <a:lstStyle/>
          <a:p>
            <a:r>
              <a:rPr lang="en-US" sz="2000" b="1" dirty="0">
                <a:solidFill>
                  <a:srgbClr val="002060"/>
                </a:solidFill>
                <a:latin typeface="Bookman Old Style" panose="02050604050505020204" pitchFamily="18" charset="0"/>
                <a:ea typeface="Calibri"/>
                <a:cs typeface="Calibri"/>
              </a:rPr>
              <a:t>(iv)</a:t>
            </a:r>
            <a:r>
              <a:rPr lang="en-IN" sz="2000" b="1" dirty="0">
                <a:solidFill>
                  <a:srgbClr val="002060"/>
                </a:solidFill>
                <a:latin typeface="Bookman Old Style" panose="02050604050505020204" pitchFamily="18" charset="0"/>
                <a:ea typeface="Calibri"/>
                <a:cs typeface="Calibri"/>
              </a:rPr>
              <a:t> One way Pattern</a:t>
            </a:r>
          </a:p>
          <a:p>
            <a:pPr marL="285750" indent="-285750" algn="just">
              <a:buFont typeface="Arial" panose="020B0604020202020204" pitchFamily="34" charset="0"/>
              <a:buChar char="•"/>
            </a:pPr>
            <a:r>
              <a:rPr lang="en-US" sz="1800" dirty="0">
                <a:solidFill>
                  <a:schemeClr val="dk1"/>
                </a:solidFill>
                <a:latin typeface="Bookman Old Style" panose="02050604050505020204" pitchFamily="18" charset="0"/>
                <a:ea typeface="Calibri"/>
                <a:cs typeface="Calibri"/>
              </a:rPr>
              <a:t>This interaction pattern is commonly found in cases where the system making the request doesn’t need a response.</a:t>
            </a:r>
            <a:endParaRPr lang="en-IN" sz="1800" dirty="0">
              <a:solidFill>
                <a:schemeClr val="dk1"/>
              </a:solidFill>
              <a:latin typeface="Bookman Old Style" panose="02050604050505020204" pitchFamily="18" charset="0"/>
              <a:ea typeface="Calibri"/>
              <a:cs typeface="Calibri"/>
            </a:endParaRPr>
          </a:p>
          <a:p>
            <a:pPr marL="285750" indent="-285750" algn="just">
              <a:buFont typeface="Arial" panose="020B0604020202020204" pitchFamily="34" charset="0"/>
              <a:buChar char="•"/>
            </a:pPr>
            <a:endParaRPr lang="en-IN" dirty="0"/>
          </a:p>
          <a:p>
            <a:pPr marL="285750" indent="-285750" algn="just">
              <a:buFont typeface="Arial" panose="020B0604020202020204" pitchFamily="34" charset="0"/>
              <a:buChar char="•"/>
            </a:pPr>
            <a:r>
              <a:rPr lang="en-US" sz="1800" dirty="0">
                <a:solidFill>
                  <a:schemeClr val="dk1"/>
                </a:solidFill>
                <a:latin typeface="Bookman Old Style" panose="02050604050505020204" pitchFamily="18" charset="0"/>
                <a:ea typeface="Calibri"/>
                <a:cs typeface="Calibri"/>
              </a:rPr>
              <a:t>It’s similar to the request/response and request/acknowledge patterns in the way a message is sent from the client to the service. </a:t>
            </a:r>
          </a:p>
          <a:p>
            <a:pPr marL="285750" indent="-285750" algn="just">
              <a:buFont typeface="Arial" panose="020B0604020202020204" pitchFamily="34" charset="0"/>
              <a:buChar char="•"/>
            </a:pPr>
            <a:endParaRPr lang="en-IN" sz="1800" dirty="0">
              <a:solidFill>
                <a:schemeClr val="dk1"/>
              </a:solidFill>
              <a:latin typeface="Bookman Old Style" panose="02050604050505020204" pitchFamily="18" charset="0"/>
              <a:ea typeface="Calibri"/>
              <a:cs typeface="Calibri"/>
            </a:endParaRPr>
          </a:p>
          <a:p>
            <a:pPr marL="285750" indent="-285750" algn="just">
              <a:buFont typeface="Arial" panose="020B0604020202020204" pitchFamily="34" charset="0"/>
              <a:buChar char="•"/>
            </a:pPr>
            <a:r>
              <a:rPr lang="en-US" sz="1800" dirty="0">
                <a:solidFill>
                  <a:schemeClr val="dk1"/>
                </a:solidFill>
                <a:latin typeface="Bookman Old Style" panose="02050604050505020204" pitchFamily="18" charset="0"/>
                <a:ea typeface="Calibri"/>
                <a:cs typeface="Calibri"/>
              </a:rPr>
              <a:t>The major difference is that the service doesn’t send back a response.</a:t>
            </a:r>
          </a:p>
          <a:p>
            <a:pPr marL="285750" indent="-285750" algn="just">
              <a:buFont typeface="Arial" panose="020B0604020202020204" pitchFamily="34" charset="0"/>
              <a:buChar char="•"/>
            </a:pPr>
            <a:endParaRPr lang="en-US" sz="1800" dirty="0">
              <a:solidFill>
                <a:schemeClr val="dk1"/>
              </a:solidFill>
              <a:latin typeface="Bookman Old Style" panose="02050604050505020204" pitchFamily="18" charset="0"/>
              <a:ea typeface="Calibri"/>
              <a:cs typeface="Calibri"/>
            </a:endParaRPr>
          </a:p>
          <a:p>
            <a:pPr marL="285750" indent="-285750" algn="just">
              <a:buFont typeface="Arial" panose="020B0604020202020204" pitchFamily="34" charset="0"/>
              <a:buChar char="•"/>
            </a:pPr>
            <a:r>
              <a:rPr lang="en-US" sz="1800" dirty="0">
                <a:solidFill>
                  <a:schemeClr val="dk1"/>
                </a:solidFill>
                <a:latin typeface="Bookman Old Style" panose="02050604050505020204" pitchFamily="18" charset="0"/>
                <a:ea typeface="Calibri"/>
                <a:cs typeface="Calibri"/>
              </a:rPr>
              <a:t>In the other patterns the client knows the request was received and processed; with the one-way pattern the client doesn’t even know whether the request was received by the service. </a:t>
            </a:r>
            <a:endParaRPr lang="en-IN" sz="1800" dirty="0">
              <a:solidFill>
                <a:schemeClr val="dk1"/>
              </a:solidFill>
              <a:latin typeface="Bookman Old Style" panose="02050604050505020204" pitchFamily="18" charset="0"/>
              <a:ea typeface="Calibri"/>
              <a:cs typeface="Calibri"/>
            </a:endParaRPr>
          </a:p>
        </p:txBody>
      </p:sp>
    </p:spTree>
    <p:extLst>
      <p:ext uri="{BB962C8B-B14F-4D97-AF65-F5344CB8AC3E}">
        <p14:creationId xmlns:p14="http://schemas.microsoft.com/office/powerpoint/2010/main" val="19948217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57D3B369-4C86-3B8A-0DA2-C5BF56B66287}"/>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85064EF8-EA7A-4947-775C-66004CCA0C22}"/>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Common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AF3245B4-470A-481A-F8BC-C16E3F5C06A9}"/>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83C8DDF0-1DBD-86EB-A059-4A5E85B98B3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41</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9F3FED08-4655-3551-F7BF-4BCAE4D2F1D3}"/>
              </a:ext>
            </a:extLst>
          </p:cNvPr>
          <p:cNvSpPr txBox="1"/>
          <p:nvPr/>
        </p:nvSpPr>
        <p:spPr>
          <a:xfrm>
            <a:off x="840656" y="2379785"/>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DD4FF7A7-6306-1A5E-3F31-3FFFFEF6388A}"/>
              </a:ext>
            </a:extLst>
          </p:cNvPr>
          <p:cNvSpPr txBox="1"/>
          <p:nvPr/>
        </p:nvSpPr>
        <p:spPr>
          <a:xfrm>
            <a:off x="266696" y="1270679"/>
            <a:ext cx="10958053" cy="4278094"/>
          </a:xfrm>
          <a:prstGeom prst="rect">
            <a:avLst/>
          </a:prstGeom>
          <a:noFill/>
        </p:spPr>
        <p:txBody>
          <a:bodyPr wrap="square">
            <a:spAutoFit/>
          </a:bodyPr>
          <a:lstStyle/>
          <a:p>
            <a:r>
              <a:rPr lang="en-US" sz="2000" b="1" dirty="0">
                <a:solidFill>
                  <a:srgbClr val="002060"/>
                </a:solidFill>
                <a:latin typeface="Bookman Old Style" panose="02050604050505020204" pitchFamily="18" charset="0"/>
                <a:ea typeface="Calibri"/>
                <a:cs typeface="Calibri"/>
              </a:rPr>
              <a:t>(iv)</a:t>
            </a:r>
            <a:r>
              <a:rPr lang="en-IN" sz="2000" b="1" dirty="0">
                <a:solidFill>
                  <a:srgbClr val="002060"/>
                </a:solidFill>
                <a:latin typeface="Bookman Old Style" panose="02050604050505020204" pitchFamily="18" charset="0"/>
                <a:ea typeface="Calibri"/>
                <a:cs typeface="Calibri"/>
              </a:rPr>
              <a:t> One way Pattern</a:t>
            </a:r>
          </a:p>
          <a:p>
            <a:pPr marL="285750" indent="-285750" algn="just">
              <a:buFont typeface="Arial" panose="020B0604020202020204" pitchFamily="34" charset="0"/>
              <a:buChar char="•"/>
            </a:pPr>
            <a:r>
              <a:rPr lang="en-US" sz="1800" dirty="0">
                <a:solidFill>
                  <a:schemeClr val="dk1"/>
                </a:solidFill>
                <a:latin typeface="Bookman Old Style" panose="02050604050505020204" pitchFamily="18" charset="0"/>
                <a:ea typeface="Calibri"/>
                <a:cs typeface="Calibri"/>
              </a:rPr>
              <a:t>This interaction pattern is commonly found in cases where the system making the request doesn’t need a response.</a:t>
            </a:r>
            <a:endParaRPr lang="en-IN" sz="1800" dirty="0">
              <a:solidFill>
                <a:schemeClr val="dk1"/>
              </a:solidFill>
              <a:latin typeface="Bookman Old Style" panose="02050604050505020204" pitchFamily="18" charset="0"/>
              <a:ea typeface="Calibri"/>
              <a:cs typeface="Calibri"/>
            </a:endParaRPr>
          </a:p>
          <a:p>
            <a:pPr marL="285750" indent="-285750" algn="just">
              <a:buFont typeface="Arial" panose="020B0604020202020204" pitchFamily="34" charset="0"/>
              <a:buChar char="•"/>
            </a:pPr>
            <a:r>
              <a:rPr lang="en-US" sz="1800" dirty="0">
                <a:solidFill>
                  <a:schemeClr val="dk1"/>
                </a:solidFill>
                <a:latin typeface="Bookman Old Style" panose="02050604050505020204" pitchFamily="18" charset="0"/>
                <a:ea typeface="Calibri"/>
                <a:cs typeface="Calibri"/>
              </a:rPr>
              <a:t>It’s similar to the request/response and request/acknowledge patterns in the way a message is sent from the client to the service. </a:t>
            </a:r>
          </a:p>
          <a:p>
            <a:pPr marL="285750" indent="-285750" algn="just">
              <a:buFont typeface="Arial" panose="020B0604020202020204" pitchFamily="34" charset="0"/>
              <a:buChar char="•"/>
            </a:pPr>
            <a:r>
              <a:rPr lang="en-US" sz="1800" dirty="0">
                <a:solidFill>
                  <a:schemeClr val="dk1"/>
                </a:solidFill>
                <a:latin typeface="Bookman Old Style" panose="02050604050505020204" pitchFamily="18" charset="0"/>
                <a:ea typeface="Calibri"/>
                <a:cs typeface="Calibri"/>
              </a:rPr>
              <a:t>The major difference is that the service doesn’t send back a response.</a:t>
            </a:r>
          </a:p>
          <a:p>
            <a:pPr marL="285750" indent="-285750" algn="just">
              <a:buFont typeface="Arial" panose="020B0604020202020204" pitchFamily="34" charset="0"/>
              <a:buChar char="•"/>
            </a:pPr>
            <a:r>
              <a:rPr lang="en-US" sz="1800" dirty="0">
                <a:solidFill>
                  <a:schemeClr val="dk1"/>
                </a:solidFill>
                <a:latin typeface="Bookman Old Style" panose="02050604050505020204" pitchFamily="18" charset="0"/>
                <a:ea typeface="Calibri"/>
                <a:cs typeface="Calibri"/>
              </a:rPr>
              <a:t>In the other patterns the client knows the request was received and processed; with the one-way pattern the client doesn’t even know whether the request was received by the service.</a:t>
            </a:r>
          </a:p>
          <a:p>
            <a:pPr marL="285750" indent="-285750" algn="just">
              <a:buFont typeface="Arial" panose="020B0604020202020204" pitchFamily="34" charset="0"/>
              <a:buChar char="•"/>
            </a:pPr>
            <a:r>
              <a:rPr lang="en-US" sz="1800" dirty="0">
                <a:solidFill>
                  <a:schemeClr val="dk1"/>
                </a:solidFill>
                <a:latin typeface="Bookman Old Style" panose="02050604050505020204" pitchFamily="18" charset="0"/>
                <a:ea typeface="Calibri"/>
                <a:cs typeface="Calibri"/>
              </a:rPr>
              <a:t>It’s useful in environments where a client doesn’t have the resources or the need to process a request. </a:t>
            </a:r>
          </a:p>
          <a:p>
            <a:pPr marL="285750" indent="-285750" algn="just">
              <a:buFont typeface="Arial" panose="020B0604020202020204" pitchFamily="34" charset="0"/>
              <a:buChar char="•"/>
            </a:pPr>
            <a:r>
              <a:rPr lang="en-US" sz="1800" dirty="0">
                <a:solidFill>
                  <a:schemeClr val="dk1"/>
                </a:solidFill>
                <a:latin typeface="Bookman Old Style" panose="02050604050505020204" pitchFamily="18" charset="0"/>
                <a:ea typeface="Calibri"/>
                <a:cs typeface="Calibri"/>
              </a:rPr>
              <a:t>Example : You’d like for the server to send data about how much memory and CPU are being used every 10 seconds. You don’t need the server to take any action or even worry about the result; it’s purely producing data as fast as possible.</a:t>
            </a:r>
          </a:p>
          <a:p>
            <a:pPr marL="285750" indent="-285750" algn="just">
              <a:buFont typeface="Arial" panose="020B0604020202020204" pitchFamily="34" charset="0"/>
              <a:buChar char="•"/>
            </a:pPr>
            <a:r>
              <a:rPr lang="en-US" sz="1800" dirty="0">
                <a:solidFill>
                  <a:schemeClr val="dk1"/>
                </a:solidFill>
                <a:latin typeface="Bookman Old Style" panose="02050604050505020204" pitchFamily="18" charset="0"/>
                <a:ea typeface="Calibri"/>
                <a:cs typeface="Calibri"/>
              </a:rPr>
              <a:t>it is appropriate for and often found in environments where losing some data is tolerable in exchange for simplicity, reduced resource utilization, and speed. </a:t>
            </a:r>
            <a:endParaRPr lang="en-IN" sz="1800" dirty="0">
              <a:solidFill>
                <a:schemeClr val="dk1"/>
              </a:solidFill>
              <a:latin typeface="Bookman Old Style" panose="02050604050505020204" pitchFamily="18" charset="0"/>
              <a:ea typeface="Calibri"/>
              <a:cs typeface="Calibri"/>
            </a:endParaRPr>
          </a:p>
        </p:txBody>
      </p:sp>
    </p:spTree>
    <p:extLst>
      <p:ext uri="{BB962C8B-B14F-4D97-AF65-F5344CB8AC3E}">
        <p14:creationId xmlns:p14="http://schemas.microsoft.com/office/powerpoint/2010/main" val="31252248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538D6D99-457F-19DE-9F46-998F0B37D219}"/>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DA69FD82-8650-7790-8699-72FD40791B7C}"/>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Common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298BFDBE-0694-DE59-ECC6-F69401BF2049}"/>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20D12C25-34A5-B43F-AFB7-D7EBA25267B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42</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A76BB167-48ED-BEE4-AB0A-F25A9C6D38E8}"/>
              </a:ext>
            </a:extLst>
          </p:cNvPr>
          <p:cNvSpPr txBox="1"/>
          <p:nvPr/>
        </p:nvSpPr>
        <p:spPr>
          <a:xfrm>
            <a:off x="840656" y="2379785"/>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F75B616F-47DB-5ED9-67C9-1244743771CE}"/>
              </a:ext>
            </a:extLst>
          </p:cNvPr>
          <p:cNvSpPr txBox="1"/>
          <p:nvPr/>
        </p:nvSpPr>
        <p:spPr>
          <a:xfrm>
            <a:off x="266696" y="1270679"/>
            <a:ext cx="10958053" cy="707886"/>
          </a:xfrm>
          <a:prstGeom prst="rect">
            <a:avLst/>
          </a:prstGeom>
          <a:noFill/>
        </p:spPr>
        <p:txBody>
          <a:bodyPr wrap="square">
            <a:spAutoFit/>
          </a:bodyPr>
          <a:lstStyle/>
          <a:p>
            <a:r>
              <a:rPr lang="en-US" sz="2000" b="1" dirty="0">
                <a:solidFill>
                  <a:srgbClr val="002060"/>
                </a:solidFill>
                <a:latin typeface="Bookman Old Style" panose="02050604050505020204" pitchFamily="18" charset="0"/>
                <a:ea typeface="Calibri"/>
                <a:cs typeface="Calibri"/>
              </a:rPr>
              <a:t>(v)</a:t>
            </a:r>
            <a:r>
              <a:rPr lang="en-IN" sz="2000" b="1" dirty="0">
                <a:solidFill>
                  <a:srgbClr val="002060"/>
                </a:solidFill>
                <a:latin typeface="Bookman Old Style" panose="02050604050505020204" pitchFamily="18" charset="0"/>
                <a:ea typeface="Calibri"/>
                <a:cs typeface="Calibri"/>
              </a:rPr>
              <a:t> Stream Pattern</a:t>
            </a:r>
          </a:p>
          <a:p>
            <a:endParaRPr lang="en-IN" sz="2000" b="1" dirty="0">
              <a:solidFill>
                <a:srgbClr val="002060"/>
              </a:solidFill>
              <a:latin typeface="Bookman Old Style" panose="02050604050505020204" pitchFamily="18" charset="0"/>
              <a:ea typeface="Calibri"/>
              <a:cs typeface="Calibri"/>
            </a:endParaRPr>
          </a:p>
        </p:txBody>
      </p:sp>
      <p:pic>
        <p:nvPicPr>
          <p:cNvPr id="7" name="Picture 6">
            <a:extLst>
              <a:ext uri="{FF2B5EF4-FFF2-40B4-BE49-F238E27FC236}">
                <a16:creationId xmlns:a16="http://schemas.microsoft.com/office/drawing/2014/main" id="{F2D8B6C7-93C5-DFCB-F258-6ADF18EC4C74}"/>
              </a:ext>
            </a:extLst>
          </p:cNvPr>
          <p:cNvPicPr>
            <a:picLocks noChangeAspect="1"/>
          </p:cNvPicPr>
          <p:nvPr/>
        </p:nvPicPr>
        <p:blipFill>
          <a:blip r:embed="rId3"/>
          <a:stretch>
            <a:fillRect/>
          </a:stretch>
        </p:blipFill>
        <p:spPr>
          <a:xfrm>
            <a:off x="145653" y="2379785"/>
            <a:ext cx="6425980" cy="2645324"/>
          </a:xfrm>
          <a:prstGeom prst="rect">
            <a:avLst/>
          </a:prstGeom>
        </p:spPr>
      </p:pic>
      <p:pic>
        <p:nvPicPr>
          <p:cNvPr id="9" name="Picture 8">
            <a:extLst>
              <a:ext uri="{FF2B5EF4-FFF2-40B4-BE49-F238E27FC236}">
                <a16:creationId xmlns:a16="http://schemas.microsoft.com/office/drawing/2014/main" id="{A59227F2-013D-66EC-1D48-9E46F3A1DEA1}"/>
              </a:ext>
            </a:extLst>
          </p:cNvPr>
          <p:cNvPicPr>
            <a:picLocks noChangeAspect="1"/>
          </p:cNvPicPr>
          <p:nvPr/>
        </p:nvPicPr>
        <p:blipFill>
          <a:blip r:embed="rId4"/>
          <a:stretch>
            <a:fillRect/>
          </a:stretch>
        </p:blipFill>
        <p:spPr>
          <a:xfrm>
            <a:off x="6422943" y="2379785"/>
            <a:ext cx="5848939" cy="2506688"/>
          </a:xfrm>
          <a:prstGeom prst="rect">
            <a:avLst/>
          </a:prstGeom>
        </p:spPr>
      </p:pic>
    </p:spTree>
    <p:extLst>
      <p:ext uri="{BB962C8B-B14F-4D97-AF65-F5344CB8AC3E}">
        <p14:creationId xmlns:p14="http://schemas.microsoft.com/office/powerpoint/2010/main" val="20047328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B07A2D35-FCCF-8911-58F9-10A35B84FD2F}"/>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43C21329-1682-D952-7C7A-4BC7D67C37E3}"/>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Common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BB8B690E-AB5D-EB4B-AF9F-D2C3F6552BCB}"/>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7D4225FF-7262-A1FE-2966-42380039500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43</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A5BC0B2F-039E-0023-EDE1-2DB991F24803}"/>
              </a:ext>
            </a:extLst>
          </p:cNvPr>
          <p:cNvSpPr txBox="1"/>
          <p:nvPr/>
        </p:nvSpPr>
        <p:spPr>
          <a:xfrm>
            <a:off x="840656" y="2379785"/>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B4F63E28-A022-59DD-E71E-D9B355B51A3B}"/>
              </a:ext>
            </a:extLst>
          </p:cNvPr>
          <p:cNvSpPr txBox="1"/>
          <p:nvPr/>
        </p:nvSpPr>
        <p:spPr>
          <a:xfrm>
            <a:off x="266696" y="1270679"/>
            <a:ext cx="10958053" cy="6063198"/>
          </a:xfrm>
          <a:prstGeom prst="rect">
            <a:avLst/>
          </a:prstGeom>
          <a:noFill/>
        </p:spPr>
        <p:txBody>
          <a:bodyPr wrap="square">
            <a:spAutoFit/>
          </a:bodyPr>
          <a:lstStyle/>
          <a:p>
            <a:r>
              <a:rPr lang="en-US" sz="2000" b="1" dirty="0">
                <a:solidFill>
                  <a:srgbClr val="002060"/>
                </a:solidFill>
                <a:latin typeface="Bookman Old Style" panose="02050604050505020204" pitchFamily="18" charset="0"/>
                <a:ea typeface="Calibri"/>
                <a:cs typeface="Calibri"/>
              </a:rPr>
              <a:t>(v)</a:t>
            </a:r>
            <a:r>
              <a:rPr lang="en-IN" sz="2000" b="1" dirty="0">
                <a:solidFill>
                  <a:srgbClr val="002060"/>
                </a:solidFill>
                <a:latin typeface="Bookman Old Style" panose="02050604050505020204" pitchFamily="18" charset="0"/>
                <a:ea typeface="Calibri"/>
                <a:cs typeface="Calibri"/>
              </a:rPr>
              <a:t> Stream Pattern</a:t>
            </a:r>
          </a:p>
          <a:p>
            <a:endParaRPr lang="en-IN" sz="2000" b="1" dirty="0">
              <a:solidFill>
                <a:srgbClr val="002060"/>
              </a:solidFill>
              <a:latin typeface="Bookman Old Style" panose="02050604050505020204" pitchFamily="18" charset="0"/>
              <a:ea typeface="Calibri"/>
              <a:cs typeface="Calibri"/>
            </a:endParaRPr>
          </a:p>
          <a:p>
            <a:r>
              <a:rPr lang="en-US" sz="2000" dirty="0">
                <a:solidFill>
                  <a:schemeClr val="tx1"/>
                </a:solidFill>
                <a:latin typeface="Bookman Old Style" panose="02050604050505020204" pitchFamily="18" charset="0"/>
                <a:ea typeface="Calibri"/>
                <a:cs typeface="Calibri"/>
              </a:rPr>
              <a:t>The data flows continuously between the system over time. </a:t>
            </a:r>
          </a:p>
          <a:p>
            <a:endParaRPr lang="en-US" sz="2000" dirty="0">
              <a:solidFill>
                <a:schemeClr val="tx1"/>
              </a:solidFill>
              <a:latin typeface="Bookman Old Style" panose="02050604050505020204" pitchFamily="18" charset="0"/>
              <a:ea typeface="Calibri"/>
              <a:cs typeface="Calibri"/>
            </a:endParaRPr>
          </a:p>
          <a:p>
            <a:r>
              <a:rPr lang="en-US" sz="2000" dirty="0">
                <a:solidFill>
                  <a:schemeClr val="tx1"/>
                </a:solidFill>
                <a:latin typeface="Bookman Old Style" panose="02050604050505020204" pitchFamily="18" charset="0"/>
                <a:ea typeface="Calibri"/>
                <a:cs typeface="Calibri"/>
              </a:rPr>
              <a:t>The server can send data in chunks, and the client processes these chunks as they arrive</a:t>
            </a:r>
            <a:r>
              <a:rPr lang="en-US" sz="2800" dirty="0"/>
              <a:t>.</a:t>
            </a:r>
          </a:p>
          <a:p>
            <a:r>
              <a:rPr lang="en-US" sz="2000" b="1" dirty="0">
                <a:solidFill>
                  <a:schemeClr val="tx1"/>
                </a:solidFill>
                <a:latin typeface="Bookman Old Style" panose="02050604050505020204" pitchFamily="18" charset="0"/>
                <a:ea typeface="Calibri"/>
                <a:cs typeface="Calibri"/>
              </a:rPr>
              <a:t>Key Characteristics:</a:t>
            </a:r>
          </a:p>
          <a:p>
            <a:endParaRPr lang="en-US" sz="2000" dirty="0">
              <a:solidFill>
                <a:schemeClr val="tx1"/>
              </a:solidFill>
              <a:latin typeface="Bookman Old Style" panose="02050604050505020204" pitchFamily="18" charset="0"/>
              <a:ea typeface="Calibri"/>
              <a:cs typeface="Calibri"/>
            </a:endParaRPr>
          </a:p>
          <a:p>
            <a:pPr>
              <a:buFont typeface="Arial"/>
              <a:buChar char="•"/>
            </a:pPr>
            <a:r>
              <a:rPr lang="en-US" sz="2000" dirty="0">
                <a:solidFill>
                  <a:schemeClr val="tx1"/>
                </a:solidFill>
                <a:latin typeface="Bookman Old Style" panose="02050604050505020204" pitchFamily="18" charset="0"/>
                <a:ea typeface="Calibri"/>
                <a:cs typeface="Calibri"/>
              </a:rPr>
              <a:t>Asynchronous Communication: The client or server can operate independently of the other. The client doesn’t have to wait for a response before continuing other operations.</a:t>
            </a:r>
          </a:p>
          <a:p>
            <a:pPr>
              <a:buFont typeface="Arial"/>
              <a:buChar char="•"/>
            </a:pPr>
            <a:endParaRPr lang="en-US" sz="2000" dirty="0">
              <a:solidFill>
                <a:schemeClr val="tx1"/>
              </a:solidFill>
              <a:latin typeface="Bookman Old Style" panose="02050604050505020204" pitchFamily="18" charset="0"/>
              <a:ea typeface="Calibri"/>
              <a:cs typeface="Calibri"/>
            </a:endParaRPr>
          </a:p>
          <a:p>
            <a:pPr>
              <a:buFont typeface="Arial"/>
              <a:buChar char="•"/>
            </a:pPr>
            <a:r>
              <a:rPr lang="en-US" sz="2000" dirty="0">
                <a:solidFill>
                  <a:schemeClr val="tx1"/>
                </a:solidFill>
                <a:latin typeface="Bookman Old Style" panose="02050604050505020204" pitchFamily="18" charset="0"/>
                <a:ea typeface="Calibri"/>
                <a:cs typeface="Calibri"/>
              </a:rPr>
              <a:t>Multiple Data Chunks: Data can be sent in continuous, partial responses (i.e., stream of data) rather than a single response.</a:t>
            </a:r>
          </a:p>
          <a:p>
            <a:pPr>
              <a:buFont typeface="Arial"/>
              <a:buChar char="•"/>
            </a:pPr>
            <a:endParaRPr lang="en-US" sz="2000" dirty="0">
              <a:solidFill>
                <a:schemeClr val="tx1"/>
              </a:solidFill>
              <a:latin typeface="Bookman Old Style" panose="02050604050505020204" pitchFamily="18" charset="0"/>
              <a:ea typeface="Calibri"/>
              <a:cs typeface="Calibri"/>
            </a:endParaRPr>
          </a:p>
          <a:p>
            <a:pPr>
              <a:buFont typeface="Arial"/>
              <a:buChar char="•"/>
            </a:pPr>
            <a:r>
              <a:rPr lang="en-US" sz="2000" dirty="0">
                <a:solidFill>
                  <a:schemeClr val="tx1"/>
                </a:solidFill>
                <a:latin typeface="Bookman Old Style" panose="02050604050505020204" pitchFamily="18" charset="0"/>
                <a:ea typeface="Calibri"/>
                <a:cs typeface="Calibri"/>
              </a:rPr>
              <a:t>Non-blocking Operation: The client can begin processing data as soon as it arrives, rather than waiting for the entire response.</a:t>
            </a:r>
          </a:p>
          <a:p>
            <a:endParaRPr lang="en-IN" sz="2000" b="1" dirty="0">
              <a:solidFill>
                <a:srgbClr val="002060"/>
              </a:solidFill>
              <a:latin typeface="Bookman Old Style" panose="02050604050505020204" pitchFamily="18" charset="0"/>
              <a:ea typeface="Calibri"/>
              <a:cs typeface="Calibri"/>
            </a:endParaRPr>
          </a:p>
          <a:p>
            <a:endParaRPr lang="en-IN" sz="2000" b="1" dirty="0">
              <a:solidFill>
                <a:srgbClr val="002060"/>
              </a:solidFill>
              <a:latin typeface="Bookman Old Style" panose="02050604050505020204" pitchFamily="18" charset="0"/>
              <a:ea typeface="Calibri"/>
              <a:cs typeface="Calibri"/>
            </a:endParaRPr>
          </a:p>
        </p:txBody>
      </p:sp>
    </p:spTree>
    <p:extLst>
      <p:ext uri="{BB962C8B-B14F-4D97-AF65-F5344CB8AC3E}">
        <p14:creationId xmlns:p14="http://schemas.microsoft.com/office/powerpoint/2010/main" val="3727167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D65E3426-556F-EEE8-8A30-4BA2D7115838}"/>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EA221F8D-21D7-F1EC-2A40-7184CB9E1619}"/>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Common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D2664248-68FC-C129-C2B8-4BDFF7735ABB}"/>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4BA743DA-6D01-E383-D660-57AA737DA00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44</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C5484E35-4566-D32B-E31C-77AE8774EAA0}"/>
              </a:ext>
            </a:extLst>
          </p:cNvPr>
          <p:cNvSpPr txBox="1"/>
          <p:nvPr/>
        </p:nvSpPr>
        <p:spPr>
          <a:xfrm>
            <a:off x="840656" y="2379785"/>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5242BBF0-C647-FAA2-F237-8DB51D3FBEAA}"/>
              </a:ext>
            </a:extLst>
          </p:cNvPr>
          <p:cNvSpPr txBox="1"/>
          <p:nvPr/>
        </p:nvSpPr>
        <p:spPr>
          <a:xfrm>
            <a:off x="266696" y="1270679"/>
            <a:ext cx="10958053" cy="2862322"/>
          </a:xfrm>
          <a:prstGeom prst="rect">
            <a:avLst/>
          </a:prstGeom>
          <a:noFill/>
        </p:spPr>
        <p:txBody>
          <a:bodyPr wrap="square">
            <a:spAutoFit/>
          </a:bodyPr>
          <a:lstStyle/>
          <a:p>
            <a:r>
              <a:rPr lang="en-US" sz="2000" b="1" dirty="0">
                <a:solidFill>
                  <a:srgbClr val="002060"/>
                </a:solidFill>
                <a:latin typeface="Bookman Old Style" panose="02050604050505020204" pitchFamily="18" charset="0"/>
                <a:ea typeface="Calibri"/>
                <a:cs typeface="Calibri"/>
              </a:rPr>
              <a:t>(v)</a:t>
            </a:r>
            <a:r>
              <a:rPr lang="en-IN" sz="2000" b="1" dirty="0">
                <a:solidFill>
                  <a:srgbClr val="002060"/>
                </a:solidFill>
                <a:latin typeface="Bookman Old Style" panose="02050604050505020204" pitchFamily="18" charset="0"/>
                <a:ea typeface="Calibri"/>
                <a:cs typeface="Calibri"/>
              </a:rPr>
              <a:t> Stream Pattern</a:t>
            </a:r>
          </a:p>
          <a:p>
            <a:endParaRPr lang="en-IN" sz="2000" b="1" dirty="0">
              <a:solidFill>
                <a:srgbClr val="002060"/>
              </a:solidFill>
              <a:latin typeface="Bookman Old Style" panose="02050604050505020204" pitchFamily="18" charset="0"/>
              <a:ea typeface="Calibri"/>
              <a:cs typeface="Calibri"/>
            </a:endParaRPr>
          </a:p>
          <a:p>
            <a:r>
              <a:rPr lang="en-US" sz="2000" dirty="0">
                <a:solidFill>
                  <a:srgbClr val="C00000"/>
                </a:solidFill>
                <a:latin typeface="Bookman Old Style" panose="02050604050505020204" pitchFamily="18" charset="0"/>
                <a:ea typeface="Calibri"/>
                <a:cs typeface="Calibri"/>
              </a:rPr>
              <a:t>Request-Response Pattern: </a:t>
            </a:r>
            <a:r>
              <a:rPr lang="en-US" sz="2000" dirty="0">
                <a:solidFill>
                  <a:schemeClr val="tx1"/>
                </a:solidFill>
                <a:latin typeface="Bookman Old Style" panose="02050604050505020204" pitchFamily="18" charset="0"/>
                <a:ea typeface="Calibri"/>
                <a:cs typeface="Calibri"/>
              </a:rPr>
              <a:t>Use when the communication is a one-time request, and the client can afford to wait for the server's response (e.g., API calls, web page requests).</a:t>
            </a:r>
          </a:p>
          <a:p>
            <a:endParaRPr lang="en-US" sz="2000" dirty="0">
              <a:solidFill>
                <a:schemeClr val="tx1"/>
              </a:solidFill>
              <a:latin typeface="Bookman Old Style" panose="02050604050505020204" pitchFamily="18" charset="0"/>
              <a:ea typeface="Calibri"/>
              <a:cs typeface="Calibri"/>
            </a:endParaRPr>
          </a:p>
          <a:p>
            <a:r>
              <a:rPr lang="en-US" sz="2000" dirty="0">
                <a:solidFill>
                  <a:srgbClr val="C00000"/>
                </a:solidFill>
                <a:latin typeface="Bookman Old Style" panose="02050604050505020204" pitchFamily="18" charset="0"/>
                <a:ea typeface="Calibri"/>
                <a:cs typeface="Calibri"/>
              </a:rPr>
              <a:t>Stream Pattern: </a:t>
            </a:r>
            <a:r>
              <a:rPr lang="en-US" sz="2000" dirty="0">
                <a:solidFill>
                  <a:schemeClr val="tx1"/>
                </a:solidFill>
                <a:latin typeface="Bookman Old Style" panose="02050604050505020204" pitchFamily="18" charset="0"/>
                <a:ea typeface="Calibri"/>
                <a:cs typeface="Calibri"/>
              </a:rPr>
              <a:t>Use when you need continuous, real-time communication or have large datasets to transmit in chunks (e.g., live updates, chat apps, video streaming).</a:t>
            </a:r>
            <a:endParaRPr lang="en-IN" sz="2000" dirty="0">
              <a:solidFill>
                <a:schemeClr val="tx1"/>
              </a:solidFill>
              <a:latin typeface="Bookman Old Style" panose="02050604050505020204" pitchFamily="18" charset="0"/>
              <a:ea typeface="Calibri"/>
              <a:cs typeface="Calibri"/>
            </a:endParaRPr>
          </a:p>
          <a:p>
            <a:endParaRPr lang="en-IN" sz="2000" b="1" dirty="0">
              <a:solidFill>
                <a:srgbClr val="002060"/>
              </a:solidFill>
              <a:latin typeface="Bookman Old Style" panose="02050604050505020204" pitchFamily="18" charset="0"/>
              <a:ea typeface="Calibri"/>
              <a:cs typeface="Calibri"/>
            </a:endParaRPr>
          </a:p>
        </p:txBody>
      </p:sp>
    </p:spTree>
    <p:extLst>
      <p:ext uri="{BB962C8B-B14F-4D97-AF65-F5344CB8AC3E}">
        <p14:creationId xmlns:p14="http://schemas.microsoft.com/office/powerpoint/2010/main" val="8671245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B0FA604D-6F50-FD0C-DC5A-174212EB6784}"/>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77506D95-927C-41FD-DA92-6448CDA204A3}"/>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Common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E7C57B3B-060B-52DB-4AEA-943DBC3584C7}"/>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7D8031CB-4D2E-ABD9-AF4C-8A8CC412E6C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45</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0E6F3ADA-02DE-1921-8391-6ECB2DBC19D1}"/>
              </a:ext>
            </a:extLst>
          </p:cNvPr>
          <p:cNvSpPr txBox="1"/>
          <p:nvPr/>
        </p:nvSpPr>
        <p:spPr>
          <a:xfrm>
            <a:off x="840656" y="2379785"/>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4DD9006A-77D1-29A6-AABD-80E640561854}"/>
              </a:ext>
            </a:extLst>
          </p:cNvPr>
          <p:cNvSpPr txBox="1"/>
          <p:nvPr/>
        </p:nvSpPr>
        <p:spPr>
          <a:xfrm>
            <a:off x="266696" y="1270679"/>
            <a:ext cx="10958053" cy="3170099"/>
          </a:xfrm>
          <a:prstGeom prst="rect">
            <a:avLst/>
          </a:prstGeom>
          <a:noFill/>
        </p:spPr>
        <p:txBody>
          <a:bodyPr wrap="square">
            <a:spAutoFit/>
          </a:bodyPr>
          <a:lstStyle/>
          <a:p>
            <a:r>
              <a:rPr lang="en-US" sz="2000" b="1" dirty="0">
                <a:solidFill>
                  <a:srgbClr val="002060"/>
                </a:solidFill>
                <a:latin typeface="Bookman Old Style" panose="02050604050505020204" pitchFamily="18" charset="0"/>
                <a:ea typeface="Calibri"/>
                <a:cs typeface="Calibri"/>
              </a:rPr>
              <a:t>(v)</a:t>
            </a:r>
            <a:r>
              <a:rPr lang="en-IN" sz="2000" b="1" dirty="0">
                <a:solidFill>
                  <a:srgbClr val="002060"/>
                </a:solidFill>
                <a:latin typeface="Bookman Old Style" panose="02050604050505020204" pitchFamily="18" charset="0"/>
                <a:ea typeface="Calibri"/>
                <a:cs typeface="Calibri"/>
              </a:rPr>
              <a:t> Stream Pattern</a:t>
            </a:r>
          </a:p>
          <a:p>
            <a:endParaRPr lang="en-IN" sz="2000" b="1" dirty="0">
              <a:solidFill>
                <a:srgbClr val="002060"/>
              </a:solidFill>
              <a:latin typeface="Bookman Old Style" panose="02050604050505020204" pitchFamily="18" charset="0"/>
              <a:ea typeface="Calibri"/>
              <a:cs typeface="Calibri"/>
            </a:endParaRPr>
          </a:p>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This pattern is very interesting and powerful: ingesting a stream of data and producing another stream.</a:t>
            </a:r>
          </a:p>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 With this you can quickly build a streaming analysis system that consumes publicly available data and in turn creates new streams of data based on your analysis. </a:t>
            </a:r>
          </a:p>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Unlike the other patterns, where you need to create or find clients to send a request to your service, with the stream pattern you can chose to connect to and process the data from a stream source.</a:t>
            </a:r>
            <a:endParaRPr lang="en-IN" sz="2000" dirty="0">
              <a:solidFill>
                <a:schemeClr val="tx1"/>
              </a:solidFill>
              <a:latin typeface="Bookman Old Style" panose="02050604050505020204" pitchFamily="18" charset="0"/>
              <a:ea typeface="Calibri"/>
              <a:cs typeface="Calibri"/>
            </a:endParaRPr>
          </a:p>
        </p:txBody>
      </p:sp>
    </p:spTree>
    <p:extLst>
      <p:ext uri="{BB962C8B-B14F-4D97-AF65-F5344CB8AC3E}">
        <p14:creationId xmlns:p14="http://schemas.microsoft.com/office/powerpoint/2010/main" val="41253113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F7323181-431E-7399-08FD-E92F373A49A3}"/>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3B541E14-E969-2C06-6BB6-22DBD5DF8926}"/>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Scaling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42A40BF0-59D2-CE2F-7B9C-B860804C765B}"/>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7C1C7931-9F70-26F2-42EF-922C8D72D90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46</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FE5B7F7A-4A36-2312-3E30-0D3806462D40}"/>
              </a:ext>
            </a:extLst>
          </p:cNvPr>
          <p:cNvSpPr txBox="1"/>
          <p:nvPr/>
        </p:nvSpPr>
        <p:spPr>
          <a:xfrm>
            <a:off x="840656" y="2379785"/>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A4162D04-2BF9-18D5-FFB2-4ED11A69FF30}"/>
              </a:ext>
            </a:extLst>
          </p:cNvPr>
          <p:cNvSpPr txBox="1"/>
          <p:nvPr/>
        </p:nvSpPr>
        <p:spPr>
          <a:xfrm>
            <a:off x="266696" y="1270679"/>
            <a:ext cx="10958053" cy="4093428"/>
          </a:xfrm>
          <a:prstGeom prst="rect">
            <a:avLst/>
          </a:prstGeom>
          <a:noFill/>
        </p:spPr>
        <p:txBody>
          <a:bodyPr wrap="square">
            <a:spAutoFit/>
          </a:bodyPr>
          <a:lstStyle/>
          <a:p>
            <a:r>
              <a:rPr lang="en-IN" sz="2000" b="1" dirty="0">
                <a:solidFill>
                  <a:srgbClr val="002060"/>
                </a:solidFill>
                <a:latin typeface="Bookman Old Style" panose="02050604050505020204" pitchFamily="18" charset="0"/>
                <a:ea typeface="Calibri"/>
                <a:cs typeface="Calibri"/>
              </a:rPr>
              <a:t>To Remember : Two types of scaling – Vertical Vs Horizontal</a:t>
            </a:r>
          </a:p>
          <a:p>
            <a:endParaRPr lang="en-IN" sz="2000" b="1" dirty="0">
              <a:solidFill>
                <a:srgbClr val="002060"/>
              </a:solidFill>
              <a:latin typeface="Bookman Old Style" panose="02050604050505020204" pitchFamily="18" charset="0"/>
              <a:ea typeface="Calibri"/>
              <a:cs typeface="Calibri"/>
            </a:endParaRPr>
          </a:p>
          <a:p>
            <a:r>
              <a:rPr lang="en-IN" sz="2000" b="1" dirty="0">
                <a:solidFill>
                  <a:schemeClr val="tx1"/>
                </a:solidFill>
                <a:latin typeface="Bookman Old Style" panose="02050604050505020204" pitchFamily="18" charset="0"/>
                <a:ea typeface="Calibri"/>
                <a:cs typeface="Calibri"/>
              </a:rPr>
              <a:t>Vertical Scaling</a:t>
            </a:r>
          </a:p>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Vertical scaling refers to increasing the resources (CPU, RAM, storage, etc.) of a single server or machine to make it more powerful. </a:t>
            </a:r>
          </a:p>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This could involve upgrading an existing server or instance by adding more processing power, memory, or storage to handle more load.</a:t>
            </a:r>
          </a:p>
          <a:p>
            <a:pPr marL="342900" indent="-342900">
              <a:buFont typeface="Arial" panose="020B0604020202020204" pitchFamily="34" charset="0"/>
              <a:buChar char="•"/>
            </a:pPr>
            <a:endParaRPr lang="en-US" sz="2000" dirty="0">
              <a:solidFill>
                <a:schemeClr val="tx1"/>
              </a:solidFill>
              <a:latin typeface="Bookman Old Style" panose="02050604050505020204" pitchFamily="18" charset="0"/>
              <a:ea typeface="Calibri"/>
              <a:cs typeface="Calibri"/>
            </a:endParaRPr>
          </a:p>
          <a:p>
            <a:r>
              <a:rPr lang="en-US" sz="2000" b="1" dirty="0">
                <a:solidFill>
                  <a:schemeClr val="tx1"/>
                </a:solidFill>
                <a:latin typeface="Bookman Old Style" panose="02050604050505020204" pitchFamily="18" charset="0"/>
                <a:ea typeface="Calibri"/>
                <a:cs typeface="Calibri"/>
              </a:rPr>
              <a:t>Horizontal Scaling</a:t>
            </a:r>
          </a:p>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Horizontal scaling refers to adding more machines (or nodes) to your infrastructure to distribute the load across multiple servers or instances. </a:t>
            </a:r>
          </a:p>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Instead of upgrading a single machine, you scale out by increasing the number of machines or servers that handle requests in parallel.</a:t>
            </a:r>
            <a:endParaRPr lang="en-IN" sz="2000" dirty="0">
              <a:solidFill>
                <a:schemeClr val="tx1"/>
              </a:solidFill>
              <a:latin typeface="Bookman Old Style" panose="02050604050505020204" pitchFamily="18" charset="0"/>
              <a:ea typeface="Calibri"/>
              <a:cs typeface="Calibri"/>
            </a:endParaRPr>
          </a:p>
        </p:txBody>
      </p:sp>
    </p:spTree>
    <p:extLst>
      <p:ext uri="{BB962C8B-B14F-4D97-AF65-F5344CB8AC3E}">
        <p14:creationId xmlns:p14="http://schemas.microsoft.com/office/powerpoint/2010/main" val="21917711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307EA875-083A-5BEE-0779-24CFA3A97967}"/>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EC1E9226-6B7C-A621-6134-A0BDAA9AB723}"/>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Scaling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6D5A1F66-3AD4-C703-E6B0-7829B4F7E657}"/>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50413BC2-03AF-53D4-A7D2-A4A58FF4077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47</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D1253E95-53DC-D698-185D-D620B50EA941}"/>
              </a:ext>
            </a:extLst>
          </p:cNvPr>
          <p:cNvSpPr txBox="1"/>
          <p:nvPr/>
        </p:nvSpPr>
        <p:spPr>
          <a:xfrm>
            <a:off x="840656" y="2379785"/>
            <a:ext cx="11461955" cy="501804"/>
          </a:xfrm>
          <a:prstGeom prst="rect">
            <a:avLst/>
          </a:prstGeom>
          <a:noFill/>
        </p:spPr>
        <p:txBody>
          <a:bodyPr wrap="square">
            <a:spAutoFit/>
          </a:bodyPr>
          <a:lstStyle/>
          <a:p>
            <a:pPr>
              <a:lnSpc>
                <a:spcPct val="150000"/>
              </a:lnSpc>
            </a:pPr>
            <a:endParaRPr lang="en-IN" sz="2000" dirty="0">
              <a:solidFill>
                <a:schemeClr val="dk1"/>
              </a:solidFill>
              <a:latin typeface="Bookman Old Style" panose="02050604050505020204" pitchFamily="18" charset="0"/>
              <a:ea typeface="Calibri"/>
              <a:cs typeface="Calibri"/>
              <a:sym typeface="Calibri"/>
            </a:endParaRPr>
          </a:p>
        </p:txBody>
      </p:sp>
      <p:sp>
        <p:nvSpPr>
          <p:cNvPr id="6" name="TextBox 5">
            <a:extLst>
              <a:ext uri="{FF2B5EF4-FFF2-40B4-BE49-F238E27FC236}">
                <a16:creationId xmlns:a16="http://schemas.microsoft.com/office/drawing/2014/main" id="{83FAABE0-E792-98E4-8C78-B7B84B5697A4}"/>
              </a:ext>
            </a:extLst>
          </p:cNvPr>
          <p:cNvSpPr txBox="1"/>
          <p:nvPr/>
        </p:nvSpPr>
        <p:spPr>
          <a:xfrm>
            <a:off x="266696" y="1270679"/>
            <a:ext cx="10958053" cy="4093428"/>
          </a:xfrm>
          <a:prstGeom prst="rect">
            <a:avLst/>
          </a:prstGeom>
          <a:noFill/>
        </p:spPr>
        <p:txBody>
          <a:bodyPr wrap="square">
            <a:spAutoFit/>
          </a:bodyPr>
          <a:lstStyle/>
          <a:p>
            <a:r>
              <a:rPr lang="en-IN" sz="2000" b="1" dirty="0">
                <a:solidFill>
                  <a:srgbClr val="002060"/>
                </a:solidFill>
                <a:latin typeface="Bookman Old Style" panose="02050604050505020204" pitchFamily="18" charset="0"/>
                <a:ea typeface="Calibri"/>
                <a:cs typeface="Calibri"/>
              </a:rPr>
              <a:t>To Remember : Two types of scaling – Vertical Vs Horizontal</a:t>
            </a:r>
          </a:p>
          <a:p>
            <a:endParaRPr lang="en-IN" sz="2000" b="1" dirty="0">
              <a:solidFill>
                <a:srgbClr val="002060"/>
              </a:solidFill>
              <a:latin typeface="Bookman Old Style" panose="02050604050505020204" pitchFamily="18" charset="0"/>
              <a:ea typeface="Calibri"/>
              <a:cs typeface="Calibri"/>
            </a:endParaRPr>
          </a:p>
          <a:p>
            <a:r>
              <a:rPr lang="en-IN" sz="2000" b="1" dirty="0">
                <a:solidFill>
                  <a:schemeClr val="tx1"/>
                </a:solidFill>
                <a:latin typeface="Bookman Old Style" panose="02050604050505020204" pitchFamily="18" charset="0"/>
                <a:ea typeface="Calibri"/>
                <a:cs typeface="Calibri"/>
              </a:rPr>
              <a:t>Vertical Scaling</a:t>
            </a:r>
          </a:p>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Vertical scaling refers to increasing the resources (CPU, RAM, storage, etc.) of a single server or machine to make it more powerful. </a:t>
            </a:r>
          </a:p>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This could involve upgrading an existing server or instance by adding more processing power, memory, or storage to handle more load.</a:t>
            </a:r>
          </a:p>
          <a:p>
            <a:pPr marL="342900" indent="-342900">
              <a:buFont typeface="Arial" panose="020B0604020202020204" pitchFamily="34" charset="0"/>
              <a:buChar char="•"/>
            </a:pPr>
            <a:endParaRPr lang="en-US" sz="2000" dirty="0">
              <a:solidFill>
                <a:schemeClr val="tx1"/>
              </a:solidFill>
              <a:latin typeface="Bookman Old Style" panose="02050604050505020204" pitchFamily="18" charset="0"/>
              <a:ea typeface="Calibri"/>
              <a:cs typeface="Calibri"/>
            </a:endParaRPr>
          </a:p>
          <a:p>
            <a:r>
              <a:rPr lang="en-US" sz="2000" b="1" dirty="0">
                <a:solidFill>
                  <a:schemeClr val="tx1"/>
                </a:solidFill>
                <a:latin typeface="Bookman Old Style" panose="02050604050505020204" pitchFamily="18" charset="0"/>
                <a:ea typeface="Calibri"/>
                <a:cs typeface="Calibri"/>
              </a:rPr>
              <a:t>Horizontal Scaling</a:t>
            </a:r>
          </a:p>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Horizontal scaling refers to adding more machines (or nodes) to your infrastructure to distribute the load across multiple servers or instances. </a:t>
            </a:r>
          </a:p>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Instead of upgrading a single machine, you scale out by increasing the number of machines or servers that handle requests in parallel.</a:t>
            </a:r>
            <a:endParaRPr lang="en-IN" sz="2000" dirty="0">
              <a:solidFill>
                <a:schemeClr val="tx1"/>
              </a:solidFill>
              <a:latin typeface="Bookman Old Style" panose="02050604050505020204" pitchFamily="18" charset="0"/>
              <a:ea typeface="Calibri"/>
              <a:cs typeface="Calibri"/>
            </a:endParaRPr>
          </a:p>
        </p:txBody>
      </p:sp>
    </p:spTree>
    <p:extLst>
      <p:ext uri="{BB962C8B-B14F-4D97-AF65-F5344CB8AC3E}">
        <p14:creationId xmlns:p14="http://schemas.microsoft.com/office/powerpoint/2010/main" val="18962564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9985E77C-478D-BC0A-23DA-7BF13EED7A8B}"/>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CBE50FCB-7401-284F-E984-F8E53D67C636}"/>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Scaling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A026726A-754F-08B7-525A-B1CC487194EE}"/>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C5817E1D-E2D1-3E88-347A-E22F9B21B42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48</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5016F343-D611-A75A-3C2C-F318FBC8B806}"/>
              </a:ext>
            </a:extLst>
          </p:cNvPr>
          <p:cNvSpPr txBox="1"/>
          <p:nvPr/>
        </p:nvSpPr>
        <p:spPr>
          <a:xfrm>
            <a:off x="840656" y="2379785"/>
            <a:ext cx="11461955" cy="501804"/>
          </a:xfrm>
          <a:prstGeom prst="rect">
            <a:avLst/>
          </a:prstGeom>
          <a:noFill/>
        </p:spPr>
        <p:txBody>
          <a:bodyPr wrap="square">
            <a:spAutoFit/>
          </a:bodyPr>
          <a:lstStyle/>
          <a:p>
            <a:pPr>
              <a:lnSpc>
                <a:spcPct val="150000"/>
              </a:lnSpc>
            </a:pPr>
            <a:r>
              <a:rPr lang="en-IN" sz="2000" dirty="0">
                <a:solidFill>
                  <a:schemeClr val="dk1"/>
                </a:solidFill>
                <a:latin typeface="Bookman Old Style" panose="02050604050505020204" pitchFamily="18" charset="0"/>
                <a:ea typeface="Calibri"/>
                <a:cs typeface="Calibri"/>
                <a:sym typeface="Calibri"/>
              </a:rPr>
              <a:t> - </a:t>
            </a:r>
          </a:p>
        </p:txBody>
      </p:sp>
      <p:sp>
        <p:nvSpPr>
          <p:cNvPr id="6" name="TextBox 5">
            <a:extLst>
              <a:ext uri="{FF2B5EF4-FFF2-40B4-BE49-F238E27FC236}">
                <a16:creationId xmlns:a16="http://schemas.microsoft.com/office/drawing/2014/main" id="{C3362FFE-3ECE-793E-8D22-5F3768BFF3FE}"/>
              </a:ext>
            </a:extLst>
          </p:cNvPr>
          <p:cNvSpPr txBox="1"/>
          <p:nvPr/>
        </p:nvSpPr>
        <p:spPr>
          <a:xfrm>
            <a:off x="266696" y="1270679"/>
            <a:ext cx="10958053" cy="3785652"/>
          </a:xfrm>
          <a:prstGeom prst="rect">
            <a:avLst/>
          </a:prstGeom>
          <a:noFill/>
        </p:spPr>
        <p:txBody>
          <a:bodyPr wrap="square">
            <a:spAutoFit/>
          </a:bodyPr>
          <a:lstStyle/>
          <a:p>
            <a:r>
              <a:rPr lang="en-US" sz="2000" b="1" dirty="0">
                <a:solidFill>
                  <a:schemeClr val="tx1"/>
                </a:solidFill>
                <a:latin typeface="Bookman Old Style" panose="02050604050505020204" pitchFamily="18" charset="0"/>
                <a:ea typeface="Calibri"/>
                <a:cs typeface="Calibri"/>
              </a:rPr>
              <a:t>Horizontal Scaling – Request – Response Optional Pattern</a:t>
            </a:r>
          </a:p>
          <a:p>
            <a:r>
              <a:rPr lang="en-US" sz="2000" dirty="0">
                <a:solidFill>
                  <a:schemeClr val="tx1"/>
                </a:solidFill>
                <a:latin typeface="Bookman Old Style" panose="02050604050505020204" pitchFamily="18" charset="0"/>
                <a:ea typeface="Calibri"/>
                <a:cs typeface="Calibri"/>
              </a:rPr>
              <a:t>Two Reasons: </a:t>
            </a:r>
          </a:p>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with this pattern we don’t have any state information about the client making the request, which means that a client can connect and send a request to any service instance we have running. </a:t>
            </a:r>
          </a:p>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Second—and this is a result of the stateless nature of this pattern—we can easily add new instances of this service without changing anything about the cur </a:t>
            </a:r>
            <a:r>
              <a:rPr lang="en-US" sz="2000" dirty="0" err="1">
                <a:solidFill>
                  <a:schemeClr val="tx1"/>
                </a:solidFill>
                <a:latin typeface="Bookman Old Style" panose="02050604050505020204" pitchFamily="18" charset="0"/>
                <a:ea typeface="Calibri"/>
                <a:cs typeface="Calibri"/>
              </a:rPr>
              <a:t>rently</a:t>
            </a:r>
            <a:r>
              <a:rPr lang="en-US" sz="2000" dirty="0">
                <a:solidFill>
                  <a:schemeClr val="tx1"/>
                </a:solidFill>
                <a:latin typeface="Bookman Old Style" panose="02050604050505020204" pitchFamily="18" charset="0"/>
                <a:ea typeface="Calibri"/>
                <a:cs typeface="Calibri"/>
              </a:rPr>
              <a:t> running instances. </a:t>
            </a:r>
          </a:p>
          <a:p>
            <a:pPr marL="342900" indent="-342900" algn="just">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The mode of scaling stateless services is so popular that many cloud-hosting providers, such as Amazon, offer a feature called auto-scaling that will auto </a:t>
            </a:r>
            <a:r>
              <a:rPr lang="en-US" sz="2000" dirty="0" err="1">
                <a:solidFill>
                  <a:schemeClr val="tx1"/>
                </a:solidFill>
                <a:latin typeface="Bookman Old Style" panose="02050604050505020204" pitchFamily="18" charset="0"/>
                <a:ea typeface="Calibri"/>
                <a:cs typeface="Calibri"/>
              </a:rPr>
              <a:t>matically</a:t>
            </a:r>
            <a:r>
              <a:rPr lang="en-US" sz="2000" dirty="0">
                <a:solidFill>
                  <a:schemeClr val="tx1"/>
                </a:solidFill>
                <a:latin typeface="Bookman Old Style" panose="02050604050505020204" pitchFamily="18" charset="0"/>
                <a:ea typeface="Calibri"/>
                <a:cs typeface="Calibri"/>
              </a:rPr>
              <a:t> increase or decrease the number of instances running, based on demand. </a:t>
            </a:r>
          </a:p>
          <a:p>
            <a:pPr marL="342900" indent="-342900" algn="just">
              <a:buFont typeface="Arial" panose="020B0604020202020204" pitchFamily="34" charset="0"/>
              <a:buChar char="•"/>
            </a:pPr>
            <a:endParaRPr lang="en-US" sz="2000" dirty="0">
              <a:solidFill>
                <a:schemeClr val="tx1"/>
              </a:solidFill>
              <a:latin typeface="Bookman Old Style" panose="02050604050505020204" pitchFamily="18" charset="0"/>
              <a:ea typeface="Calibri"/>
              <a:cs typeface="Calibri"/>
            </a:endParaRPr>
          </a:p>
        </p:txBody>
      </p:sp>
    </p:spTree>
    <p:extLst>
      <p:ext uri="{BB962C8B-B14F-4D97-AF65-F5344CB8AC3E}">
        <p14:creationId xmlns:p14="http://schemas.microsoft.com/office/powerpoint/2010/main" val="41033722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700E7524-D836-4600-9998-9A3A374400D0}"/>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976A734B-38BB-A425-3150-098AF1FB46FD}"/>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Scaling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BDFFD3C8-F47A-64CE-E1C5-376CCD24BE83}"/>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43064E36-5DA3-A6CC-8899-E2A444D18A8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49</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AE58A7E4-9A97-F152-2898-1044E98C284F}"/>
              </a:ext>
            </a:extLst>
          </p:cNvPr>
          <p:cNvSpPr txBox="1"/>
          <p:nvPr/>
        </p:nvSpPr>
        <p:spPr>
          <a:xfrm>
            <a:off x="840656" y="2379785"/>
            <a:ext cx="11461955" cy="501804"/>
          </a:xfrm>
          <a:prstGeom prst="rect">
            <a:avLst/>
          </a:prstGeom>
          <a:noFill/>
        </p:spPr>
        <p:txBody>
          <a:bodyPr wrap="square">
            <a:spAutoFit/>
          </a:bodyPr>
          <a:lstStyle/>
          <a:p>
            <a:pPr>
              <a:lnSpc>
                <a:spcPct val="150000"/>
              </a:lnSpc>
            </a:pPr>
            <a:r>
              <a:rPr lang="en-IN" sz="2000" dirty="0">
                <a:solidFill>
                  <a:schemeClr val="dk1"/>
                </a:solidFill>
                <a:latin typeface="Bookman Old Style" panose="02050604050505020204" pitchFamily="18" charset="0"/>
                <a:ea typeface="Calibri"/>
                <a:cs typeface="Calibri"/>
                <a:sym typeface="Calibri"/>
              </a:rPr>
              <a:t> - </a:t>
            </a:r>
          </a:p>
        </p:txBody>
      </p:sp>
      <p:sp>
        <p:nvSpPr>
          <p:cNvPr id="6" name="TextBox 5">
            <a:extLst>
              <a:ext uri="{FF2B5EF4-FFF2-40B4-BE49-F238E27FC236}">
                <a16:creationId xmlns:a16="http://schemas.microsoft.com/office/drawing/2014/main" id="{7C01E077-2DA6-3A17-3D87-44EDC17510C3}"/>
              </a:ext>
            </a:extLst>
          </p:cNvPr>
          <p:cNvSpPr txBox="1"/>
          <p:nvPr/>
        </p:nvSpPr>
        <p:spPr>
          <a:xfrm>
            <a:off x="266696" y="1270679"/>
            <a:ext cx="10958053" cy="707886"/>
          </a:xfrm>
          <a:prstGeom prst="rect">
            <a:avLst/>
          </a:prstGeom>
          <a:noFill/>
        </p:spPr>
        <p:txBody>
          <a:bodyPr wrap="square">
            <a:spAutoFit/>
          </a:bodyPr>
          <a:lstStyle/>
          <a:p>
            <a:r>
              <a:rPr lang="en-US" sz="2000" b="1" dirty="0">
                <a:solidFill>
                  <a:schemeClr val="tx1"/>
                </a:solidFill>
                <a:latin typeface="Bookman Old Style" panose="02050604050505020204" pitchFamily="18" charset="0"/>
                <a:ea typeface="Calibri"/>
                <a:cs typeface="Calibri"/>
              </a:rPr>
              <a:t>Horizontal Scaling – Request – Response Optional Pattern</a:t>
            </a:r>
          </a:p>
          <a:p>
            <a:pPr marL="342900" indent="-342900" algn="just">
              <a:buFont typeface="Arial" panose="020B0604020202020204" pitchFamily="34" charset="0"/>
              <a:buChar char="•"/>
            </a:pPr>
            <a:endParaRPr lang="en-US" sz="2000" dirty="0">
              <a:solidFill>
                <a:schemeClr val="tx1"/>
              </a:solidFill>
              <a:latin typeface="Bookman Old Style" panose="02050604050505020204" pitchFamily="18" charset="0"/>
              <a:ea typeface="Calibri"/>
              <a:cs typeface="Calibri"/>
            </a:endParaRPr>
          </a:p>
        </p:txBody>
      </p:sp>
      <p:pic>
        <p:nvPicPr>
          <p:cNvPr id="7" name="Picture 6">
            <a:extLst>
              <a:ext uri="{FF2B5EF4-FFF2-40B4-BE49-F238E27FC236}">
                <a16:creationId xmlns:a16="http://schemas.microsoft.com/office/drawing/2014/main" id="{7A04EC06-0700-31CA-26C1-2174851214F5}"/>
              </a:ext>
            </a:extLst>
          </p:cNvPr>
          <p:cNvPicPr>
            <a:picLocks noChangeAspect="1"/>
          </p:cNvPicPr>
          <p:nvPr/>
        </p:nvPicPr>
        <p:blipFill>
          <a:blip r:embed="rId3"/>
          <a:stretch>
            <a:fillRect/>
          </a:stretch>
        </p:blipFill>
        <p:spPr>
          <a:xfrm>
            <a:off x="2062987" y="1686382"/>
            <a:ext cx="7602123" cy="4580059"/>
          </a:xfrm>
          <a:prstGeom prst="rect">
            <a:avLst/>
          </a:prstGeom>
        </p:spPr>
      </p:pic>
    </p:spTree>
    <p:extLst>
      <p:ext uri="{BB962C8B-B14F-4D97-AF65-F5344CB8AC3E}">
        <p14:creationId xmlns:p14="http://schemas.microsoft.com/office/powerpoint/2010/main" val="2491902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1DDA131D-1327-21AE-F59D-6B83A3196613}"/>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42B9D739-29D2-31B5-66EE-E4CB541AA5E5}"/>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Scaling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1A008B70-28CF-6776-1594-C63D6F72C1EF}"/>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EBFCA993-C1FF-9108-A8D2-84E10A7D7B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50</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0990CF34-F029-8A04-57A4-336C34E4055B}"/>
              </a:ext>
            </a:extLst>
          </p:cNvPr>
          <p:cNvSpPr txBox="1"/>
          <p:nvPr/>
        </p:nvSpPr>
        <p:spPr>
          <a:xfrm>
            <a:off x="840656" y="2379785"/>
            <a:ext cx="11461955" cy="501804"/>
          </a:xfrm>
          <a:prstGeom prst="rect">
            <a:avLst/>
          </a:prstGeom>
          <a:noFill/>
        </p:spPr>
        <p:txBody>
          <a:bodyPr wrap="square">
            <a:spAutoFit/>
          </a:bodyPr>
          <a:lstStyle/>
          <a:p>
            <a:pPr>
              <a:lnSpc>
                <a:spcPct val="150000"/>
              </a:lnSpc>
            </a:pPr>
            <a:r>
              <a:rPr lang="en-IN" sz="2000" dirty="0">
                <a:solidFill>
                  <a:schemeClr val="dk1"/>
                </a:solidFill>
                <a:latin typeface="Bookman Old Style" panose="02050604050505020204" pitchFamily="18" charset="0"/>
                <a:ea typeface="Calibri"/>
                <a:cs typeface="Calibri"/>
                <a:sym typeface="Calibri"/>
              </a:rPr>
              <a:t> - </a:t>
            </a:r>
          </a:p>
        </p:txBody>
      </p:sp>
      <p:sp>
        <p:nvSpPr>
          <p:cNvPr id="6" name="TextBox 5">
            <a:extLst>
              <a:ext uri="{FF2B5EF4-FFF2-40B4-BE49-F238E27FC236}">
                <a16:creationId xmlns:a16="http://schemas.microsoft.com/office/drawing/2014/main" id="{3446EBD7-FDBD-E5AE-5A5A-98A83CC1922D}"/>
              </a:ext>
            </a:extLst>
          </p:cNvPr>
          <p:cNvSpPr txBox="1"/>
          <p:nvPr/>
        </p:nvSpPr>
        <p:spPr>
          <a:xfrm>
            <a:off x="266696" y="1270679"/>
            <a:ext cx="10958053" cy="1015663"/>
          </a:xfrm>
          <a:prstGeom prst="rect">
            <a:avLst/>
          </a:prstGeom>
          <a:noFill/>
        </p:spPr>
        <p:txBody>
          <a:bodyPr wrap="square">
            <a:spAutoFit/>
          </a:bodyPr>
          <a:lstStyle/>
          <a:p>
            <a:r>
              <a:rPr lang="en-US" sz="2000" b="1" dirty="0">
                <a:solidFill>
                  <a:schemeClr val="tx1"/>
                </a:solidFill>
                <a:latin typeface="Bookman Old Style" panose="02050604050505020204" pitchFamily="18" charset="0"/>
                <a:ea typeface="Calibri"/>
                <a:cs typeface="Calibri"/>
              </a:rPr>
              <a:t>Horizontal Scaling – Stream Pattern</a:t>
            </a:r>
          </a:p>
          <a:p>
            <a:r>
              <a:rPr lang="en-US" sz="2000" dirty="0">
                <a:solidFill>
                  <a:schemeClr val="tx1"/>
                </a:solidFill>
                <a:latin typeface="Bookman Old Style" panose="02050604050505020204" pitchFamily="18" charset="0"/>
                <a:ea typeface="Calibri"/>
                <a:cs typeface="Calibri"/>
              </a:rPr>
              <a:t>horizontal scaling is our goal when building each tier of our streaming system. </a:t>
            </a:r>
          </a:p>
          <a:p>
            <a:pPr marL="342900" indent="-342900" algn="just">
              <a:buFont typeface="Arial" panose="020B0604020202020204" pitchFamily="34" charset="0"/>
              <a:buChar char="•"/>
            </a:pPr>
            <a:endParaRPr lang="en-US" sz="2000" dirty="0">
              <a:solidFill>
                <a:schemeClr val="tx1"/>
              </a:solidFill>
              <a:latin typeface="Bookman Old Style" panose="02050604050505020204" pitchFamily="18" charset="0"/>
              <a:ea typeface="Calibri"/>
              <a:cs typeface="Calibri"/>
            </a:endParaRPr>
          </a:p>
        </p:txBody>
      </p:sp>
      <p:pic>
        <p:nvPicPr>
          <p:cNvPr id="8" name="Picture 7">
            <a:extLst>
              <a:ext uri="{FF2B5EF4-FFF2-40B4-BE49-F238E27FC236}">
                <a16:creationId xmlns:a16="http://schemas.microsoft.com/office/drawing/2014/main" id="{4DAC87B3-394B-07C2-78E4-D9FD4C3F1DC4}"/>
              </a:ext>
            </a:extLst>
          </p:cNvPr>
          <p:cNvPicPr>
            <a:picLocks noChangeAspect="1"/>
          </p:cNvPicPr>
          <p:nvPr/>
        </p:nvPicPr>
        <p:blipFill>
          <a:blip r:embed="rId3"/>
          <a:stretch>
            <a:fillRect/>
          </a:stretch>
        </p:blipFill>
        <p:spPr>
          <a:xfrm>
            <a:off x="2224487" y="2063913"/>
            <a:ext cx="6386113" cy="4282811"/>
          </a:xfrm>
          <a:prstGeom prst="rect">
            <a:avLst/>
          </a:prstGeom>
        </p:spPr>
      </p:pic>
    </p:spTree>
    <p:extLst>
      <p:ext uri="{BB962C8B-B14F-4D97-AF65-F5344CB8AC3E}">
        <p14:creationId xmlns:p14="http://schemas.microsoft.com/office/powerpoint/2010/main" val="367677621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6182A62A-B040-27E6-2337-49F0F5F5F845}"/>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12D14160-F661-9CD2-59F5-2FFF7F22F21C}"/>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Scaling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711800B8-0CFC-341D-295E-19E7FE55B16A}"/>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021F1809-94CD-775C-5DF0-1C20FD5273E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51</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1102B5FE-1F7B-2FD5-B72A-F99BAD10AF30}"/>
              </a:ext>
            </a:extLst>
          </p:cNvPr>
          <p:cNvSpPr txBox="1"/>
          <p:nvPr/>
        </p:nvSpPr>
        <p:spPr>
          <a:xfrm>
            <a:off x="840656" y="2379785"/>
            <a:ext cx="11461955" cy="501804"/>
          </a:xfrm>
          <a:prstGeom prst="rect">
            <a:avLst/>
          </a:prstGeom>
          <a:noFill/>
        </p:spPr>
        <p:txBody>
          <a:bodyPr wrap="square">
            <a:spAutoFit/>
          </a:bodyPr>
          <a:lstStyle/>
          <a:p>
            <a:pPr>
              <a:lnSpc>
                <a:spcPct val="150000"/>
              </a:lnSpc>
            </a:pPr>
            <a:r>
              <a:rPr lang="en-IN" sz="2000" dirty="0">
                <a:solidFill>
                  <a:schemeClr val="dk1"/>
                </a:solidFill>
                <a:latin typeface="Bookman Old Style" panose="02050604050505020204" pitchFamily="18" charset="0"/>
                <a:ea typeface="Calibri"/>
                <a:cs typeface="Calibri"/>
                <a:sym typeface="Calibri"/>
              </a:rPr>
              <a:t> - </a:t>
            </a:r>
          </a:p>
        </p:txBody>
      </p:sp>
      <p:sp>
        <p:nvSpPr>
          <p:cNvPr id="6" name="TextBox 5">
            <a:extLst>
              <a:ext uri="{FF2B5EF4-FFF2-40B4-BE49-F238E27FC236}">
                <a16:creationId xmlns:a16="http://schemas.microsoft.com/office/drawing/2014/main" id="{7B3A8F4C-4E68-F016-A4EF-5F8363F3CF27}"/>
              </a:ext>
            </a:extLst>
          </p:cNvPr>
          <p:cNvSpPr txBox="1"/>
          <p:nvPr/>
        </p:nvSpPr>
        <p:spPr>
          <a:xfrm>
            <a:off x="266696" y="1270679"/>
            <a:ext cx="10958053" cy="4401205"/>
          </a:xfrm>
          <a:prstGeom prst="rect">
            <a:avLst/>
          </a:prstGeom>
          <a:noFill/>
        </p:spPr>
        <p:txBody>
          <a:bodyPr wrap="square">
            <a:spAutoFit/>
          </a:bodyPr>
          <a:lstStyle/>
          <a:p>
            <a:r>
              <a:rPr lang="en-US" sz="2000" b="1" dirty="0">
                <a:solidFill>
                  <a:schemeClr val="tx1"/>
                </a:solidFill>
                <a:latin typeface="Bookman Old Style" panose="02050604050505020204" pitchFamily="18" charset="0"/>
                <a:ea typeface="Calibri"/>
                <a:cs typeface="Calibri"/>
              </a:rPr>
              <a:t>Horizontal Scaling – Stream Pattern</a:t>
            </a:r>
          </a:p>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three of the four nodes are idle because there’s a direct connection between the search stream and the node handling the stream. </a:t>
            </a:r>
          </a:p>
          <a:p>
            <a:pPr marL="342900" indent="-342900">
              <a:buFont typeface="Arial" panose="020B0604020202020204" pitchFamily="34" charset="0"/>
              <a:buChar char="•"/>
            </a:pPr>
            <a:endParaRPr lang="en-US" sz="2000" dirty="0">
              <a:solidFill>
                <a:schemeClr val="tx1"/>
              </a:solidFill>
              <a:latin typeface="Bookman Old Style" panose="02050604050505020204" pitchFamily="18" charset="0"/>
              <a:ea typeface="Calibri"/>
              <a:cs typeface="Calibri"/>
            </a:endParaRPr>
          </a:p>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To scale our collection tier, we have a couple of options: scale up the collection node that’s consuming the stream, and introduce a buffering layer in the collection tier. </a:t>
            </a:r>
          </a:p>
          <a:p>
            <a:pPr marL="342900" indent="-342900">
              <a:buFont typeface="Arial" panose="020B0604020202020204" pitchFamily="34" charset="0"/>
              <a:buChar char="•"/>
            </a:pPr>
            <a:endParaRPr lang="en-US" sz="2000" dirty="0">
              <a:solidFill>
                <a:schemeClr val="tx1"/>
              </a:solidFill>
              <a:latin typeface="Bookman Old Style" panose="02050604050505020204" pitchFamily="18" charset="0"/>
              <a:ea typeface="Calibri"/>
              <a:cs typeface="Calibri"/>
            </a:endParaRPr>
          </a:p>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These are not mutually exclusive, and depending on the volume and velocity of the stream, both may be required. </a:t>
            </a:r>
          </a:p>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Scaling up the node consuming the stream will get us only so far; at a certain point we’ll reach the limits of the hardware our collection node is running on and won’t be able to scale it up any further. </a:t>
            </a:r>
          </a:p>
          <a:p>
            <a:pPr marL="342900" indent="-342900">
              <a:buFont typeface="Arial" panose="020B0604020202020204" pitchFamily="34" charset="0"/>
              <a:buChar char="•"/>
            </a:pPr>
            <a:endParaRPr lang="en-US" sz="2000" dirty="0">
              <a:solidFill>
                <a:schemeClr val="tx1"/>
              </a:solidFill>
              <a:latin typeface="Bookman Old Style" panose="02050604050505020204" pitchFamily="18" charset="0"/>
              <a:ea typeface="Calibri"/>
              <a:cs typeface="Calibri"/>
            </a:endParaRPr>
          </a:p>
        </p:txBody>
      </p:sp>
    </p:spTree>
    <p:extLst>
      <p:ext uri="{BB962C8B-B14F-4D97-AF65-F5344CB8AC3E}">
        <p14:creationId xmlns:p14="http://schemas.microsoft.com/office/powerpoint/2010/main" val="147857475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9F3D0FAC-E257-EC34-833B-4F34674975B2}"/>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840EEC73-751C-ECD5-39E7-17227C4B2907}"/>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Scaling Interaction Patterns</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241A4E96-3CCB-92EB-652A-90502FD011E0}"/>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B8C98DB6-9030-D2C2-644B-0060DD72139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52</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3F2D515A-A316-4BCD-B5DA-F7660D53DE76}"/>
              </a:ext>
            </a:extLst>
          </p:cNvPr>
          <p:cNvSpPr txBox="1"/>
          <p:nvPr/>
        </p:nvSpPr>
        <p:spPr>
          <a:xfrm>
            <a:off x="840656" y="2379785"/>
            <a:ext cx="11461955" cy="501804"/>
          </a:xfrm>
          <a:prstGeom prst="rect">
            <a:avLst/>
          </a:prstGeom>
          <a:noFill/>
        </p:spPr>
        <p:txBody>
          <a:bodyPr wrap="square">
            <a:spAutoFit/>
          </a:bodyPr>
          <a:lstStyle/>
          <a:p>
            <a:pPr>
              <a:lnSpc>
                <a:spcPct val="150000"/>
              </a:lnSpc>
            </a:pPr>
            <a:r>
              <a:rPr lang="en-IN" sz="2000" dirty="0">
                <a:solidFill>
                  <a:schemeClr val="dk1"/>
                </a:solidFill>
                <a:latin typeface="Bookman Old Style" panose="02050604050505020204" pitchFamily="18" charset="0"/>
                <a:ea typeface="Calibri"/>
                <a:cs typeface="Calibri"/>
                <a:sym typeface="Calibri"/>
              </a:rPr>
              <a:t> - </a:t>
            </a:r>
          </a:p>
        </p:txBody>
      </p:sp>
      <p:sp>
        <p:nvSpPr>
          <p:cNvPr id="6" name="TextBox 5">
            <a:extLst>
              <a:ext uri="{FF2B5EF4-FFF2-40B4-BE49-F238E27FC236}">
                <a16:creationId xmlns:a16="http://schemas.microsoft.com/office/drawing/2014/main" id="{31233C31-BFB0-47AC-3C09-3623E75C6C79}"/>
              </a:ext>
            </a:extLst>
          </p:cNvPr>
          <p:cNvSpPr txBox="1"/>
          <p:nvPr/>
        </p:nvSpPr>
        <p:spPr>
          <a:xfrm>
            <a:off x="266696" y="1270679"/>
            <a:ext cx="10958053" cy="707886"/>
          </a:xfrm>
          <a:prstGeom prst="rect">
            <a:avLst/>
          </a:prstGeom>
          <a:noFill/>
        </p:spPr>
        <p:txBody>
          <a:bodyPr wrap="square">
            <a:spAutoFit/>
          </a:bodyPr>
          <a:lstStyle/>
          <a:p>
            <a:r>
              <a:rPr lang="en-US" sz="2000" b="1" dirty="0">
                <a:solidFill>
                  <a:schemeClr val="tx1"/>
                </a:solidFill>
                <a:latin typeface="Bookman Old Style" panose="02050604050505020204" pitchFamily="18" charset="0"/>
                <a:ea typeface="Calibri"/>
                <a:cs typeface="Calibri"/>
              </a:rPr>
              <a:t>Horizontal Scaling – Stream Pattern</a:t>
            </a:r>
          </a:p>
          <a:p>
            <a:pPr marL="342900" indent="-342900">
              <a:buFont typeface="Arial" panose="020B0604020202020204" pitchFamily="34" charset="0"/>
              <a:buChar char="•"/>
            </a:pPr>
            <a:endParaRPr lang="en-US" sz="2000" dirty="0">
              <a:solidFill>
                <a:schemeClr val="tx1"/>
              </a:solidFill>
              <a:latin typeface="Bookman Old Style" panose="02050604050505020204" pitchFamily="18" charset="0"/>
              <a:ea typeface="Calibri"/>
              <a:cs typeface="Calibri"/>
            </a:endParaRPr>
          </a:p>
        </p:txBody>
      </p:sp>
      <p:pic>
        <p:nvPicPr>
          <p:cNvPr id="7" name="Picture 6">
            <a:extLst>
              <a:ext uri="{FF2B5EF4-FFF2-40B4-BE49-F238E27FC236}">
                <a16:creationId xmlns:a16="http://schemas.microsoft.com/office/drawing/2014/main" id="{295FB39D-2A52-0774-CC0F-C43F0E61A4F6}"/>
              </a:ext>
            </a:extLst>
          </p:cNvPr>
          <p:cNvPicPr>
            <a:picLocks noChangeAspect="1"/>
          </p:cNvPicPr>
          <p:nvPr/>
        </p:nvPicPr>
        <p:blipFill>
          <a:blip r:embed="rId3"/>
          <a:stretch>
            <a:fillRect/>
          </a:stretch>
        </p:blipFill>
        <p:spPr>
          <a:xfrm>
            <a:off x="2872460" y="1104698"/>
            <a:ext cx="6447079" cy="4648603"/>
          </a:xfrm>
          <a:prstGeom prst="rect">
            <a:avLst/>
          </a:prstGeom>
        </p:spPr>
      </p:pic>
    </p:spTree>
    <p:extLst>
      <p:ext uri="{BB962C8B-B14F-4D97-AF65-F5344CB8AC3E}">
        <p14:creationId xmlns:p14="http://schemas.microsoft.com/office/powerpoint/2010/main" val="127532551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41C0F14C-CD91-6BAF-A1E8-B1E15B42E742}"/>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D4F95468-4DB3-3B7D-A055-C959DD25EB8F}"/>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Fault Tolerance</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C767280B-4212-0D58-C609-7D8888B70AB5}"/>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DD518658-35FE-D5FB-FA93-F97915972E4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53</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9B16C70E-661B-F64C-EEE9-A87AE482B7F0}"/>
              </a:ext>
            </a:extLst>
          </p:cNvPr>
          <p:cNvSpPr txBox="1"/>
          <p:nvPr/>
        </p:nvSpPr>
        <p:spPr>
          <a:xfrm>
            <a:off x="840656" y="2379785"/>
            <a:ext cx="11461955" cy="501804"/>
          </a:xfrm>
          <a:prstGeom prst="rect">
            <a:avLst/>
          </a:prstGeom>
          <a:noFill/>
        </p:spPr>
        <p:txBody>
          <a:bodyPr wrap="square">
            <a:spAutoFit/>
          </a:bodyPr>
          <a:lstStyle/>
          <a:p>
            <a:pPr>
              <a:lnSpc>
                <a:spcPct val="150000"/>
              </a:lnSpc>
            </a:pPr>
            <a:r>
              <a:rPr lang="en-IN" sz="2000" dirty="0">
                <a:solidFill>
                  <a:schemeClr val="dk1"/>
                </a:solidFill>
                <a:latin typeface="Bookman Old Style" panose="02050604050505020204" pitchFamily="18" charset="0"/>
                <a:ea typeface="Calibri"/>
                <a:cs typeface="Calibri"/>
                <a:sym typeface="Calibri"/>
              </a:rPr>
              <a:t> - </a:t>
            </a:r>
          </a:p>
        </p:txBody>
      </p:sp>
      <p:sp>
        <p:nvSpPr>
          <p:cNvPr id="6" name="TextBox 5">
            <a:extLst>
              <a:ext uri="{FF2B5EF4-FFF2-40B4-BE49-F238E27FC236}">
                <a16:creationId xmlns:a16="http://schemas.microsoft.com/office/drawing/2014/main" id="{A09AC1AC-019A-C332-6BBF-0E6AE8ED4887}"/>
              </a:ext>
            </a:extLst>
          </p:cNvPr>
          <p:cNvSpPr txBox="1"/>
          <p:nvPr/>
        </p:nvSpPr>
        <p:spPr>
          <a:xfrm>
            <a:off x="393291" y="888040"/>
            <a:ext cx="10958053" cy="3231654"/>
          </a:xfrm>
          <a:prstGeom prst="rect">
            <a:avLst/>
          </a:prstGeom>
          <a:noFill/>
        </p:spPr>
        <p:txBody>
          <a:bodyPr wrap="square">
            <a:spAutoFit/>
          </a:bodyPr>
          <a:lstStyle/>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At some point one or more of our collection nodes will fail</a:t>
            </a:r>
          </a:p>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The failure may be the result of a bug in our software, third-party software we rely on, or the hardware our service runs on</a:t>
            </a:r>
          </a:p>
          <a:p>
            <a:pPr marL="342900" indent="-342900">
              <a:buFont typeface="Arial" panose="020B0604020202020204" pitchFamily="34" charset="0"/>
              <a:buChar char="•"/>
            </a:pPr>
            <a:r>
              <a:rPr lang="en-US" sz="2000" b="1" dirty="0">
                <a:solidFill>
                  <a:srgbClr val="002060"/>
                </a:solidFill>
                <a:latin typeface="Bookman Old Style" panose="02050604050505020204" pitchFamily="18" charset="0"/>
                <a:ea typeface="Calibri"/>
                <a:cs typeface="Calibri"/>
              </a:rPr>
              <a:t>Two Goals</a:t>
            </a:r>
          </a:p>
          <a:p>
            <a:pPr marL="895350" lvl="5">
              <a:buFont typeface="Wingdings" panose="05000000000000000000" pitchFamily="2" charset="2"/>
              <a:buChar char="q"/>
            </a:pPr>
            <a:r>
              <a:rPr lang="en-US" sz="2000" dirty="0">
                <a:solidFill>
                  <a:srgbClr val="002060"/>
                </a:solidFill>
                <a:latin typeface="Bookman Old Style" panose="02050604050505020204" pitchFamily="18" charset="0"/>
                <a:ea typeface="Calibri"/>
                <a:cs typeface="Calibri"/>
              </a:rPr>
              <a:t>To mask the failures and to improve the dependability of </a:t>
            </a:r>
            <a:r>
              <a:rPr lang="en-IN" sz="2000" dirty="0">
                <a:solidFill>
                  <a:srgbClr val="002060"/>
                </a:solidFill>
                <a:latin typeface="Bookman Old Style" panose="02050604050505020204" pitchFamily="18" charset="0"/>
                <a:ea typeface="Calibri"/>
                <a:cs typeface="Calibri"/>
              </a:rPr>
              <a:t>our collection tier. </a:t>
            </a:r>
          </a:p>
          <a:p>
            <a:pPr marL="895350" lvl="1">
              <a:buFont typeface="Wingdings" panose="05000000000000000000" pitchFamily="2" charset="2"/>
              <a:buChar char="q"/>
            </a:pPr>
            <a:r>
              <a:rPr lang="en-US" sz="2000" dirty="0">
                <a:solidFill>
                  <a:srgbClr val="002060"/>
                </a:solidFill>
                <a:latin typeface="Bookman Old Style" panose="02050604050505020204" pitchFamily="18" charset="0"/>
                <a:ea typeface="Calibri"/>
                <a:cs typeface="Calibri"/>
              </a:rPr>
              <a:t>When a collection node crashes (and it will), we don’t lose data and can recover as if the crash had never occurred</a:t>
            </a:r>
            <a:r>
              <a:rPr lang="en-US" sz="2800" dirty="0">
                <a:solidFill>
                  <a:srgbClr val="002060"/>
                </a:solidFill>
              </a:rPr>
              <a:t>.</a:t>
            </a:r>
          </a:p>
          <a:p>
            <a:pPr marL="354013" lvl="1">
              <a:tabLst>
                <a:tab pos="1347788" algn="l"/>
                <a:tab pos="1789113" algn="l"/>
              </a:tabLst>
            </a:pPr>
            <a:r>
              <a:rPr lang="en-US" sz="2000" b="1" dirty="0">
                <a:solidFill>
                  <a:srgbClr val="002060"/>
                </a:solidFill>
                <a:latin typeface="Bookman Old Style" panose="02050604050505020204" pitchFamily="18" charset="0"/>
                <a:ea typeface="Calibri"/>
                <a:cs typeface="Calibri"/>
              </a:rPr>
              <a:t>Two Approaches </a:t>
            </a:r>
            <a:r>
              <a:rPr lang="en-US" sz="2000" dirty="0">
                <a:solidFill>
                  <a:schemeClr val="tx1"/>
                </a:solidFill>
                <a:latin typeface="Bookman Old Style" panose="02050604050505020204" pitchFamily="18" charset="0"/>
                <a:ea typeface="Calibri"/>
                <a:cs typeface="Calibri"/>
              </a:rPr>
              <a:t>– </a:t>
            </a:r>
            <a:r>
              <a:rPr lang="en-US" sz="2000" dirty="0">
                <a:solidFill>
                  <a:srgbClr val="002060"/>
                </a:solidFill>
                <a:latin typeface="Bookman Old Style" panose="02050604050505020204" pitchFamily="18" charset="0"/>
                <a:ea typeface="Calibri"/>
                <a:cs typeface="Calibri"/>
              </a:rPr>
              <a:t>Checkpointing and logging</a:t>
            </a:r>
          </a:p>
          <a:p>
            <a:pPr marL="895350" lvl="1"/>
            <a:r>
              <a:rPr lang="en-US" sz="2800" b="1" dirty="0">
                <a:solidFill>
                  <a:srgbClr val="002060"/>
                </a:solidFill>
              </a:rPr>
              <a:t> </a:t>
            </a:r>
            <a:endParaRPr lang="en-US" sz="2000" b="1" dirty="0">
              <a:solidFill>
                <a:srgbClr val="002060"/>
              </a:solidFill>
              <a:latin typeface="Bookman Old Style" panose="02050604050505020204" pitchFamily="18" charset="0"/>
              <a:ea typeface="Calibri"/>
              <a:cs typeface="Calibri"/>
            </a:endParaRPr>
          </a:p>
        </p:txBody>
      </p:sp>
      <p:pic>
        <p:nvPicPr>
          <p:cNvPr id="8" name="Picture 7">
            <a:extLst>
              <a:ext uri="{FF2B5EF4-FFF2-40B4-BE49-F238E27FC236}">
                <a16:creationId xmlns:a16="http://schemas.microsoft.com/office/drawing/2014/main" id="{160F1A5D-952B-02DD-0C93-E614D62222A9}"/>
              </a:ext>
            </a:extLst>
          </p:cNvPr>
          <p:cNvPicPr>
            <a:picLocks noChangeAspect="1"/>
          </p:cNvPicPr>
          <p:nvPr/>
        </p:nvPicPr>
        <p:blipFill>
          <a:blip r:embed="rId3"/>
          <a:stretch>
            <a:fillRect/>
          </a:stretch>
        </p:blipFill>
        <p:spPr>
          <a:xfrm>
            <a:off x="3134617" y="3674511"/>
            <a:ext cx="5475983" cy="2864401"/>
          </a:xfrm>
          <a:prstGeom prst="rect">
            <a:avLst/>
          </a:prstGeom>
        </p:spPr>
      </p:pic>
    </p:spTree>
    <p:extLst>
      <p:ext uri="{BB962C8B-B14F-4D97-AF65-F5344CB8AC3E}">
        <p14:creationId xmlns:p14="http://schemas.microsoft.com/office/powerpoint/2010/main" val="32350983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C7280916-C857-0910-6D88-5B32B39F3E2F}"/>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FB327F16-F887-C9FD-39E6-79458EC7A240}"/>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Fault Tolerance</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8D969A87-A68B-742C-D66C-73D034E913EF}"/>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764858AF-9A75-3437-FCD8-A320FACB6E1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54</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ACE27EA9-CBC1-57A2-8D84-744ECBBA16E6}"/>
              </a:ext>
            </a:extLst>
          </p:cNvPr>
          <p:cNvSpPr txBox="1"/>
          <p:nvPr/>
        </p:nvSpPr>
        <p:spPr>
          <a:xfrm>
            <a:off x="840656" y="2379785"/>
            <a:ext cx="11461955" cy="501804"/>
          </a:xfrm>
          <a:prstGeom prst="rect">
            <a:avLst/>
          </a:prstGeom>
          <a:noFill/>
        </p:spPr>
        <p:txBody>
          <a:bodyPr wrap="square">
            <a:spAutoFit/>
          </a:bodyPr>
          <a:lstStyle/>
          <a:p>
            <a:pPr>
              <a:lnSpc>
                <a:spcPct val="150000"/>
              </a:lnSpc>
            </a:pPr>
            <a:r>
              <a:rPr lang="en-IN" sz="2000" dirty="0">
                <a:solidFill>
                  <a:schemeClr val="dk1"/>
                </a:solidFill>
                <a:latin typeface="Bookman Old Style" panose="02050604050505020204" pitchFamily="18" charset="0"/>
                <a:ea typeface="Calibri"/>
                <a:cs typeface="Calibri"/>
                <a:sym typeface="Calibri"/>
              </a:rPr>
              <a:t> - </a:t>
            </a:r>
          </a:p>
        </p:txBody>
      </p:sp>
      <p:pic>
        <p:nvPicPr>
          <p:cNvPr id="8" name="Picture 7">
            <a:extLst>
              <a:ext uri="{FF2B5EF4-FFF2-40B4-BE49-F238E27FC236}">
                <a16:creationId xmlns:a16="http://schemas.microsoft.com/office/drawing/2014/main" id="{2E36E30E-308D-075B-E3A5-302ACDE43C5D}"/>
              </a:ext>
            </a:extLst>
          </p:cNvPr>
          <p:cNvPicPr>
            <a:picLocks noChangeAspect="1"/>
          </p:cNvPicPr>
          <p:nvPr/>
        </p:nvPicPr>
        <p:blipFill>
          <a:blip r:embed="rId3"/>
          <a:stretch>
            <a:fillRect/>
          </a:stretch>
        </p:blipFill>
        <p:spPr>
          <a:xfrm>
            <a:off x="3444341" y="3334864"/>
            <a:ext cx="5539291" cy="2897517"/>
          </a:xfrm>
          <a:prstGeom prst="rect">
            <a:avLst/>
          </a:prstGeom>
        </p:spPr>
      </p:pic>
      <p:sp>
        <p:nvSpPr>
          <p:cNvPr id="9" name="TextBox 8">
            <a:extLst>
              <a:ext uri="{FF2B5EF4-FFF2-40B4-BE49-F238E27FC236}">
                <a16:creationId xmlns:a16="http://schemas.microsoft.com/office/drawing/2014/main" id="{8DCD3EBA-3378-9AE3-67D2-99EBA4BE1618}"/>
              </a:ext>
            </a:extLst>
          </p:cNvPr>
          <p:cNvSpPr txBox="1"/>
          <p:nvPr/>
        </p:nvSpPr>
        <p:spPr>
          <a:xfrm>
            <a:off x="491614" y="1088095"/>
            <a:ext cx="10387781" cy="2246769"/>
          </a:xfrm>
          <a:prstGeom prst="rect">
            <a:avLst/>
          </a:prstGeom>
          <a:noFill/>
        </p:spPr>
        <p:txBody>
          <a:bodyPr wrap="square">
            <a:spAutoFit/>
          </a:bodyPr>
          <a:lstStyle/>
          <a:p>
            <a:pPr algn="just"/>
            <a:r>
              <a:rPr lang="en-IN" sz="2000" b="1" dirty="0">
                <a:solidFill>
                  <a:srgbClr val="002060"/>
                </a:solidFill>
                <a:latin typeface="Bookman Old Style" panose="02050604050505020204" pitchFamily="18" charset="0"/>
                <a:ea typeface="Calibri"/>
                <a:cs typeface="Calibri"/>
              </a:rPr>
              <a:t>Check Pointing - </a:t>
            </a:r>
            <a:r>
              <a:rPr lang="en-IN" sz="2000" dirty="0">
                <a:solidFill>
                  <a:schemeClr val="tx1"/>
                </a:solidFill>
                <a:latin typeface="Bookman Old Style" panose="02050604050505020204" pitchFamily="18" charset="0"/>
                <a:ea typeface="Calibri"/>
                <a:cs typeface="Calibri"/>
              </a:rPr>
              <a:t>Characteristics  of Checkpointing</a:t>
            </a:r>
          </a:p>
          <a:p>
            <a:r>
              <a:rPr lang="en-US" sz="2000" dirty="0">
                <a:solidFill>
                  <a:srgbClr val="002060"/>
                </a:solidFill>
                <a:latin typeface="Bookman Old Style" panose="02050604050505020204" pitchFamily="18" charset="0"/>
                <a:ea typeface="Calibri"/>
                <a:cs typeface="Calibri"/>
              </a:rPr>
              <a:t>Global snapshot</a:t>
            </a:r>
            <a:r>
              <a:rPr lang="en-US" sz="2000" dirty="0">
                <a:solidFill>
                  <a:schemeClr val="tx1"/>
                </a:solidFill>
                <a:latin typeface="Bookman Old Style" panose="02050604050505020204" pitchFamily="18" charset="0"/>
                <a:ea typeface="Calibri"/>
                <a:cs typeface="Calibri"/>
              </a:rPr>
              <a:t>—The protocols require that a snapshot of the global state of the whole system be regularly saved to storage</a:t>
            </a:r>
          </a:p>
          <a:p>
            <a:endParaRPr lang="en-US" sz="2000" dirty="0">
              <a:solidFill>
                <a:schemeClr val="tx1"/>
              </a:solidFill>
              <a:latin typeface="Bookman Old Style" panose="02050604050505020204" pitchFamily="18" charset="0"/>
              <a:ea typeface="Calibri"/>
              <a:cs typeface="Calibri"/>
            </a:endParaRPr>
          </a:p>
          <a:p>
            <a:r>
              <a:rPr lang="en-US" sz="2000" dirty="0">
                <a:solidFill>
                  <a:srgbClr val="002060"/>
                </a:solidFill>
                <a:latin typeface="Bookman Old Style" panose="02050604050505020204" pitchFamily="18" charset="0"/>
                <a:ea typeface="Calibri"/>
                <a:cs typeface="Calibri"/>
              </a:rPr>
              <a:t>Potential for data loss</a:t>
            </a:r>
            <a:r>
              <a:rPr lang="en-US" sz="2000" dirty="0">
                <a:solidFill>
                  <a:schemeClr val="tx1"/>
                </a:solidFill>
                <a:latin typeface="Bookman Old Style" panose="02050604050505020204" pitchFamily="18" charset="0"/>
                <a:ea typeface="Calibri"/>
                <a:cs typeface="Calibri"/>
              </a:rPr>
              <a:t>—The protocols only ensure that the system is recoverable up to the most recent recorded global state; any messages that were processed and generated afterward are lost. </a:t>
            </a:r>
            <a:endParaRPr lang="en-IN" sz="2000" dirty="0">
              <a:solidFill>
                <a:schemeClr val="tx1"/>
              </a:solidFill>
              <a:latin typeface="Bookman Old Style" panose="02050604050505020204" pitchFamily="18" charset="0"/>
              <a:ea typeface="Calibri"/>
              <a:cs typeface="Calibri"/>
            </a:endParaRPr>
          </a:p>
        </p:txBody>
      </p:sp>
    </p:spTree>
    <p:extLst>
      <p:ext uri="{BB962C8B-B14F-4D97-AF65-F5344CB8AC3E}">
        <p14:creationId xmlns:p14="http://schemas.microsoft.com/office/powerpoint/2010/main" val="20349346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285D9DE5-ACA6-4349-5DF5-E64284479197}"/>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FFAE0D75-87F5-2B6C-2862-F597B3391878}"/>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Fault Tolerance</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69A2C637-8134-3662-5F59-268713469A71}"/>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4D97EE28-2D6B-AAFC-F3EA-307CB96BF94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55</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07026E50-4747-33FF-2336-1C5C35EA828F}"/>
              </a:ext>
            </a:extLst>
          </p:cNvPr>
          <p:cNvSpPr txBox="1"/>
          <p:nvPr/>
        </p:nvSpPr>
        <p:spPr>
          <a:xfrm>
            <a:off x="840656" y="2379785"/>
            <a:ext cx="11461955" cy="501804"/>
          </a:xfrm>
          <a:prstGeom prst="rect">
            <a:avLst/>
          </a:prstGeom>
          <a:noFill/>
        </p:spPr>
        <p:txBody>
          <a:bodyPr wrap="square">
            <a:spAutoFit/>
          </a:bodyPr>
          <a:lstStyle/>
          <a:p>
            <a:pPr>
              <a:lnSpc>
                <a:spcPct val="150000"/>
              </a:lnSpc>
            </a:pPr>
            <a:r>
              <a:rPr lang="en-IN" sz="2000" dirty="0">
                <a:solidFill>
                  <a:schemeClr val="dk1"/>
                </a:solidFill>
                <a:latin typeface="Bookman Old Style" panose="02050604050505020204" pitchFamily="18" charset="0"/>
                <a:ea typeface="Calibri"/>
                <a:cs typeface="Calibri"/>
                <a:sym typeface="Calibri"/>
              </a:rPr>
              <a:t> - </a:t>
            </a:r>
          </a:p>
        </p:txBody>
      </p:sp>
      <p:sp>
        <p:nvSpPr>
          <p:cNvPr id="6" name="TextBox 5">
            <a:extLst>
              <a:ext uri="{FF2B5EF4-FFF2-40B4-BE49-F238E27FC236}">
                <a16:creationId xmlns:a16="http://schemas.microsoft.com/office/drawing/2014/main" id="{38E20CC2-D9D1-4D08-27DB-96FC94989E63}"/>
              </a:ext>
            </a:extLst>
          </p:cNvPr>
          <p:cNvSpPr txBox="1"/>
          <p:nvPr/>
        </p:nvSpPr>
        <p:spPr>
          <a:xfrm>
            <a:off x="988141" y="1400474"/>
            <a:ext cx="10613923" cy="4832092"/>
          </a:xfrm>
          <a:prstGeom prst="rect">
            <a:avLst/>
          </a:prstGeom>
          <a:noFill/>
        </p:spPr>
        <p:txBody>
          <a:bodyPr wrap="square">
            <a:spAutoFit/>
          </a:bodyPr>
          <a:lstStyle/>
          <a:p>
            <a:pPr algn="just"/>
            <a:r>
              <a:rPr lang="en-US" sz="2000" b="1" dirty="0">
                <a:solidFill>
                  <a:srgbClr val="002060"/>
                </a:solidFill>
                <a:latin typeface="Bookman Old Style" panose="02050604050505020204" pitchFamily="18" charset="0"/>
                <a:ea typeface="Calibri"/>
                <a:cs typeface="Calibri"/>
              </a:rPr>
              <a:t>Global snapshot</a:t>
            </a:r>
          </a:p>
          <a:p>
            <a:pPr algn="just"/>
            <a:r>
              <a:rPr lang="en-US" sz="2000" dirty="0">
                <a:solidFill>
                  <a:schemeClr val="tx1"/>
                </a:solidFill>
                <a:latin typeface="Bookman Old Style" panose="02050604050505020204" pitchFamily="18" charset="0"/>
                <a:ea typeface="Calibri"/>
                <a:cs typeface="Calibri"/>
              </a:rPr>
              <a:t>This state is then used during recovery to put the system back into the last known state. </a:t>
            </a:r>
          </a:p>
          <a:p>
            <a:pPr algn="just"/>
            <a:r>
              <a:rPr lang="en-US" sz="2000" dirty="0">
                <a:solidFill>
                  <a:schemeClr val="tx1"/>
                </a:solidFill>
                <a:latin typeface="Bookman Old Style" panose="02050604050505020204" pitchFamily="18" charset="0"/>
                <a:ea typeface="Calibri"/>
                <a:cs typeface="Calibri"/>
              </a:rPr>
              <a:t>The potential for data loss exists if we can’t capture the global state every time data is changed in the system.</a:t>
            </a:r>
          </a:p>
          <a:p>
            <a:pPr algn="just"/>
            <a:r>
              <a:rPr lang="en-US" sz="2000" b="1" dirty="0">
                <a:solidFill>
                  <a:schemeClr val="tx1"/>
                </a:solidFill>
                <a:latin typeface="Bookman Old Style" panose="02050604050505020204" pitchFamily="18" charset="0"/>
                <a:ea typeface="Calibri"/>
                <a:cs typeface="Calibri"/>
              </a:rPr>
              <a:t>Example :</a:t>
            </a:r>
            <a:r>
              <a:rPr lang="en-US" sz="2800" b="1" dirty="0"/>
              <a:t> </a:t>
            </a:r>
            <a:r>
              <a:rPr lang="en-US" sz="2000" dirty="0">
                <a:solidFill>
                  <a:schemeClr val="tx1"/>
                </a:solidFill>
                <a:latin typeface="Bookman Old Style" panose="02050604050505020204" pitchFamily="18" charset="0"/>
                <a:ea typeface="Calibri"/>
                <a:cs typeface="Calibri"/>
              </a:rPr>
              <a:t>autosave in popular document-editing software such as Microsoft Word or Google Docs</a:t>
            </a:r>
          </a:p>
          <a:p>
            <a:pPr algn="just"/>
            <a:endParaRPr lang="en-US" sz="2000" dirty="0">
              <a:solidFill>
                <a:schemeClr val="tx1"/>
              </a:solidFill>
              <a:latin typeface="Bookman Old Style" panose="02050604050505020204" pitchFamily="18" charset="0"/>
              <a:ea typeface="Calibri"/>
              <a:cs typeface="Calibri"/>
            </a:endParaRPr>
          </a:p>
          <a:p>
            <a:pPr algn="just"/>
            <a:r>
              <a:rPr lang="en-US" sz="2000" dirty="0">
                <a:solidFill>
                  <a:schemeClr val="tx1"/>
                </a:solidFill>
                <a:latin typeface="Bookman Old Style" panose="02050604050505020204" pitchFamily="18" charset="0"/>
                <a:ea typeface="Calibri"/>
                <a:cs typeface="Calibri"/>
              </a:rPr>
              <a:t>When considering using a checkpoint protocol for implementing fault tolerance in a streaming system, keep two things in mind: </a:t>
            </a:r>
          </a:p>
          <a:p>
            <a:pPr marL="514350" indent="-514350" algn="just">
              <a:buAutoNum type="romanLcParenBoth"/>
            </a:pPr>
            <a:r>
              <a:rPr lang="en-US" sz="2000" dirty="0">
                <a:solidFill>
                  <a:schemeClr val="tx1"/>
                </a:solidFill>
                <a:latin typeface="Bookman Old Style" panose="02050604050505020204" pitchFamily="18" charset="0"/>
                <a:ea typeface="Calibri"/>
                <a:cs typeface="Calibri"/>
              </a:rPr>
              <a:t>the implications of the previously mentioned attributes </a:t>
            </a:r>
          </a:p>
          <a:p>
            <a:pPr marL="514350" indent="-514350" algn="just">
              <a:buAutoNum type="romanLcParenBoth"/>
            </a:pPr>
            <a:r>
              <a:rPr lang="en-US" sz="2000" dirty="0">
                <a:solidFill>
                  <a:schemeClr val="tx1"/>
                </a:solidFill>
                <a:latin typeface="Bookman Old Style" panose="02050604050505020204" pitchFamily="18" charset="0"/>
                <a:ea typeface="Calibri"/>
                <a:cs typeface="Calibri"/>
              </a:rPr>
              <a:t>the fact that a streaming system is composed of many layers and many different technologies. </a:t>
            </a:r>
          </a:p>
          <a:p>
            <a:pPr algn="just"/>
            <a:endParaRPr lang="en-US" sz="2000" dirty="0">
              <a:solidFill>
                <a:schemeClr val="tx1"/>
              </a:solidFill>
              <a:latin typeface="Bookman Old Style" panose="02050604050505020204" pitchFamily="18" charset="0"/>
              <a:ea typeface="Calibri"/>
              <a:cs typeface="Calibri"/>
            </a:endParaRPr>
          </a:p>
          <a:p>
            <a:pPr algn="just"/>
            <a:endParaRPr lang="en-IN" sz="2000" dirty="0">
              <a:solidFill>
                <a:schemeClr val="tx1"/>
              </a:solidFill>
              <a:latin typeface="Bookman Old Style" panose="02050604050505020204" pitchFamily="18" charset="0"/>
              <a:ea typeface="Calibri"/>
              <a:cs typeface="Calibri"/>
            </a:endParaRPr>
          </a:p>
        </p:txBody>
      </p:sp>
    </p:spTree>
    <p:extLst>
      <p:ext uri="{BB962C8B-B14F-4D97-AF65-F5344CB8AC3E}">
        <p14:creationId xmlns:p14="http://schemas.microsoft.com/office/powerpoint/2010/main" val="35124189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7B990F84-1E8E-0DB5-6F26-10A1A6012C85}"/>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3ACE0585-154C-2BDF-EC75-6A4BF757AFF1}"/>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Fault Tolerance</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8461AD06-7BD1-7492-80EF-FF0DBCCE8F10}"/>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121F0D53-1942-D05D-00F4-0B2F78E3178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56</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8EA108C9-CA60-34AF-3745-6B44C800634D}"/>
              </a:ext>
            </a:extLst>
          </p:cNvPr>
          <p:cNvSpPr txBox="1"/>
          <p:nvPr/>
        </p:nvSpPr>
        <p:spPr>
          <a:xfrm>
            <a:off x="2010695" y="3429000"/>
            <a:ext cx="11461955" cy="501804"/>
          </a:xfrm>
          <a:prstGeom prst="rect">
            <a:avLst/>
          </a:prstGeom>
          <a:noFill/>
        </p:spPr>
        <p:txBody>
          <a:bodyPr wrap="square">
            <a:spAutoFit/>
          </a:bodyPr>
          <a:lstStyle/>
          <a:p>
            <a:pPr>
              <a:lnSpc>
                <a:spcPct val="150000"/>
              </a:lnSpc>
            </a:pPr>
            <a:r>
              <a:rPr lang="en-IN" sz="2000" dirty="0">
                <a:solidFill>
                  <a:schemeClr val="dk1"/>
                </a:solidFill>
                <a:latin typeface="Bookman Old Style" panose="02050604050505020204" pitchFamily="18" charset="0"/>
                <a:ea typeface="Calibri"/>
                <a:cs typeface="Calibri"/>
                <a:sym typeface="Calibri"/>
              </a:rPr>
              <a:t>  </a:t>
            </a:r>
          </a:p>
        </p:txBody>
      </p:sp>
      <p:sp>
        <p:nvSpPr>
          <p:cNvPr id="6" name="TextBox 5">
            <a:extLst>
              <a:ext uri="{FF2B5EF4-FFF2-40B4-BE49-F238E27FC236}">
                <a16:creationId xmlns:a16="http://schemas.microsoft.com/office/drawing/2014/main" id="{ECDA44EA-B984-A1AA-5009-B4B0FFA0E434}"/>
              </a:ext>
            </a:extLst>
          </p:cNvPr>
          <p:cNvSpPr txBox="1"/>
          <p:nvPr/>
        </p:nvSpPr>
        <p:spPr>
          <a:xfrm>
            <a:off x="789038" y="997351"/>
            <a:ext cx="10613923" cy="3170099"/>
          </a:xfrm>
          <a:prstGeom prst="rect">
            <a:avLst/>
          </a:prstGeom>
          <a:noFill/>
        </p:spPr>
        <p:txBody>
          <a:bodyPr wrap="square">
            <a:spAutoFit/>
          </a:bodyPr>
          <a:lstStyle/>
          <a:p>
            <a:pPr algn="just"/>
            <a:r>
              <a:rPr lang="en-US" sz="2000" b="1" dirty="0">
                <a:solidFill>
                  <a:srgbClr val="002060"/>
                </a:solidFill>
                <a:latin typeface="Bookman Old Style" panose="02050604050505020204" pitchFamily="18" charset="0"/>
                <a:ea typeface="Calibri"/>
                <a:cs typeface="Calibri"/>
              </a:rPr>
              <a:t>Logging Protocols</a:t>
            </a:r>
          </a:p>
          <a:p>
            <a:pPr algn="just"/>
            <a:r>
              <a:rPr lang="en-US" sz="2000" b="1" dirty="0">
                <a:solidFill>
                  <a:schemeClr val="tx1"/>
                </a:solidFill>
                <a:latin typeface="Bookman Old Style" panose="02050604050505020204" pitchFamily="18" charset="0"/>
                <a:ea typeface="Calibri"/>
                <a:cs typeface="Calibri"/>
              </a:rPr>
              <a:t>Goals </a:t>
            </a:r>
          </a:p>
          <a:p>
            <a:pPr marL="342900" indent="-342900" algn="just">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overcoming the expense and complexity of checkpointing </a:t>
            </a:r>
          </a:p>
          <a:p>
            <a:pPr marL="342900" indent="-342900" algn="just">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Providing the ability to recover up to the last message received before a crash</a:t>
            </a:r>
          </a:p>
          <a:p>
            <a:pPr marL="342900" indent="-342900" algn="just">
              <a:buFont typeface="Arial" panose="020B0604020202020204" pitchFamily="34" charset="0"/>
              <a:buChar char="•"/>
            </a:pPr>
            <a:r>
              <a:rPr lang="en-US" sz="2000" dirty="0">
                <a:solidFill>
                  <a:srgbClr val="002060"/>
                </a:solidFill>
                <a:latin typeface="Bookman Old Style" panose="02050604050505020204" pitchFamily="18" charset="0"/>
                <a:ea typeface="Calibri"/>
                <a:cs typeface="Calibri"/>
              </a:rPr>
              <a:t>#if a message can be replayed, then the system can reach a global consistent state without the need for a global snapshot.</a:t>
            </a:r>
          </a:p>
          <a:p>
            <a:pPr marL="342900" indent="-342900" algn="just">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Each tier in the system independently records all messages it receives and plays them back after a crash. </a:t>
            </a:r>
          </a:p>
          <a:p>
            <a:pPr marL="342900" indent="-342900" algn="just">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Implementing a logging protocol frees us from worrying about maintaining global state, enabling us to focus on how to add fault tolerance to the collection tier.</a:t>
            </a:r>
            <a:endParaRPr lang="en-IN" sz="2000" dirty="0">
              <a:solidFill>
                <a:schemeClr val="tx1"/>
              </a:solidFill>
              <a:latin typeface="Bookman Old Style" panose="02050604050505020204" pitchFamily="18" charset="0"/>
              <a:ea typeface="Calibri"/>
              <a:cs typeface="Calibri"/>
            </a:endParaRPr>
          </a:p>
        </p:txBody>
      </p:sp>
    </p:spTree>
    <p:extLst>
      <p:ext uri="{BB962C8B-B14F-4D97-AF65-F5344CB8AC3E}">
        <p14:creationId xmlns:p14="http://schemas.microsoft.com/office/powerpoint/2010/main" val="288180119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578BFD98-8445-1F21-459D-50B43B52F896}"/>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22C255B3-0550-551D-2DCE-59515A980865}"/>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Fault Tolerance</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190488C1-6DF8-6D68-61F4-0A0F0721B804}"/>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66A55153-7B24-718E-A423-92F13C34A83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57</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82C707CE-CC8C-EF86-2530-DDA7243F6AA5}"/>
              </a:ext>
            </a:extLst>
          </p:cNvPr>
          <p:cNvSpPr txBox="1"/>
          <p:nvPr/>
        </p:nvSpPr>
        <p:spPr>
          <a:xfrm>
            <a:off x="2010695" y="3429000"/>
            <a:ext cx="11461955" cy="501804"/>
          </a:xfrm>
          <a:prstGeom prst="rect">
            <a:avLst/>
          </a:prstGeom>
          <a:noFill/>
        </p:spPr>
        <p:txBody>
          <a:bodyPr wrap="square">
            <a:spAutoFit/>
          </a:bodyPr>
          <a:lstStyle/>
          <a:p>
            <a:pPr>
              <a:lnSpc>
                <a:spcPct val="150000"/>
              </a:lnSpc>
            </a:pPr>
            <a:r>
              <a:rPr lang="en-IN" sz="2000" dirty="0">
                <a:solidFill>
                  <a:schemeClr val="dk1"/>
                </a:solidFill>
                <a:latin typeface="Bookman Old Style" panose="02050604050505020204" pitchFamily="18" charset="0"/>
                <a:ea typeface="Calibri"/>
                <a:cs typeface="Calibri"/>
                <a:sym typeface="Calibri"/>
              </a:rPr>
              <a:t>  </a:t>
            </a:r>
          </a:p>
        </p:txBody>
      </p:sp>
      <p:sp>
        <p:nvSpPr>
          <p:cNvPr id="6" name="TextBox 5">
            <a:extLst>
              <a:ext uri="{FF2B5EF4-FFF2-40B4-BE49-F238E27FC236}">
                <a16:creationId xmlns:a16="http://schemas.microsoft.com/office/drawing/2014/main" id="{B50329BE-C996-5866-EB38-516776C341F1}"/>
              </a:ext>
            </a:extLst>
          </p:cNvPr>
          <p:cNvSpPr txBox="1"/>
          <p:nvPr/>
        </p:nvSpPr>
        <p:spPr>
          <a:xfrm>
            <a:off x="988141" y="1400474"/>
            <a:ext cx="10613923" cy="4093428"/>
          </a:xfrm>
          <a:prstGeom prst="rect">
            <a:avLst/>
          </a:prstGeom>
          <a:noFill/>
        </p:spPr>
        <p:txBody>
          <a:bodyPr wrap="square">
            <a:spAutoFit/>
          </a:bodyPr>
          <a:lstStyle/>
          <a:p>
            <a:pPr algn="just"/>
            <a:r>
              <a:rPr lang="en-US" sz="2000" b="1" dirty="0">
                <a:solidFill>
                  <a:srgbClr val="002060"/>
                </a:solidFill>
                <a:latin typeface="Bookman Old Style" panose="02050604050505020204" pitchFamily="18" charset="0"/>
                <a:ea typeface="Calibri"/>
                <a:cs typeface="Calibri"/>
              </a:rPr>
              <a:t>Logging Protocols</a:t>
            </a:r>
          </a:p>
          <a:p>
            <a:pPr algn="just"/>
            <a:r>
              <a:rPr lang="en-US" sz="2000" b="1" dirty="0">
                <a:solidFill>
                  <a:schemeClr val="tx1"/>
                </a:solidFill>
                <a:latin typeface="Bookman Old Style" panose="02050604050505020204" pitchFamily="18" charset="0"/>
                <a:ea typeface="Calibri"/>
                <a:cs typeface="Calibri"/>
              </a:rPr>
              <a:t>Goals </a:t>
            </a:r>
          </a:p>
          <a:p>
            <a:pPr marL="342900" indent="-342900" algn="just">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overcoming the expense and complexity of checkpointing </a:t>
            </a:r>
          </a:p>
          <a:p>
            <a:pPr marL="342900" indent="-342900" algn="just">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Providing the ability to recover up to the last message received before a crash</a:t>
            </a:r>
          </a:p>
          <a:p>
            <a:pPr marL="342900" indent="-342900" algn="just">
              <a:buFont typeface="Arial" panose="020B0604020202020204" pitchFamily="34" charset="0"/>
              <a:buChar char="•"/>
            </a:pPr>
            <a:r>
              <a:rPr lang="en-US" sz="2000" dirty="0">
                <a:solidFill>
                  <a:srgbClr val="002060"/>
                </a:solidFill>
                <a:latin typeface="Bookman Old Style" panose="02050604050505020204" pitchFamily="18" charset="0"/>
                <a:ea typeface="Calibri"/>
                <a:cs typeface="Calibri"/>
              </a:rPr>
              <a:t>#if a message can be replayed, then the system can reach a global consistent state without the need for a global snapshot.</a:t>
            </a:r>
          </a:p>
          <a:p>
            <a:pPr marL="342900" indent="-342900" algn="just">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Each tier in the system independently records all messages it receives and plays them back after a crash. </a:t>
            </a:r>
          </a:p>
          <a:p>
            <a:pPr marL="342900" indent="-342900" algn="just">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Implementing a logging protocol frees us from worrying about maintaining global state, enabling us to focus on how to add fault tolerance to the collection tier.</a:t>
            </a:r>
          </a:p>
          <a:p>
            <a:pPr marL="342900" indent="-342900" algn="just">
              <a:buFont typeface="Arial" panose="020B0604020202020204" pitchFamily="34" charset="0"/>
              <a:buChar char="•"/>
            </a:pPr>
            <a:r>
              <a:rPr lang="en-IN" sz="2000" dirty="0">
                <a:solidFill>
                  <a:schemeClr val="tx1"/>
                </a:solidFill>
                <a:latin typeface="Bookman Old Style" panose="02050604050505020204" pitchFamily="18" charset="0"/>
                <a:ea typeface="Calibri"/>
                <a:cs typeface="Calibri"/>
              </a:rPr>
              <a:t>2 Techniques - </a:t>
            </a:r>
            <a:r>
              <a:rPr lang="en-IN" sz="2000" b="1" dirty="0">
                <a:solidFill>
                  <a:schemeClr val="tx1"/>
                </a:solidFill>
                <a:latin typeface="Bookman Old Style" panose="02050604050505020204" pitchFamily="18" charset="0"/>
                <a:ea typeface="Calibri"/>
                <a:cs typeface="Calibri"/>
              </a:rPr>
              <a:t>receiver-based message logging (RBML) and sender-based message logging (SBML)</a:t>
            </a:r>
            <a:endParaRPr lang="en-IN" sz="2000" dirty="0">
              <a:solidFill>
                <a:schemeClr val="tx1"/>
              </a:solidFill>
              <a:latin typeface="Bookman Old Style" panose="02050604050505020204" pitchFamily="18" charset="0"/>
              <a:ea typeface="Calibri"/>
              <a:cs typeface="Calibri"/>
            </a:endParaRPr>
          </a:p>
          <a:p>
            <a:pPr marL="342900" indent="-342900" algn="just">
              <a:buFont typeface="Arial" panose="020B0604020202020204" pitchFamily="34" charset="0"/>
              <a:buChar char="•"/>
            </a:pPr>
            <a:r>
              <a:rPr lang="en-IN" sz="2000" dirty="0">
                <a:solidFill>
                  <a:schemeClr val="tx1"/>
                </a:solidFill>
                <a:latin typeface="Bookman Old Style" panose="02050604050505020204" pitchFamily="18" charset="0"/>
                <a:ea typeface="Calibri"/>
                <a:cs typeface="Calibri"/>
              </a:rPr>
              <a:t>Emerging technique called hybrid message logging (HML).</a:t>
            </a:r>
          </a:p>
        </p:txBody>
      </p:sp>
    </p:spTree>
    <p:extLst>
      <p:ext uri="{BB962C8B-B14F-4D97-AF65-F5344CB8AC3E}">
        <p14:creationId xmlns:p14="http://schemas.microsoft.com/office/powerpoint/2010/main" val="288451830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70DFAB5C-7D83-6DE0-E383-6E6DF70FCC04}"/>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B6F945FB-FA30-266F-5035-D6947A29931C}"/>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Fault Tolerance</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EE2DF6E2-A220-B7CF-7EA1-20F163255318}"/>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8EE914AB-14C2-F681-6F68-BB89483581D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58</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E8FDC8E1-FB12-E6FA-1ED5-E664B3B7778D}"/>
              </a:ext>
            </a:extLst>
          </p:cNvPr>
          <p:cNvSpPr txBox="1"/>
          <p:nvPr/>
        </p:nvSpPr>
        <p:spPr>
          <a:xfrm>
            <a:off x="2010695" y="3429000"/>
            <a:ext cx="11461955" cy="501804"/>
          </a:xfrm>
          <a:prstGeom prst="rect">
            <a:avLst/>
          </a:prstGeom>
          <a:noFill/>
        </p:spPr>
        <p:txBody>
          <a:bodyPr wrap="square">
            <a:spAutoFit/>
          </a:bodyPr>
          <a:lstStyle/>
          <a:p>
            <a:pPr>
              <a:lnSpc>
                <a:spcPct val="150000"/>
              </a:lnSpc>
            </a:pPr>
            <a:r>
              <a:rPr lang="en-IN" sz="2000" dirty="0">
                <a:solidFill>
                  <a:schemeClr val="dk1"/>
                </a:solidFill>
                <a:latin typeface="Bookman Old Style" panose="02050604050505020204" pitchFamily="18" charset="0"/>
                <a:ea typeface="Calibri"/>
                <a:cs typeface="Calibri"/>
                <a:sym typeface="Calibri"/>
              </a:rPr>
              <a:t>  </a:t>
            </a:r>
          </a:p>
        </p:txBody>
      </p:sp>
      <p:sp>
        <p:nvSpPr>
          <p:cNvPr id="6" name="TextBox 5">
            <a:extLst>
              <a:ext uri="{FF2B5EF4-FFF2-40B4-BE49-F238E27FC236}">
                <a16:creationId xmlns:a16="http://schemas.microsoft.com/office/drawing/2014/main" id="{21AC8FBA-B915-2A3E-3B45-EA6E3C8AF057}"/>
              </a:ext>
            </a:extLst>
          </p:cNvPr>
          <p:cNvSpPr txBox="1"/>
          <p:nvPr/>
        </p:nvSpPr>
        <p:spPr>
          <a:xfrm>
            <a:off x="907025" y="1055405"/>
            <a:ext cx="10613923" cy="707886"/>
          </a:xfrm>
          <a:prstGeom prst="rect">
            <a:avLst/>
          </a:prstGeom>
          <a:noFill/>
        </p:spPr>
        <p:txBody>
          <a:bodyPr wrap="square">
            <a:spAutoFit/>
          </a:bodyPr>
          <a:lstStyle/>
          <a:p>
            <a:pPr algn="just"/>
            <a:r>
              <a:rPr lang="en-US" sz="2000" b="1" dirty="0">
                <a:solidFill>
                  <a:srgbClr val="002060"/>
                </a:solidFill>
                <a:latin typeface="Bookman Old Style" panose="02050604050505020204" pitchFamily="18" charset="0"/>
                <a:ea typeface="Calibri"/>
                <a:cs typeface="Calibri"/>
              </a:rPr>
              <a:t>Logging Protocols</a:t>
            </a:r>
          </a:p>
          <a:p>
            <a:pPr algn="just"/>
            <a:endParaRPr lang="en-IN" sz="2000" dirty="0">
              <a:solidFill>
                <a:schemeClr val="tx1"/>
              </a:solidFill>
              <a:latin typeface="Bookman Old Style" panose="02050604050505020204" pitchFamily="18" charset="0"/>
              <a:ea typeface="Calibri"/>
              <a:cs typeface="Calibri"/>
            </a:endParaRPr>
          </a:p>
        </p:txBody>
      </p:sp>
      <p:pic>
        <p:nvPicPr>
          <p:cNvPr id="7" name="Picture 6">
            <a:extLst>
              <a:ext uri="{FF2B5EF4-FFF2-40B4-BE49-F238E27FC236}">
                <a16:creationId xmlns:a16="http://schemas.microsoft.com/office/drawing/2014/main" id="{448627B6-5E6C-D64C-FED1-CA7EEDC1A769}"/>
              </a:ext>
            </a:extLst>
          </p:cNvPr>
          <p:cNvPicPr>
            <a:picLocks noChangeAspect="1"/>
          </p:cNvPicPr>
          <p:nvPr/>
        </p:nvPicPr>
        <p:blipFill>
          <a:blip r:embed="rId3"/>
          <a:stretch>
            <a:fillRect/>
          </a:stretch>
        </p:blipFill>
        <p:spPr>
          <a:xfrm>
            <a:off x="2963908" y="1809609"/>
            <a:ext cx="6264183" cy="3238781"/>
          </a:xfrm>
          <a:prstGeom prst="rect">
            <a:avLst/>
          </a:prstGeom>
        </p:spPr>
      </p:pic>
    </p:spTree>
    <p:extLst>
      <p:ext uri="{BB962C8B-B14F-4D97-AF65-F5344CB8AC3E}">
        <p14:creationId xmlns:p14="http://schemas.microsoft.com/office/powerpoint/2010/main" val="130659552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86215F47-477A-F24A-4099-9C1BE39EBEDF}"/>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D62ACE53-FF5F-5AB1-E0EC-3B6035A7310A}"/>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Fault Tolerance</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E7B118B9-5733-ACA2-C3A9-9FB34691AD5B}"/>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0522406A-E2BF-AF6E-5069-18571D038C2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59</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53BA1CA9-6108-783A-5D66-77FD8B951F32}"/>
              </a:ext>
            </a:extLst>
          </p:cNvPr>
          <p:cNvSpPr txBox="1"/>
          <p:nvPr/>
        </p:nvSpPr>
        <p:spPr>
          <a:xfrm>
            <a:off x="2010695" y="3429000"/>
            <a:ext cx="11461955" cy="501804"/>
          </a:xfrm>
          <a:prstGeom prst="rect">
            <a:avLst/>
          </a:prstGeom>
          <a:noFill/>
        </p:spPr>
        <p:txBody>
          <a:bodyPr wrap="square">
            <a:spAutoFit/>
          </a:bodyPr>
          <a:lstStyle/>
          <a:p>
            <a:pPr>
              <a:lnSpc>
                <a:spcPct val="150000"/>
              </a:lnSpc>
            </a:pPr>
            <a:r>
              <a:rPr lang="en-IN" sz="2000" dirty="0">
                <a:solidFill>
                  <a:schemeClr val="dk1"/>
                </a:solidFill>
                <a:latin typeface="Bookman Old Style" panose="02050604050505020204" pitchFamily="18" charset="0"/>
                <a:ea typeface="Calibri"/>
                <a:cs typeface="Calibri"/>
                <a:sym typeface="Calibri"/>
              </a:rPr>
              <a:t>  </a:t>
            </a:r>
          </a:p>
        </p:txBody>
      </p:sp>
      <p:sp>
        <p:nvSpPr>
          <p:cNvPr id="6" name="TextBox 5">
            <a:extLst>
              <a:ext uri="{FF2B5EF4-FFF2-40B4-BE49-F238E27FC236}">
                <a16:creationId xmlns:a16="http://schemas.microsoft.com/office/drawing/2014/main" id="{21D7FA60-25D3-54F8-24D0-AA7085DA8AB2}"/>
              </a:ext>
            </a:extLst>
          </p:cNvPr>
          <p:cNvSpPr txBox="1"/>
          <p:nvPr/>
        </p:nvSpPr>
        <p:spPr>
          <a:xfrm>
            <a:off x="907025" y="1055405"/>
            <a:ext cx="10613923" cy="400110"/>
          </a:xfrm>
          <a:prstGeom prst="rect">
            <a:avLst/>
          </a:prstGeom>
          <a:noFill/>
        </p:spPr>
        <p:txBody>
          <a:bodyPr wrap="square">
            <a:spAutoFit/>
          </a:bodyPr>
          <a:lstStyle/>
          <a:p>
            <a:pPr algn="just"/>
            <a:r>
              <a:rPr lang="en-IN" sz="2000" b="1" dirty="0">
                <a:solidFill>
                  <a:srgbClr val="002060"/>
                </a:solidFill>
                <a:latin typeface="Bookman Old Style" panose="02050604050505020204" pitchFamily="18" charset="0"/>
                <a:ea typeface="Calibri"/>
                <a:cs typeface="Calibri"/>
              </a:rPr>
              <a:t>Receiver-based message logging</a:t>
            </a:r>
          </a:p>
        </p:txBody>
      </p:sp>
      <p:pic>
        <p:nvPicPr>
          <p:cNvPr id="8" name="Picture 7">
            <a:extLst>
              <a:ext uri="{FF2B5EF4-FFF2-40B4-BE49-F238E27FC236}">
                <a16:creationId xmlns:a16="http://schemas.microsoft.com/office/drawing/2014/main" id="{AB866076-E8B5-9EE4-5A84-CF987C55EEB1}"/>
              </a:ext>
            </a:extLst>
          </p:cNvPr>
          <p:cNvPicPr>
            <a:picLocks noChangeAspect="1"/>
          </p:cNvPicPr>
          <p:nvPr/>
        </p:nvPicPr>
        <p:blipFill>
          <a:blip r:embed="rId3"/>
          <a:stretch>
            <a:fillRect/>
          </a:stretch>
        </p:blipFill>
        <p:spPr>
          <a:xfrm>
            <a:off x="51813" y="1455515"/>
            <a:ext cx="7004241" cy="3662862"/>
          </a:xfrm>
          <a:prstGeom prst="rect">
            <a:avLst/>
          </a:prstGeom>
        </p:spPr>
      </p:pic>
      <p:pic>
        <p:nvPicPr>
          <p:cNvPr id="12" name="Picture 11">
            <a:extLst>
              <a:ext uri="{FF2B5EF4-FFF2-40B4-BE49-F238E27FC236}">
                <a16:creationId xmlns:a16="http://schemas.microsoft.com/office/drawing/2014/main" id="{EBD9A87E-2BB1-BAB8-2B62-8C8FA13E371D}"/>
              </a:ext>
            </a:extLst>
          </p:cNvPr>
          <p:cNvPicPr>
            <a:picLocks noChangeAspect="1"/>
          </p:cNvPicPr>
          <p:nvPr/>
        </p:nvPicPr>
        <p:blipFill>
          <a:blip r:embed="rId4"/>
          <a:stretch>
            <a:fillRect/>
          </a:stretch>
        </p:blipFill>
        <p:spPr>
          <a:xfrm>
            <a:off x="6525638" y="1681166"/>
            <a:ext cx="5518878" cy="2568163"/>
          </a:xfrm>
          <a:prstGeom prst="rect">
            <a:avLst/>
          </a:prstGeom>
        </p:spPr>
      </p:pic>
      <p:sp>
        <p:nvSpPr>
          <p:cNvPr id="14" name="TextBox 13">
            <a:extLst>
              <a:ext uri="{FF2B5EF4-FFF2-40B4-BE49-F238E27FC236}">
                <a16:creationId xmlns:a16="http://schemas.microsoft.com/office/drawing/2014/main" id="{B0DB3EB2-6EF8-E86C-3F2E-770CDDBCE221}"/>
              </a:ext>
            </a:extLst>
          </p:cNvPr>
          <p:cNvSpPr txBox="1"/>
          <p:nvPr/>
        </p:nvSpPr>
        <p:spPr>
          <a:xfrm>
            <a:off x="2109019" y="5258499"/>
            <a:ext cx="8893277" cy="523220"/>
          </a:xfrm>
          <a:prstGeom prst="rect">
            <a:avLst/>
          </a:prstGeom>
          <a:noFill/>
        </p:spPr>
        <p:txBody>
          <a:bodyPr wrap="square">
            <a:spAutoFit/>
          </a:bodyPr>
          <a:lstStyle/>
          <a:p>
            <a:r>
              <a:rPr lang="en-US" sz="1400" dirty="0">
                <a:solidFill>
                  <a:schemeClr val="tx1"/>
                </a:solidFill>
                <a:latin typeface="Bookman Old Style" panose="02050604050505020204" pitchFamily="18" charset="0"/>
                <a:ea typeface="Calibri"/>
                <a:cs typeface="Calibri"/>
              </a:rPr>
              <a:t>Depending on the type of stable storage used, steps 2 and 3 may negatively impact the throughput performance of our collection node, sometimes noted as one of the drawbacks to logging protocols</a:t>
            </a:r>
            <a:endParaRPr lang="en-IN" dirty="0"/>
          </a:p>
        </p:txBody>
      </p:sp>
    </p:spTree>
    <p:extLst>
      <p:ext uri="{BB962C8B-B14F-4D97-AF65-F5344CB8AC3E}">
        <p14:creationId xmlns:p14="http://schemas.microsoft.com/office/powerpoint/2010/main" val="235935279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D96B7A53-E07D-D2B5-39F5-211466980CAF}"/>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E519A952-2D0E-D345-AEA6-7CA175E676E4}"/>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Fault Tolerance</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9AFB480D-1961-4690-B680-35296A4CA62F}"/>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1ED61871-6A46-F902-9F4A-A4AA975D5DD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60</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0E28D41F-5DB0-570A-42A3-F787FB188025}"/>
              </a:ext>
            </a:extLst>
          </p:cNvPr>
          <p:cNvSpPr txBox="1"/>
          <p:nvPr/>
        </p:nvSpPr>
        <p:spPr>
          <a:xfrm>
            <a:off x="2010695" y="3429000"/>
            <a:ext cx="11461955" cy="501804"/>
          </a:xfrm>
          <a:prstGeom prst="rect">
            <a:avLst/>
          </a:prstGeom>
          <a:noFill/>
        </p:spPr>
        <p:txBody>
          <a:bodyPr wrap="square">
            <a:spAutoFit/>
          </a:bodyPr>
          <a:lstStyle/>
          <a:p>
            <a:pPr>
              <a:lnSpc>
                <a:spcPct val="150000"/>
              </a:lnSpc>
            </a:pPr>
            <a:r>
              <a:rPr lang="en-IN" sz="2000" dirty="0">
                <a:solidFill>
                  <a:schemeClr val="dk1"/>
                </a:solidFill>
                <a:latin typeface="Bookman Old Style" panose="02050604050505020204" pitchFamily="18" charset="0"/>
                <a:ea typeface="Calibri"/>
                <a:cs typeface="Calibri"/>
                <a:sym typeface="Calibri"/>
              </a:rPr>
              <a:t>  </a:t>
            </a:r>
          </a:p>
        </p:txBody>
      </p:sp>
      <p:sp>
        <p:nvSpPr>
          <p:cNvPr id="6" name="TextBox 5">
            <a:extLst>
              <a:ext uri="{FF2B5EF4-FFF2-40B4-BE49-F238E27FC236}">
                <a16:creationId xmlns:a16="http://schemas.microsoft.com/office/drawing/2014/main" id="{B70651BA-6CB3-F4D6-654E-B530D3013FE0}"/>
              </a:ext>
            </a:extLst>
          </p:cNvPr>
          <p:cNvSpPr txBox="1"/>
          <p:nvPr/>
        </p:nvSpPr>
        <p:spPr>
          <a:xfrm>
            <a:off x="907024" y="904461"/>
            <a:ext cx="10613923" cy="400110"/>
          </a:xfrm>
          <a:prstGeom prst="rect">
            <a:avLst/>
          </a:prstGeom>
          <a:noFill/>
        </p:spPr>
        <p:txBody>
          <a:bodyPr wrap="square">
            <a:spAutoFit/>
          </a:bodyPr>
          <a:lstStyle/>
          <a:p>
            <a:pPr algn="just"/>
            <a:r>
              <a:rPr lang="en-IN" sz="2000" b="1" dirty="0">
                <a:solidFill>
                  <a:srgbClr val="002060"/>
                </a:solidFill>
                <a:latin typeface="Bookman Old Style" panose="02050604050505020204" pitchFamily="18" charset="0"/>
                <a:ea typeface="Calibri"/>
                <a:cs typeface="Calibri"/>
              </a:rPr>
              <a:t>Receiver-based message logging</a:t>
            </a:r>
          </a:p>
        </p:txBody>
      </p:sp>
      <p:sp>
        <p:nvSpPr>
          <p:cNvPr id="7" name="TextBox 6">
            <a:extLst>
              <a:ext uri="{FF2B5EF4-FFF2-40B4-BE49-F238E27FC236}">
                <a16:creationId xmlns:a16="http://schemas.microsoft.com/office/drawing/2014/main" id="{19E0BC0B-E35B-B10E-5974-82D3C715194A}"/>
              </a:ext>
            </a:extLst>
          </p:cNvPr>
          <p:cNvSpPr txBox="1"/>
          <p:nvPr/>
        </p:nvSpPr>
        <p:spPr>
          <a:xfrm>
            <a:off x="907024" y="1606459"/>
            <a:ext cx="10763865" cy="400110"/>
          </a:xfrm>
          <a:prstGeom prst="rect">
            <a:avLst/>
          </a:prstGeom>
          <a:noFill/>
        </p:spPr>
        <p:txBody>
          <a:bodyPr wrap="square">
            <a:spAutoFit/>
          </a:bodyPr>
          <a:lstStyle/>
          <a:p>
            <a:r>
              <a:rPr lang="en-US" sz="2000" dirty="0">
                <a:solidFill>
                  <a:schemeClr val="tx1"/>
                </a:solidFill>
                <a:latin typeface="Bookman Old Style" panose="02050604050505020204" pitchFamily="18" charset="0"/>
                <a:ea typeface="Calibri"/>
                <a:cs typeface="Calibri"/>
              </a:rPr>
              <a:t>.</a:t>
            </a:r>
          </a:p>
        </p:txBody>
      </p:sp>
      <p:sp>
        <p:nvSpPr>
          <p:cNvPr id="10" name="TextBox 9">
            <a:extLst>
              <a:ext uri="{FF2B5EF4-FFF2-40B4-BE49-F238E27FC236}">
                <a16:creationId xmlns:a16="http://schemas.microsoft.com/office/drawing/2014/main" id="{9FD5AEC4-DC3E-90F9-2D94-6C32D2B7F59A}"/>
              </a:ext>
            </a:extLst>
          </p:cNvPr>
          <p:cNvSpPr txBox="1"/>
          <p:nvPr/>
        </p:nvSpPr>
        <p:spPr>
          <a:xfrm>
            <a:off x="907024" y="1255776"/>
            <a:ext cx="10972802" cy="2554545"/>
          </a:xfrm>
          <a:prstGeom prst="rect">
            <a:avLst/>
          </a:prstGeom>
          <a:noFill/>
        </p:spPr>
        <p:txBody>
          <a:bodyPr wrap="square">
            <a:spAutoFit/>
          </a:bodyPr>
          <a:lstStyle/>
          <a:p>
            <a:pPr marL="342900" indent="-342900" algn="just">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Once the crash occurs, all incoming messages to this collection node are stopped. </a:t>
            </a:r>
          </a:p>
          <a:p>
            <a:pPr marL="342900" indent="-342900" algn="just">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Since we have more than one collection node and they’ll be behind a load balancer, we would take this node out of rotation. </a:t>
            </a:r>
          </a:p>
          <a:p>
            <a:pPr marL="342900" indent="-342900" algn="just">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Next, the RBML logger reads the messages that have not been processed from stable storage and sends them through the rest of the node logic as if nothing has happened.</a:t>
            </a:r>
          </a:p>
          <a:p>
            <a:pPr marL="342900" indent="-342900" algn="just">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Lastly, after all pending messages are processed, the node is considered restored and can be put back into rotation, and the data flow resumes</a:t>
            </a:r>
            <a:endParaRPr lang="en-IN" sz="2000" dirty="0">
              <a:solidFill>
                <a:schemeClr val="tx1"/>
              </a:solidFill>
              <a:latin typeface="Bookman Old Style" panose="02050604050505020204" pitchFamily="18" charset="0"/>
              <a:ea typeface="Calibri"/>
              <a:cs typeface="Calibri"/>
            </a:endParaRPr>
          </a:p>
        </p:txBody>
      </p:sp>
      <p:pic>
        <p:nvPicPr>
          <p:cNvPr id="13" name="Picture 12">
            <a:extLst>
              <a:ext uri="{FF2B5EF4-FFF2-40B4-BE49-F238E27FC236}">
                <a16:creationId xmlns:a16="http://schemas.microsoft.com/office/drawing/2014/main" id="{715C536A-67F1-B9CD-D854-0A41C69A3DF6}"/>
              </a:ext>
            </a:extLst>
          </p:cNvPr>
          <p:cNvPicPr>
            <a:picLocks noChangeAspect="1"/>
          </p:cNvPicPr>
          <p:nvPr/>
        </p:nvPicPr>
        <p:blipFill>
          <a:blip r:embed="rId3"/>
          <a:stretch>
            <a:fillRect/>
          </a:stretch>
        </p:blipFill>
        <p:spPr>
          <a:xfrm>
            <a:off x="7836310" y="3898514"/>
            <a:ext cx="4379038" cy="2944311"/>
          </a:xfrm>
          <a:prstGeom prst="rect">
            <a:avLst/>
          </a:prstGeom>
        </p:spPr>
      </p:pic>
    </p:spTree>
    <p:extLst>
      <p:ext uri="{BB962C8B-B14F-4D97-AF65-F5344CB8AC3E}">
        <p14:creationId xmlns:p14="http://schemas.microsoft.com/office/powerpoint/2010/main" val="34540450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A83EC4C9-72D8-3D74-70FF-52B228FA0CC6}"/>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2285ACE7-6BCF-E7AA-87A7-7199A132B9B6}"/>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Fault Tolerance</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CF123398-36A8-AD77-C536-6687ED939E3A}"/>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7347E461-5C18-7C95-13ED-2F070ADED86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61</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9B981D0F-00C1-8C4E-8DA4-BF4C5F112ABE}"/>
              </a:ext>
            </a:extLst>
          </p:cNvPr>
          <p:cNvSpPr txBox="1"/>
          <p:nvPr/>
        </p:nvSpPr>
        <p:spPr>
          <a:xfrm>
            <a:off x="5315256" y="1626914"/>
            <a:ext cx="6038545" cy="3170099"/>
          </a:xfrm>
          <a:prstGeom prst="rect">
            <a:avLst/>
          </a:prstGeom>
          <a:noFill/>
        </p:spPr>
        <p:txBody>
          <a:bodyPr wrap="square">
            <a:spAutoFit/>
          </a:bodyPr>
          <a:lstStyle/>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The SBML technique involves writing the message to stable storage before it is sent. </a:t>
            </a:r>
          </a:p>
          <a:p>
            <a:pPr marL="342900" indent="-342900">
              <a:buFont typeface="Arial" panose="020B0604020202020204" pitchFamily="34" charset="0"/>
              <a:buChar char="•"/>
            </a:pPr>
            <a:endParaRPr lang="en-US" sz="2000" dirty="0">
              <a:solidFill>
                <a:schemeClr val="tx1"/>
              </a:solidFill>
              <a:latin typeface="Bookman Old Style" panose="02050604050505020204" pitchFamily="18" charset="0"/>
              <a:ea typeface="Calibri"/>
              <a:cs typeface="Calibri"/>
            </a:endParaRPr>
          </a:p>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If the RBML technique logs all messages that come in the front door of our collection node to protect us from ourselves, then SBML is the act of logging all outgoing messages from our collection node before we send them, protecting ourselves from the next tier crashing or a network interruption.</a:t>
            </a:r>
            <a:endParaRPr lang="en-IN" sz="2000" dirty="0">
              <a:solidFill>
                <a:schemeClr val="tx1"/>
              </a:solidFill>
              <a:latin typeface="Bookman Old Style" panose="02050604050505020204" pitchFamily="18" charset="0"/>
              <a:ea typeface="Calibri"/>
              <a:cs typeface="Calibri"/>
            </a:endParaRPr>
          </a:p>
        </p:txBody>
      </p:sp>
      <p:sp>
        <p:nvSpPr>
          <p:cNvPr id="6" name="TextBox 5">
            <a:extLst>
              <a:ext uri="{FF2B5EF4-FFF2-40B4-BE49-F238E27FC236}">
                <a16:creationId xmlns:a16="http://schemas.microsoft.com/office/drawing/2014/main" id="{6BCE20EC-82D1-8010-7F1E-1171AA337031}"/>
              </a:ext>
            </a:extLst>
          </p:cNvPr>
          <p:cNvSpPr txBox="1"/>
          <p:nvPr/>
        </p:nvSpPr>
        <p:spPr>
          <a:xfrm>
            <a:off x="907024" y="904461"/>
            <a:ext cx="10613923" cy="400110"/>
          </a:xfrm>
          <a:prstGeom prst="rect">
            <a:avLst/>
          </a:prstGeom>
          <a:noFill/>
        </p:spPr>
        <p:txBody>
          <a:bodyPr wrap="square">
            <a:spAutoFit/>
          </a:bodyPr>
          <a:lstStyle/>
          <a:p>
            <a:pPr algn="just"/>
            <a:r>
              <a:rPr lang="en-IN" sz="2000" b="1" dirty="0">
                <a:solidFill>
                  <a:srgbClr val="002060"/>
                </a:solidFill>
                <a:latin typeface="Bookman Old Style" panose="02050604050505020204" pitchFamily="18" charset="0"/>
                <a:ea typeface="Calibri"/>
                <a:cs typeface="Calibri"/>
              </a:rPr>
              <a:t>Sender-based message logging</a:t>
            </a:r>
          </a:p>
        </p:txBody>
      </p:sp>
      <p:sp>
        <p:nvSpPr>
          <p:cNvPr id="7" name="TextBox 6">
            <a:extLst>
              <a:ext uri="{FF2B5EF4-FFF2-40B4-BE49-F238E27FC236}">
                <a16:creationId xmlns:a16="http://schemas.microsoft.com/office/drawing/2014/main" id="{0EC02431-2C74-3CE0-6EDD-D3F88E012BF6}"/>
              </a:ext>
            </a:extLst>
          </p:cNvPr>
          <p:cNvSpPr txBox="1"/>
          <p:nvPr/>
        </p:nvSpPr>
        <p:spPr>
          <a:xfrm>
            <a:off x="907024" y="1606459"/>
            <a:ext cx="10763865" cy="400110"/>
          </a:xfrm>
          <a:prstGeom prst="rect">
            <a:avLst/>
          </a:prstGeom>
          <a:noFill/>
        </p:spPr>
        <p:txBody>
          <a:bodyPr wrap="square">
            <a:spAutoFit/>
          </a:bodyPr>
          <a:lstStyle/>
          <a:p>
            <a:r>
              <a:rPr lang="en-US" sz="2000" dirty="0">
                <a:solidFill>
                  <a:schemeClr val="tx1"/>
                </a:solidFill>
                <a:latin typeface="Bookman Old Style" panose="02050604050505020204" pitchFamily="18" charset="0"/>
                <a:ea typeface="Calibri"/>
                <a:cs typeface="Calibri"/>
              </a:rPr>
              <a:t>.</a:t>
            </a:r>
          </a:p>
        </p:txBody>
      </p:sp>
      <p:pic>
        <p:nvPicPr>
          <p:cNvPr id="8" name="Picture 7">
            <a:extLst>
              <a:ext uri="{FF2B5EF4-FFF2-40B4-BE49-F238E27FC236}">
                <a16:creationId xmlns:a16="http://schemas.microsoft.com/office/drawing/2014/main" id="{0745C21D-3ACA-1634-38EA-7963B94F3C60}"/>
              </a:ext>
            </a:extLst>
          </p:cNvPr>
          <p:cNvPicPr>
            <a:picLocks noChangeAspect="1"/>
          </p:cNvPicPr>
          <p:nvPr/>
        </p:nvPicPr>
        <p:blipFill>
          <a:blip r:embed="rId3"/>
          <a:stretch>
            <a:fillRect/>
          </a:stretch>
        </p:blipFill>
        <p:spPr>
          <a:xfrm>
            <a:off x="346585" y="1485851"/>
            <a:ext cx="4968671" cy="4168501"/>
          </a:xfrm>
          <a:prstGeom prst="rect">
            <a:avLst/>
          </a:prstGeom>
        </p:spPr>
      </p:pic>
    </p:spTree>
    <p:extLst>
      <p:ext uri="{BB962C8B-B14F-4D97-AF65-F5344CB8AC3E}">
        <p14:creationId xmlns:p14="http://schemas.microsoft.com/office/powerpoint/2010/main" val="348572722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4C1867AA-9E81-E884-13F7-7A996C8CD629}"/>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923EC462-6795-28C0-7ED2-9A980FEB9775}"/>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Fault Tolerance</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FF999068-FBE5-0CF2-9859-7DFB24A8228D}"/>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8226579C-3FF5-34B8-3C5A-471AC8E119F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62</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CD7FB416-CCC0-09D2-9BFB-F3E1686EEEDB}"/>
              </a:ext>
            </a:extLst>
          </p:cNvPr>
          <p:cNvSpPr txBox="1"/>
          <p:nvPr/>
        </p:nvSpPr>
        <p:spPr>
          <a:xfrm>
            <a:off x="2010695" y="3429000"/>
            <a:ext cx="11461955" cy="501804"/>
          </a:xfrm>
          <a:prstGeom prst="rect">
            <a:avLst/>
          </a:prstGeom>
          <a:noFill/>
        </p:spPr>
        <p:txBody>
          <a:bodyPr wrap="square">
            <a:spAutoFit/>
          </a:bodyPr>
          <a:lstStyle/>
          <a:p>
            <a:pPr>
              <a:lnSpc>
                <a:spcPct val="150000"/>
              </a:lnSpc>
            </a:pPr>
            <a:r>
              <a:rPr lang="en-IN" sz="2000" dirty="0">
                <a:solidFill>
                  <a:schemeClr val="dk1"/>
                </a:solidFill>
                <a:latin typeface="Bookman Old Style" panose="02050604050505020204" pitchFamily="18" charset="0"/>
                <a:ea typeface="Calibri"/>
                <a:cs typeface="Calibri"/>
                <a:sym typeface="Calibri"/>
              </a:rPr>
              <a:t>  </a:t>
            </a:r>
          </a:p>
        </p:txBody>
      </p:sp>
      <p:sp>
        <p:nvSpPr>
          <p:cNvPr id="6" name="TextBox 5">
            <a:extLst>
              <a:ext uri="{FF2B5EF4-FFF2-40B4-BE49-F238E27FC236}">
                <a16:creationId xmlns:a16="http://schemas.microsoft.com/office/drawing/2014/main" id="{95C7EB0A-9F25-712B-9C4F-9FC9380DCAF8}"/>
              </a:ext>
            </a:extLst>
          </p:cNvPr>
          <p:cNvSpPr txBox="1"/>
          <p:nvPr/>
        </p:nvSpPr>
        <p:spPr>
          <a:xfrm>
            <a:off x="907024" y="904461"/>
            <a:ext cx="10613923" cy="400110"/>
          </a:xfrm>
          <a:prstGeom prst="rect">
            <a:avLst/>
          </a:prstGeom>
          <a:noFill/>
        </p:spPr>
        <p:txBody>
          <a:bodyPr wrap="square">
            <a:spAutoFit/>
          </a:bodyPr>
          <a:lstStyle/>
          <a:p>
            <a:pPr algn="just"/>
            <a:r>
              <a:rPr lang="en-IN" sz="2000" b="1">
                <a:solidFill>
                  <a:srgbClr val="002060"/>
                </a:solidFill>
                <a:latin typeface="Bookman Old Style" panose="02050604050505020204" pitchFamily="18" charset="0"/>
                <a:ea typeface="Calibri"/>
                <a:cs typeface="Calibri"/>
              </a:rPr>
              <a:t>Sender-based message logging</a:t>
            </a:r>
            <a:endParaRPr lang="en-IN" sz="2000" b="1" dirty="0">
              <a:solidFill>
                <a:srgbClr val="002060"/>
              </a:solidFill>
              <a:latin typeface="Bookman Old Style" panose="02050604050505020204" pitchFamily="18" charset="0"/>
              <a:ea typeface="Calibri"/>
              <a:cs typeface="Calibri"/>
            </a:endParaRPr>
          </a:p>
        </p:txBody>
      </p:sp>
      <p:sp>
        <p:nvSpPr>
          <p:cNvPr id="7" name="TextBox 6">
            <a:extLst>
              <a:ext uri="{FF2B5EF4-FFF2-40B4-BE49-F238E27FC236}">
                <a16:creationId xmlns:a16="http://schemas.microsoft.com/office/drawing/2014/main" id="{EDCDC556-2A4D-A9D0-E34E-A50608E33CB2}"/>
              </a:ext>
            </a:extLst>
          </p:cNvPr>
          <p:cNvSpPr txBox="1"/>
          <p:nvPr/>
        </p:nvSpPr>
        <p:spPr>
          <a:xfrm>
            <a:off x="907024" y="1606459"/>
            <a:ext cx="10763865" cy="400110"/>
          </a:xfrm>
          <a:prstGeom prst="rect">
            <a:avLst/>
          </a:prstGeom>
          <a:noFill/>
        </p:spPr>
        <p:txBody>
          <a:bodyPr wrap="square">
            <a:spAutoFit/>
          </a:bodyPr>
          <a:lstStyle/>
          <a:p>
            <a:r>
              <a:rPr lang="en-US" sz="2000" dirty="0">
                <a:solidFill>
                  <a:schemeClr val="tx1"/>
                </a:solidFill>
                <a:latin typeface="Bookman Old Style" panose="02050604050505020204" pitchFamily="18" charset="0"/>
                <a:ea typeface="Calibri"/>
                <a:cs typeface="Calibri"/>
              </a:rPr>
              <a:t>.</a:t>
            </a:r>
          </a:p>
        </p:txBody>
      </p:sp>
      <p:sp>
        <p:nvSpPr>
          <p:cNvPr id="11" name="TextBox 10">
            <a:extLst>
              <a:ext uri="{FF2B5EF4-FFF2-40B4-BE49-F238E27FC236}">
                <a16:creationId xmlns:a16="http://schemas.microsoft.com/office/drawing/2014/main" id="{0C64527C-6115-7BB0-81C4-A7FA8AE0701A}"/>
              </a:ext>
            </a:extLst>
          </p:cNvPr>
          <p:cNvSpPr txBox="1"/>
          <p:nvPr/>
        </p:nvSpPr>
        <p:spPr>
          <a:xfrm>
            <a:off x="907024" y="1424736"/>
            <a:ext cx="10763864" cy="2554545"/>
          </a:xfrm>
          <a:prstGeom prst="rect">
            <a:avLst/>
          </a:prstGeom>
          <a:noFill/>
        </p:spPr>
        <p:txBody>
          <a:bodyPr wrap="square">
            <a:spAutoFit/>
          </a:bodyPr>
          <a:lstStyle/>
          <a:p>
            <a:r>
              <a:rPr lang="en-US" sz="2000" dirty="0">
                <a:solidFill>
                  <a:schemeClr val="tx1"/>
                </a:solidFill>
                <a:latin typeface="Bookman Old Style" panose="02050604050505020204" pitchFamily="18" charset="0"/>
                <a:ea typeface="Calibri"/>
                <a:cs typeface="Calibri"/>
              </a:rPr>
              <a:t>RBML Vs SBML</a:t>
            </a:r>
          </a:p>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with RBML we are recording the message as soon as it is received before we do anything to it, and with SBML we are recording it before we send any data to the next tier. </a:t>
            </a:r>
          </a:p>
          <a:p>
            <a:pPr marL="342900" indent="-342900">
              <a:buFont typeface="Arial" panose="020B0604020202020204" pitchFamily="34" charset="0"/>
              <a:buChar char="•"/>
            </a:pPr>
            <a:r>
              <a:rPr lang="en-US" sz="2000" dirty="0">
                <a:solidFill>
                  <a:schemeClr val="tx1"/>
                </a:solidFill>
                <a:latin typeface="Bookman Old Style" panose="02050604050505020204" pitchFamily="18" charset="0"/>
                <a:ea typeface="Calibri"/>
                <a:cs typeface="Calibri"/>
              </a:rPr>
              <a:t>The data recorded by an RBML logger is the raw incoming data, and the data recorded by the SBML logger is after our node logic executes (remember, we may have augmented the data in some way) and before we send it on.</a:t>
            </a:r>
          </a:p>
          <a:p>
            <a:r>
              <a:rPr lang="en-IN" sz="2000" b="1" dirty="0">
                <a:solidFill>
                  <a:srgbClr val="002060"/>
                </a:solidFill>
                <a:latin typeface="Bookman Old Style" panose="02050604050505020204" pitchFamily="18" charset="0"/>
                <a:ea typeface="Calibri"/>
                <a:cs typeface="Calibri"/>
              </a:rPr>
              <a:t>Recovery</a:t>
            </a:r>
          </a:p>
        </p:txBody>
      </p:sp>
    </p:spTree>
    <p:extLst>
      <p:ext uri="{BB962C8B-B14F-4D97-AF65-F5344CB8AC3E}">
        <p14:creationId xmlns:p14="http://schemas.microsoft.com/office/powerpoint/2010/main" val="40126014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EA515266-4BCF-03BB-7CC7-13C49CB97AAC}"/>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9A318FEA-12B1-4E35-5F16-3CA152560BE6}"/>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Fault Tolerance</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7BA448D4-A2CE-0745-D32A-7E8F31DB5A06}"/>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B4E3C4E3-5967-4FE2-49EA-7B6C65C1BE1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63</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35FFFCB4-436B-A533-394B-7A2FFF8C0180}"/>
              </a:ext>
            </a:extLst>
          </p:cNvPr>
          <p:cNvSpPr txBox="1"/>
          <p:nvPr/>
        </p:nvSpPr>
        <p:spPr>
          <a:xfrm>
            <a:off x="2010695" y="3429000"/>
            <a:ext cx="11461955" cy="501804"/>
          </a:xfrm>
          <a:prstGeom prst="rect">
            <a:avLst/>
          </a:prstGeom>
          <a:noFill/>
        </p:spPr>
        <p:txBody>
          <a:bodyPr wrap="square">
            <a:spAutoFit/>
          </a:bodyPr>
          <a:lstStyle/>
          <a:p>
            <a:pPr>
              <a:lnSpc>
                <a:spcPct val="150000"/>
              </a:lnSpc>
            </a:pPr>
            <a:r>
              <a:rPr lang="en-IN" sz="2000" dirty="0">
                <a:solidFill>
                  <a:schemeClr val="dk1"/>
                </a:solidFill>
                <a:latin typeface="Bookman Old Style" panose="02050604050505020204" pitchFamily="18" charset="0"/>
                <a:ea typeface="Calibri"/>
                <a:cs typeface="Calibri"/>
                <a:sym typeface="Calibri"/>
              </a:rPr>
              <a:t>  </a:t>
            </a:r>
          </a:p>
        </p:txBody>
      </p:sp>
      <p:sp>
        <p:nvSpPr>
          <p:cNvPr id="7" name="TextBox 6">
            <a:extLst>
              <a:ext uri="{FF2B5EF4-FFF2-40B4-BE49-F238E27FC236}">
                <a16:creationId xmlns:a16="http://schemas.microsoft.com/office/drawing/2014/main" id="{FD93F001-F36A-0291-F30B-E5586F8AADA2}"/>
              </a:ext>
            </a:extLst>
          </p:cNvPr>
          <p:cNvSpPr txBox="1"/>
          <p:nvPr/>
        </p:nvSpPr>
        <p:spPr>
          <a:xfrm>
            <a:off x="907024" y="1606459"/>
            <a:ext cx="10763865" cy="400110"/>
          </a:xfrm>
          <a:prstGeom prst="rect">
            <a:avLst/>
          </a:prstGeom>
          <a:noFill/>
        </p:spPr>
        <p:txBody>
          <a:bodyPr wrap="square">
            <a:spAutoFit/>
          </a:bodyPr>
          <a:lstStyle/>
          <a:p>
            <a:r>
              <a:rPr lang="en-US" sz="2000" dirty="0">
                <a:solidFill>
                  <a:schemeClr val="tx1"/>
                </a:solidFill>
                <a:latin typeface="Bookman Old Style" panose="02050604050505020204" pitchFamily="18" charset="0"/>
                <a:ea typeface="Calibri"/>
                <a:cs typeface="Calibri"/>
              </a:rPr>
              <a:t>.</a:t>
            </a:r>
          </a:p>
        </p:txBody>
      </p:sp>
      <p:sp>
        <p:nvSpPr>
          <p:cNvPr id="11" name="TextBox 10">
            <a:extLst>
              <a:ext uri="{FF2B5EF4-FFF2-40B4-BE49-F238E27FC236}">
                <a16:creationId xmlns:a16="http://schemas.microsoft.com/office/drawing/2014/main" id="{758A182D-A021-9198-CF2C-A134CF1A9D3A}"/>
              </a:ext>
            </a:extLst>
          </p:cNvPr>
          <p:cNvSpPr txBox="1"/>
          <p:nvPr/>
        </p:nvSpPr>
        <p:spPr>
          <a:xfrm>
            <a:off x="907025" y="1055405"/>
            <a:ext cx="10763864" cy="707886"/>
          </a:xfrm>
          <a:prstGeom prst="rect">
            <a:avLst/>
          </a:prstGeom>
          <a:noFill/>
        </p:spPr>
        <p:txBody>
          <a:bodyPr wrap="square">
            <a:spAutoFit/>
          </a:bodyPr>
          <a:lstStyle/>
          <a:p>
            <a:r>
              <a:rPr lang="en-IN" sz="2000" b="1" dirty="0">
                <a:solidFill>
                  <a:srgbClr val="002060"/>
                </a:solidFill>
                <a:latin typeface="Bookman Old Style" panose="02050604050505020204" pitchFamily="18" charset="0"/>
                <a:ea typeface="Calibri"/>
                <a:cs typeface="Calibri"/>
              </a:rPr>
              <a:t>Recovery</a:t>
            </a:r>
          </a:p>
          <a:p>
            <a:endParaRPr lang="en-IN" sz="2000" b="1" dirty="0">
              <a:solidFill>
                <a:srgbClr val="002060"/>
              </a:solidFill>
              <a:latin typeface="Bookman Old Style" panose="02050604050505020204" pitchFamily="18" charset="0"/>
              <a:ea typeface="Calibri"/>
              <a:cs typeface="Calibri"/>
            </a:endParaRPr>
          </a:p>
        </p:txBody>
      </p:sp>
      <p:pic>
        <p:nvPicPr>
          <p:cNvPr id="8" name="Picture 7">
            <a:extLst>
              <a:ext uri="{FF2B5EF4-FFF2-40B4-BE49-F238E27FC236}">
                <a16:creationId xmlns:a16="http://schemas.microsoft.com/office/drawing/2014/main" id="{72AF081B-DEDA-5840-D1B3-5C90B2C98B63}"/>
              </a:ext>
            </a:extLst>
          </p:cNvPr>
          <p:cNvPicPr>
            <a:picLocks noChangeAspect="1"/>
          </p:cNvPicPr>
          <p:nvPr/>
        </p:nvPicPr>
        <p:blipFill>
          <a:blip r:embed="rId3"/>
          <a:stretch>
            <a:fillRect/>
          </a:stretch>
        </p:blipFill>
        <p:spPr>
          <a:xfrm>
            <a:off x="3002012" y="1348559"/>
            <a:ext cx="6187976" cy="4160881"/>
          </a:xfrm>
          <a:prstGeom prst="rect">
            <a:avLst/>
          </a:prstGeom>
        </p:spPr>
      </p:pic>
    </p:spTree>
    <p:extLst>
      <p:ext uri="{BB962C8B-B14F-4D97-AF65-F5344CB8AC3E}">
        <p14:creationId xmlns:p14="http://schemas.microsoft.com/office/powerpoint/2010/main" val="38349724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93">
          <a:extLst>
            <a:ext uri="{FF2B5EF4-FFF2-40B4-BE49-F238E27FC236}">
              <a16:creationId xmlns:a16="http://schemas.microsoft.com/office/drawing/2014/main" id="{8B1694ED-759B-F085-6786-E52A65D0A2E0}"/>
            </a:ext>
          </a:extLst>
        </p:cNvPr>
        <p:cNvGrpSpPr/>
        <p:nvPr/>
      </p:nvGrpSpPr>
      <p:grpSpPr>
        <a:xfrm>
          <a:off x="0" y="0"/>
          <a:ext cx="0" cy="0"/>
          <a:chOff x="0" y="0"/>
          <a:chExt cx="0" cy="0"/>
        </a:xfrm>
      </p:grpSpPr>
      <p:sp>
        <p:nvSpPr>
          <p:cNvPr id="94" name="Google Shape;94;p14">
            <a:extLst>
              <a:ext uri="{FF2B5EF4-FFF2-40B4-BE49-F238E27FC236}">
                <a16:creationId xmlns:a16="http://schemas.microsoft.com/office/drawing/2014/main" id="{1AB713FA-668D-F59D-0A49-C631976B79BF}"/>
              </a:ext>
            </a:extLst>
          </p:cNvPr>
          <p:cNvSpPr txBox="1">
            <a:spLocks noGrp="1"/>
          </p:cNvSpPr>
          <p:nvPr>
            <p:ph type="title"/>
          </p:nvPr>
        </p:nvSpPr>
        <p:spPr>
          <a:xfrm>
            <a:off x="2359742" y="511276"/>
            <a:ext cx="7708490" cy="39318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400"/>
              <a:buFont typeface="Calibri"/>
              <a:buNone/>
            </a:pPr>
            <a:r>
              <a:rPr lang="en-GB" b="1" dirty="0">
                <a:solidFill>
                  <a:srgbClr val="C00000"/>
                </a:solidFill>
                <a:latin typeface="Bookman Old Style" panose="02050604050505020204" pitchFamily="18" charset="0"/>
              </a:rPr>
              <a:t>Fault Tolerance</a:t>
            </a:r>
            <a:endParaRPr b="1" dirty="0">
              <a:solidFill>
                <a:srgbClr val="C00000"/>
              </a:solidFill>
              <a:latin typeface="Bookman Old Style" panose="02050604050505020204" pitchFamily="18" charset="0"/>
            </a:endParaRPr>
          </a:p>
        </p:txBody>
      </p:sp>
      <p:sp>
        <p:nvSpPr>
          <p:cNvPr id="2" name="Footer Placeholder 1">
            <a:extLst>
              <a:ext uri="{FF2B5EF4-FFF2-40B4-BE49-F238E27FC236}">
                <a16:creationId xmlns:a16="http://schemas.microsoft.com/office/drawing/2014/main" id="{9FE28047-AFEA-AD69-5043-549D7FEC5025}"/>
              </a:ext>
            </a:extLst>
          </p:cNvPr>
          <p:cNvSpPr>
            <a:spLocks noGrp="1"/>
          </p:cNvSpPr>
          <p:nvPr>
            <p:ph type="ftr" idx="11"/>
          </p:nvPr>
        </p:nvSpPr>
        <p:spPr/>
        <p:txBody>
          <a:bodyPr/>
          <a:lstStyle/>
          <a:p>
            <a:r>
              <a:rPr lang="en-US"/>
              <a:t>Department of AI and ML</a:t>
            </a:r>
          </a:p>
        </p:txBody>
      </p:sp>
      <p:sp>
        <p:nvSpPr>
          <p:cNvPr id="3" name="Slide Number Placeholder 2">
            <a:extLst>
              <a:ext uri="{FF2B5EF4-FFF2-40B4-BE49-F238E27FC236}">
                <a16:creationId xmlns:a16="http://schemas.microsoft.com/office/drawing/2014/main" id="{A8322F30-3683-299B-43A5-4FB2DD63ABF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GB" smtClean="0">
                <a:latin typeface="Bookman Old Style" panose="02050604050505020204" pitchFamily="18" charset="0"/>
              </a:rPr>
              <a:t>64</a:t>
            </a:fld>
            <a:endParaRPr lang="en-GB" dirty="0">
              <a:latin typeface="Bookman Old Style" panose="02050604050505020204" pitchFamily="18" charset="0"/>
            </a:endParaRPr>
          </a:p>
        </p:txBody>
      </p:sp>
      <p:sp>
        <p:nvSpPr>
          <p:cNvPr id="5" name="TextBox 4">
            <a:extLst>
              <a:ext uri="{FF2B5EF4-FFF2-40B4-BE49-F238E27FC236}">
                <a16:creationId xmlns:a16="http://schemas.microsoft.com/office/drawing/2014/main" id="{157320B0-EB78-AA7F-D3D3-5416FA0F37DC}"/>
              </a:ext>
            </a:extLst>
          </p:cNvPr>
          <p:cNvSpPr txBox="1"/>
          <p:nvPr/>
        </p:nvSpPr>
        <p:spPr>
          <a:xfrm>
            <a:off x="2010695" y="3429000"/>
            <a:ext cx="11461955" cy="501804"/>
          </a:xfrm>
          <a:prstGeom prst="rect">
            <a:avLst/>
          </a:prstGeom>
          <a:noFill/>
        </p:spPr>
        <p:txBody>
          <a:bodyPr wrap="square">
            <a:spAutoFit/>
          </a:bodyPr>
          <a:lstStyle/>
          <a:p>
            <a:pPr>
              <a:lnSpc>
                <a:spcPct val="150000"/>
              </a:lnSpc>
            </a:pPr>
            <a:r>
              <a:rPr lang="en-IN" sz="2000" dirty="0">
                <a:solidFill>
                  <a:schemeClr val="dk1"/>
                </a:solidFill>
                <a:latin typeface="Bookman Old Style" panose="02050604050505020204" pitchFamily="18" charset="0"/>
                <a:ea typeface="Calibri"/>
                <a:cs typeface="Calibri"/>
                <a:sym typeface="Calibri"/>
              </a:rPr>
              <a:t>  </a:t>
            </a:r>
          </a:p>
        </p:txBody>
      </p:sp>
      <p:sp>
        <p:nvSpPr>
          <p:cNvPr id="7" name="TextBox 6">
            <a:extLst>
              <a:ext uri="{FF2B5EF4-FFF2-40B4-BE49-F238E27FC236}">
                <a16:creationId xmlns:a16="http://schemas.microsoft.com/office/drawing/2014/main" id="{4B24A585-32D2-940C-BE7A-F2BBF5B5D786}"/>
              </a:ext>
            </a:extLst>
          </p:cNvPr>
          <p:cNvSpPr txBox="1"/>
          <p:nvPr/>
        </p:nvSpPr>
        <p:spPr>
          <a:xfrm>
            <a:off x="907024" y="1606459"/>
            <a:ext cx="10763865" cy="400110"/>
          </a:xfrm>
          <a:prstGeom prst="rect">
            <a:avLst/>
          </a:prstGeom>
          <a:noFill/>
        </p:spPr>
        <p:txBody>
          <a:bodyPr wrap="square">
            <a:spAutoFit/>
          </a:bodyPr>
          <a:lstStyle/>
          <a:p>
            <a:r>
              <a:rPr lang="en-US" sz="2000" dirty="0">
                <a:solidFill>
                  <a:schemeClr val="tx1"/>
                </a:solidFill>
                <a:latin typeface="Bookman Old Style" panose="02050604050505020204" pitchFamily="18" charset="0"/>
                <a:ea typeface="Calibri"/>
                <a:cs typeface="Calibri"/>
              </a:rPr>
              <a:t>.</a:t>
            </a:r>
          </a:p>
        </p:txBody>
      </p:sp>
      <p:sp>
        <p:nvSpPr>
          <p:cNvPr id="11" name="TextBox 10">
            <a:extLst>
              <a:ext uri="{FF2B5EF4-FFF2-40B4-BE49-F238E27FC236}">
                <a16:creationId xmlns:a16="http://schemas.microsoft.com/office/drawing/2014/main" id="{48AFD4C8-E153-CA18-A666-8E4E25B8D601}"/>
              </a:ext>
            </a:extLst>
          </p:cNvPr>
          <p:cNvSpPr txBox="1"/>
          <p:nvPr/>
        </p:nvSpPr>
        <p:spPr>
          <a:xfrm>
            <a:off x="907025" y="1055405"/>
            <a:ext cx="10763864" cy="707886"/>
          </a:xfrm>
          <a:prstGeom prst="rect">
            <a:avLst/>
          </a:prstGeom>
          <a:noFill/>
        </p:spPr>
        <p:txBody>
          <a:bodyPr wrap="square">
            <a:spAutoFit/>
          </a:bodyPr>
          <a:lstStyle/>
          <a:p>
            <a:r>
              <a:rPr lang="en-IN" sz="2000" b="1" dirty="0">
                <a:solidFill>
                  <a:srgbClr val="002060"/>
                </a:solidFill>
                <a:latin typeface="Bookman Old Style" panose="02050604050505020204" pitchFamily="18" charset="0"/>
                <a:ea typeface="Calibri"/>
                <a:cs typeface="Calibri"/>
              </a:rPr>
              <a:t>Hybrid Message Logging</a:t>
            </a:r>
          </a:p>
          <a:p>
            <a:endParaRPr lang="en-IN" sz="2000" b="1" dirty="0">
              <a:solidFill>
                <a:srgbClr val="002060"/>
              </a:solidFill>
              <a:latin typeface="Bookman Old Style" panose="02050604050505020204" pitchFamily="18" charset="0"/>
              <a:ea typeface="Calibri"/>
              <a:cs typeface="Calibri"/>
            </a:endParaRPr>
          </a:p>
        </p:txBody>
      </p:sp>
    </p:spTree>
    <p:extLst>
      <p:ext uri="{BB962C8B-B14F-4D97-AF65-F5344CB8AC3E}">
        <p14:creationId xmlns:p14="http://schemas.microsoft.com/office/powerpoint/2010/main" val="67164004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7734</TotalTime>
  <Words>5117</Words>
  <Application>Microsoft Office PowerPoint</Application>
  <PresentationFormat>Widescreen</PresentationFormat>
  <Paragraphs>503</Paragraphs>
  <Slides>64</Slides>
  <Notes>64</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64</vt:i4>
      </vt:variant>
    </vt:vector>
  </HeadingPairs>
  <TitlesOfParts>
    <vt:vector size="73" baseType="lpstr">
      <vt:lpstr>Playfair Display</vt:lpstr>
      <vt:lpstr>Wingdings</vt:lpstr>
      <vt:lpstr>Calibri Light</vt:lpstr>
      <vt:lpstr>Courier New</vt:lpstr>
      <vt:lpstr>Bookman Old Style</vt:lpstr>
      <vt:lpstr>Calibri</vt:lpstr>
      <vt:lpstr>Arial</vt:lpstr>
      <vt:lpstr>Office Theme</vt:lpstr>
      <vt:lpstr>Custom Design</vt:lpstr>
      <vt:lpstr>STREAM PROCESSING</vt:lpstr>
      <vt:lpstr>PowerPoint Presentation</vt:lpstr>
      <vt:lpstr>Whats in syllabus??</vt:lpstr>
      <vt:lpstr>Unit -1</vt:lpstr>
      <vt:lpstr>Unit -1</vt:lpstr>
      <vt:lpstr>Unit -1</vt:lpstr>
      <vt:lpstr>Introduction </vt:lpstr>
      <vt:lpstr>Introduction </vt:lpstr>
      <vt:lpstr>Introduction </vt:lpstr>
      <vt:lpstr>Introduction </vt:lpstr>
      <vt:lpstr>Introduction </vt:lpstr>
      <vt:lpstr>Introduction </vt:lpstr>
      <vt:lpstr>Introduction </vt:lpstr>
      <vt:lpstr>Streaming Data System </vt:lpstr>
      <vt:lpstr>Streaming Data System </vt:lpstr>
      <vt:lpstr>Streaming Data System </vt:lpstr>
      <vt:lpstr>Streaming Data System </vt:lpstr>
      <vt:lpstr>Streaming Data System </vt:lpstr>
      <vt:lpstr>Streaming Data Architecture</vt:lpstr>
      <vt:lpstr>Streaming Data Architecture</vt:lpstr>
      <vt:lpstr>Security for streaming systems</vt:lpstr>
      <vt:lpstr>Security for streaming systems</vt:lpstr>
      <vt:lpstr>Data Ingestion</vt:lpstr>
      <vt:lpstr>Common Interaction Patterns</vt:lpstr>
      <vt:lpstr>Common Interaction Patterns</vt:lpstr>
      <vt:lpstr>Common Interaction Patterns</vt:lpstr>
      <vt:lpstr>Common Interaction Patterns</vt:lpstr>
      <vt:lpstr>Common Interaction Patterns</vt:lpstr>
      <vt:lpstr>Common Interaction Patterns</vt:lpstr>
      <vt:lpstr>Common Interaction Patterns</vt:lpstr>
      <vt:lpstr>Common Interaction Patterns</vt:lpstr>
      <vt:lpstr>Common Interaction Patterns</vt:lpstr>
      <vt:lpstr>Common Interaction Patterns</vt:lpstr>
      <vt:lpstr>Common Interaction Patterns</vt:lpstr>
      <vt:lpstr>Common Interaction Patterns</vt:lpstr>
      <vt:lpstr>Common Interaction Patterns</vt:lpstr>
      <vt:lpstr>Common Interaction Patterns</vt:lpstr>
      <vt:lpstr>Common Interaction Patterns</vt:lpstr>
      <vt:lpstr>Common Interaction Patterns</vt:lpstr>
      <vt:lpstr>Common Interaction Patterns</vt:lpstr>
      <vt:lpstr>Common Interaction Patterns</vt:lpstr>
      <vt:lpstr>Common Interaction Patterns</vt:lpstr>
      <vt:lpstr>Common Interaction Patterns</vt:lpstr>
      <vt:lpstr>Common Interaction Patterns</vt:lpstr>
      <vt:lpstr>Common Interaction Patterns</vt:lpstr>
      <vt:lpstr>Scaling Interaction Patterns</vt:lpstr>
      <vt:lpstr>Scaling Interaction Patterns</vt:lpstr>
      <vt:lpstr>Scaling Interaction Patterns</vt:lpstr>
      <vt:lpstr>Scaling Interaction Patterns</vt:lpstr>
      <vt:lpstr>Scaling Interaction Patterns</vt:lpstr>
      <vt:lpstr>Scaling Interaction Patterns</vt:lpstr>
      <vt:lpstr>Scaling Interaction Patterns</vt:lpstr>
      <vt:lpstr>Fault Tolerance</vt:lpstr>
      <vt:lpstr>Fault Tolerance</vt:lpstr>
      <vt:lpstr>Fault Tolerance</vt:lpstr>
      <vt:lpstr>Fault Tolerance</vt:lpstr>
      <vt:lpstr>Fault Tolerance</vt:lpstr>
      <vt:lpstr>Fault Tolerance</vt:lpstr>
      <vt:lpstr>Fault Tolerance</vt:lpstr>
      <vt:lpstr>Fault Tolerance</vt:lpstr>
      <vt:lpstr>Fault Tolerance</vt:lpstr>
      <vt:lpstr>Fault Tolerance</vt:lpstr>
      <vt:lpstr>Fault Tolerance</vt:lpstr>
      <vt:lpstr>Fault Tolerance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Principles of Programming using C</dc:title>
  <dc:creator>Dell</dc:creator>
  <cp:lastModifiedBy>S Anupama kumar</cp:lastModifiedBy>
  <cp:revision>64</cp:revision>
  <dcterms:modified xsi:type="dcterms:W3CDTF">2024-12-01T05:54:31Z</dcterms:modified>
</cp:coreProperties>
</file>